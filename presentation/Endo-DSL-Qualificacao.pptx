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60520"/>
            <a:ext cx="12191695" cy="9144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297680"/>
            <a:ext cx="12191695" cy="36576"/>
          </a:xfrm>
          <a:prstGeom prst="rect">
            <a:avLst/>
          </a:prstGeom>
          <a:solidFill>
            <a:srgbClr val="817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822960"/>
            <a:ext cx="4206240" cy="457200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12700" bIns="1270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EXAME DE QUALIFICAÇÃO · DOUTORADO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737360"/>
            <a:ext cx="10515600" cy="20116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6000" b="1" i="0">
                <a:solidFill>
                  <a:srgbClr val="FFFFFF"/>
                </a:solidFill>
                <a:latin typeface="Calibri"/>
              </a:rPr>
              <a:t>Endo-DSL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2200" b="0" i="0">
                <a:solidFill>
                  <a:srgbClr val="817CF0"/>
                </a:solidFill>
                <a:latin typeface="Calibri"/>
              </a:rPr>
              <a:t>Geração semiautomática de jogos educativos HTML5 a partir de uma DSL estruturada pela Taxonomia de Bloom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572000"/>
            <a:ext cx="10515600" cy="1463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CBD5E1"/>
                </a:solidFill>
                <a:latin typeface="Calibri"/>
              </a:rPr>
              <a:t>Doutorando: </a:t>
            </a:r>
            <a:r>
              <a:rPr sz="1800" b="0" i="0">
                <a:solidFill>
                  <a:srgbClr val="FFFFFF"/>
                </a:solidFill>
                <a:latin typeface="Calibri"/>
              </a:rPr>
              <a:t>Caio Azeredo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CBD5E1"/>
                </a:solidFill>
                <a:latin typeface="Calibri"/>
              </a:rPr>
              <a:t>Orientador(a): </a:t>
            </a:r>
            <a:r>
              <a:rPr sz="1800" b="0" i="1">
                <a:solidFill>
                  <a:srgbClr val="FFFFFF"/>
                </a:solidFill>
                <a:latin typeface="Calibri"/>
              </a:rPr>
              <a:t>[Prof(a). Orientador(a)]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94A3B8"/>
                </a:solidFill>
                <a:latin typeface="Calibri"/>
              </a:rPr>
              <a:t>PESC — Programa de Engenharia de Sistemas e Computação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94A3B8"/>
                </a:solidFill>
                <a:latin typeface="Calibri"/>
              </a:rPr>
              <a:t>COPPE / Universidade Federal do Rio de Janeiro — UFRJ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263640"/>
            <a:ext cx="105156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817CF0"/>
                </a:solidFill>
                <a:latin typeface="Calibri"/>
              </a:rPr>
              <a:t>Rio de Janeiro · Junho de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105156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09728"/>
            <a:ext cx="10607040" cy="8686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817CF0"/>
                </a:solidFill>
                <a:latin typeface="Calibri"/>
              </a:rPr>
              <a:t>ROTEIRO DA APRESENTAÇÃO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Calibri"/>
              </a:rPr>
              <a:t>Agenda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65392"/>
            <a:ext cx="960120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Endo-DSL · PESC/COPPE/UFRJ · Caio Azeredo ·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565392"/>
            <a:ext cx="73152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4F46E5"/>
                </a:solidFill>
                <a:latin typeface="Calibri"/>
              </a:rPr>
              <a:t>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325880"/>
            <a:ext cx="5440680" cy="1078992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  <a:effectLst>
            <a:outerShdw blurRad="60000" dist="25000" dir="5400000" rotWithShape="0">
              <a:srgbClr val="1E293B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325880"/>
            <a:ext cx="109728" cy="1078992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58952" y="1600200"/>
            <a:ext cx="777240" cy="530352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12700" bIns="1270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1472184"/>
            <a:ext cx="4069080" cy="80467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1E293B"/>
                </a:solidFill>
                <a:latin typeface="Calibri"/>
              </a:rPr>
              <a:t>Contexto &amp; Problema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4748B"/>
                </a:solidFill>
                <a:latin typeface="Calibri"/>
              </a:rPr>
              <a:t>Motivação, lacuna de autoria, questões e hipóteses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45352" y="1325880"/>
            <a:ext cx="5440680" cy="1078992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  <a:effectLst>
            <a:outerShdw blurRad="60000" dist="25000" dir="5400000" rotWithShape="0">
              <a:srgbClr val="1E293B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45352" y="1325880"/>
            <a:ext cx="109728" cy="1078992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501384" y="1600200"/>
            <a:ext cx="777240" cy="530352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12700" bIns="1270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34072" y="1472184"/>
            <a:ext cx="4069080" cy="80467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1E293B"/>
                </a:solidFill>
                <a:latin typeface="Calibri"/>
              </a:rPr>
              <a:t>Objetivos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4748B"/>
                </a:solidFill>
                <a:latin typeface="Calibri"/>
              </a:rPr>
              <a:t>Objetivo geral e objetivos específicos da tese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2606040"/>
            <a:ext cx="5440680" cy="1078992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  <a:effectLst>
            <a:outerShdw blurRad="60000" dist="25000" dir="5400000" rotWithShape="0">
              <a:srgbClr val="1E293B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" y="2606040"/>
            <a:ext cx="109728" cy="1078992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58952" y="2880360"/>
            <a:ext cx="777240" cy="530352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12700" bIns="1270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91640" y="2752344"/>
            <a:ext cx="4069080" cy="80467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1E293B"/>
                </a:solidFill>
                <a:latin typeface="Calibri"/>
              </a:rPr>
              <a:t>Fundamentação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4748B"/>
                </a:solidFill>
                <a:latin typeface="Calibri"/>
              </a:rPr>
              <a:t>DSLs · Bloom · design endógeno · RAG+LLM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5352" y="2606040"/>
            <a:ext cx="5440680" cy="1078992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  <a:effectLst>
            <a:outerShdw blurRad="60000" dist="25000" dir="5400000" rotWithShape="0">
              <a:srgbClr val="1E293B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45352" y="2606040"/>
            <a:ext cx="109728" cy="1078992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501384" y="2880360"/>
            <a:ext cx="777240" cy="530352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12700" bIns="1270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34072" y="2752344"/>
            <a:ext cx="4069080" cy="80467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1E293B"/>
                </a:solidFill>
                <a:latin typeface="Calibri"/>
              </a:rPr>
              <a:t>Trabalhos relacionados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4748B"/>
                </a:solidFill>
                <a:latin typeface="Calibri"/>
              </a:rPr>
              <a:t>Estado da arte e lacuna identificada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3886200"/>
            <a:ext cx="5440680" cy="1078992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  <a:effectLst>
            <a:outerShdw blurRad="60000" dist="25000" dir="5400000" rotWithShape="0">
              <a:srgbClr val="1E293B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02920" y="3886200"/>
            <a:ext cx="109728" cy="1078992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58952" y="4160520"/>
            <a:ext cx="777240" cy="530352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12700" bIns="1270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91640" y="4032504"/>
            <a:ext cx="4069080" cy="80467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1E293B"/>
                </a:solidFill>
                <a:latin typeface="Calibri"/>
              </a:rPr>
              <a:t>Proposta Endo-DSL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4748B"/>
                </a:solidFill>
                <a:latin typeface="Calibri"/>
              </a:rPr>
              <a:t>Arquitetura de 5 módulos e seus papéis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45352" y="3886200"/>
            <a:ext cx="5440680" cy="1078992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  <a:effectLst>
            <a:outerShdw blurRad="60000" dist="25000" dir="5400000" rotWithShape="0">
              <a:srgbClr val="1E293B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45352" y="3886200"/>
            <a:ext cx="109728" cy="1078992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501384" y="4160520"/>
            <a:ext cx="777240" cy="530352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12700" bIns="1270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34072" y="4032504"/>
            <a:ext cx="4069080" cy="80467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1E293B"/>
                </a:solidFill>
                <a:latin typeface="Calibri"/>
              </a:rPr>
              <a:t>Jornada &amp; Estudo de caso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4748B"/>
                </a:solidFill>
                <a:latin typeface="Calibri"/>
              </a:rPr>
              <a:t>Fluxo do usuário e 'Comparando Frações'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02920" y="5166360"/>
            <a:ext cx="5440680" cy="1078992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  <a:effectLst>
            <a:outerShdw blurRad="60000" dist="25000" dir="5400000" rotWithShape="0">
              <a:srgbClr val="1E293B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02920" y="5166360"/>
            <a:ext cx="109728" cy="1078992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758952" y="5440680"/>
            <a:ext cx="777240" cy="530352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12700" bIns="1270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07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691640" y="5312664"/>
            <a:ext cx="4069080" cy="80467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1E293B"/>
                </a:solidFill>
                <a:latin typeface="Calibri"/>
              </a:rPr>
              <a:t>Metodologia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4748B"/>
                </a:solidFill>
                <a:latin typeface="Calibri"/>
              </a:rPr>
              <a:t>Design Science Research e protocolo experimental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245352" y="5166360"/>
            <a:ext cx="5440680" cy="1078992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  <a:effectLst>
            <a:outerShdw blurRad="60000" dist="25000" dir="5400000" rotWithShape="0">
              <a:srgbClr val="1E293B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245352" y="5166360"/>
            <a:ext cx="109728" cy="1078992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6501384" y="5440680"/>
            <a:ext cx="777240" cy="530352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12700" bIns="1270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08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434072" y="5312664"/>
            <a:ext cx="4069080" cy="80467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1E293B"/>
                </a:solidFill>
                <a:latin typeface="Calibri"/>
              </a:rPr>
              <a:t>Jogos de tabuleiro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4748B"/>
                </a:solidFill>
                <a:latin typeface="Calibri"/>
              </a:rPr>
              <a:t>ENDO-GDC canvas · 25 mecânicas · protótipos HTML5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105156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09728"/>
            <a:ext cx="10607040" cy="8686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817CF0"/>
                </a:solidFill>
                <a:latin typeface="Calibri"/>
              </a:rPr>
              <a:t>JOGOS EDUCATIVOS &amp; AUTORIA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Calibri"/>
              </a:rPr>
              <a:t>Contexto e motivação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65392"/>
            <a:ext cx="960120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Endo-DSL · PESC/COPPE/UFRJ · Caio Azeredo ·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565392"/>
            <a:ext cx="73152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4F46E5"/>
                </a:solidFill>
                <a:latin typeface="Calibri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417320"/>
            <a:ext cx="676656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800" b="1">
                <a:solidFill>
                  <a:srgbClr val="4F46E5"/>
                </a:solidFill>
                <a:latin typeface="Calibri"/>
              </a:rPr>
              <a:t>▸  </a:t>
            </a:r>
            <a:r>
              <a:rPr sz="1800">
                <a:solidFill>
                  <a:srgbClr val="1E293B"/>
                </a:solidFill>
                <a:latin typeface="Calibri"/>
              </a:rPr>
              <a:t>Jogos digitais educativos têm eficácia comprovada para engajamento e aprendizagem ativa, mas seu desenvolvimento é caro e especializado.</a:t>
            </a:r>
          </a:p>
          <a:p>
            <a:pPr algn="l">
              <a:spcAft>
                <a:spcPts val="1200"/>
              </a:spcAft>
            </a:pPr>
            <a:r>
              <a:rPr sz="1800" b="1">
                <a:solidFill>
                  <a:srgbClr val="4F46E5"/>
                </a:solidFill>
                <a:latin typeface="Calibri"/>
              </a:rPr>
              <a:t>▸  </a:t>
            </a:r>
            <a:r>
              <a:rPr sz="1800">
                <a:solidFill>
                  <a:srgbClr val="1E293B"/>
                </a:solidFill>
                <a:latin typeface="Calibri"/>
              </a:rPr>
              <a:t>Existe um abismo de autoria: educadores dominam o conteúdo, porém não programam; programadores não dominam a intenção pedagógica.</a:t>
            </a:r>
          </a:p>
          <a:p>
            <a:pPr algn="l">
              <a:spcAft>
                <a:spcPts val="1200"/>
              </a:spcAft>
            </a:pPr>
            <a:r>
              <a:rPr sz="1800" b="1">
                <a:solidFill>
                  <a:srgbClr val="4F46E5"/>
                </a:solidFill>
                <a:latin typeface="Calibri"/>
              </a:rPr>
              <a:t>▸  </a:t>
            </a:r>
            <a:r>
              <a:rPr sz="1800">
                <a:solidFill>
                  <a:srgbClr val="1E293B"/>
                </a:solidFill>
                <a:latin typeface="Calibri"/>
              </a:rPr>
              <a:t>Ferramentas atuais focam estética e mecânica, raramente garantindo alinhamento explícito com objetivos cognitivos de aprendizagem.</a:t>
            </a:r>
          </a:p>
          <a:p>
            <a:pPr algn="l">
              <a:spcAft>
                <a:spcPts val="1200"/>
              </a:spcAft>
            </a:pPr>
            <a:r>
              <a:rPr sz="1800" b="1">
                <a:solidFill>
                  <a:srgbClr val="4F46E5"/>
                </a:solidFill>
                <a:latin typeface="Calibri"/>
              </a:rPr>
              <a:t>▸  </a:t>
            </a:r>
            <a:r>
              <a:rPr sz="1800">
                <a:solidFill>
                  <a:srgbClr val="1E293B"/>
                </a:solidFill>
                <a:latin typeface="Calibri"/>
              </a:rPr>
              <a:t>Resultado frequente: jogos com 'conteúdo justaposto' — perguntas coladas sobre uma mecânica genérica, sem endogeneidade.</a:t>
            </a:r>
          </a:p>
          <a:p>
            <a:pPr algn="l">
              <a:spcAft>
                <a:spcPts val="1200"/>
              </a:spcAft>
            </a:pPr>
            <a:r>
              <a:rPr sz="1800" b="1">
                <a:solidFill>
                  <a:srgbClr val="4F46E5"/>
                </a:solidFill>
                <a:latin typeface="Calibri"/>
              </a:rPr>
              <a:t>▸  </a:t>
            </a:r>
            <a:r>
              <a:rPr sz="1800">
                <a:solidFill>
                  <a:srgbClr val="1E293B"/>
                </a:solidFill>
                <a:latin typeface="Calibri"/>
              </a:rPr>
              <a:t>Oportunidade: LLMs e RAG viabilizam geração assistida, desde que ancorada em um artefato formal verificável.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89520" y="1325880"/>
            <a:ext cx="4096512" cy="45720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  <a:effectLst>
            <a:outerShdw blurRad="60000" dist="25000" dir="5400000" rotWithShape="0">
              <a:srgbClr val="1E293B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589520" y="1325880"/>
            <a:ext cx="4096512" cy="54864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18120" y="1325880"/>
            <a:ext cx="3639312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Sintomas do problema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18120" y="2011680"/>
            <a:ext cx="3639312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>
                <a:solidFill>
                  <a:srgbClr val="F8FAFC"/>
                </a:solidFill>
                <a:latin typeface="Calibri"/>
              </a:rPr>
              <a:t>• Custo e tempo de desenvolvimento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F8FAFC"/>
                </a:solidFill>
                <a:latin typeface="Calibri"/>
              </a:rPr>
              <a:t>• Falta de ponte conteúdo↔código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F8FAFC"/>
                </a:solidFill>
                <a:latin typeface="Calibri"/>
              </a:rPr>
              <a:t>• Ausência de garantia pedagógica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F8FAFC"/>
                </a:solidFill>
                <a:latin typeface="Calibri"/>
              </a:rPr>
              <a:t>• Conteúdo justaposto à mecânica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F8FAFC"/>
                </a:solidFill>
                <a:latin typeface="Calibri"/>
              </a:rPr>
              <a:t>• LLM sem âncora formal = alucinação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105156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09728"/>
            <a:ext cx="10607040" cy="8686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817CF0"/>
                </a:solidFill>
                <a:latin typeface="Calibri"/>
              </a:rPr>
              <a:t>ENUNCIADO CENTRAL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Calibri"/>
              </a:rPr>
              <a:t>Problema de pesquisa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65392"/>
            <a:ext cx="960120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Endo-DSL · PESC/COPPE/UFRJ · Caio Azeredo ·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565392"/>
            <a:ext cx="73152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4F46E5"/>
                </a:solidFill>
                <a:latin typeface="Calibri"/>
              </a:rPr>
              <a:t>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325880"/>
            <a:ext cx="11183112" cy="173736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  <a:effectLst>
            <a:outerShdw blurRad="60000" dist="25000" dir="5400000" rotWithShape="0">
              <a:srgbClr val="1E293B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325880"/>
            <a:ext cx="146304" cy="173736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1508760"/>
            <a:ext cx="10268712" cy="13716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100" b="1" i="1">
                <a:solidFill>
                  <a:srgbClr val="FFFFFF"/>
                </a:solidFill>
                <a:latin typeface="Calibri"/>
              </a:rPr>
              <a:t>“Como permitir que educadores especifiquem jogos educativos pedagogicamente alinhados — e os gerem automaticamente como protótipos executáveis — sem dominar programação, preservando a rastreabilidade cognitiva e a endogeneidade?”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337560"/>
            <a:ext cx="11183112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 b="1">
                <a:solidFill>
                  <a:srgbClr val="4F46E5"/>
                </a:solidFill>
                <a:latin typeface="Calibri"/>
              </a:rPr>
              <a:t>▸  </a:t>
            </a:r>
            <a:r>
              <a:rPr sz="1700">
                <a:solidFill>
                  <a:srgbClr val="1E293B"/>
                </a:solidFill>
                <a:latin typeface="Calibri"/>
              </a:rPr>
              <a:t>Desafio 1 — Expressividade vs. simplicidade: uma linguagem acessível, porém formal e verificável.</a:t>
            </a:r>
          </a:p>
          <a:p>
            <a:pPr algn="l">
              <a:spcAft>
                <a:spcPts val="1200"/>
              </a:spcAft>
            </a:pPr>
            <a:r>
              <a:rPr sz="1700" b="1">
                <a:solidFill>
                  <a:srgbClr val="4F46E5"/>
                </a:solidFill>
                <a:latin typeface="Calibri"/>
              </a:rPr>
              <a:t>▸  </a:t>
            </a:r>
            <a:r>
              <a:rPr sz="1700">
                <a:solidFill>
                  <a:srgbClr val="1E293B"/>
                </a:solidFill>
                <a:latin typeface="Calibri"/>
              </a:rPr>
              <a:t>Desafio 2 — Garantia pedagógica: o nível de Bloom deve ser um construto verificável, não um rótulo decorativo.</a:t>
            </a:r>
          </a:p>
          <a:p>
            <a:pPr algn="l">
              <a:spcAft>
                <a:spcPts val="1200"/>
              </a:spcAft>
            </a:pPr>
            <a:r>
              <a:rPr sz="1700" b="1">
                <a:solidFill>
                  <a:srgbClr val="4F46E5"/>
                </a:solidFill>
                <a:latin typeface="Calibri"/>
              </a:rPr>
              <a:t>▸  </a:t>
            </a:r>
            <a:r>
              <a:rPr sz="1700">
                <a:solidFill>
                  <a:srgbClr val="1E293B"/>
                </a:solidFill>
                <a:latin typeface="Calibri"/>
              </a:rPr>
              <a:t>Desafio 3 — Geração confiável: LLM ancorado por gramática, biblioteca e validação iterativa (anti-alucinação).</a:t>
            </a:r>
          </a:p>
          <a:p>
            <a:pPr algn="l">
              <a:spcAft>
                <a:spcPts val="1200"/>
              </a:spcAft>
            </a:pPr>
            <a:r>
              <a:rPr sz="1700" b="1">
                <a:solidFill>
                  <a:srgbClr val="4F46E5"/>
                </a:solidFill>
                <a:latin typeface="Calibri"/>
              </a:rPr>
              <a:t>▸  </a:t>
            </a:r>
            <a:r>
              <a:rPr sz="1700">
                <a:solidFill>
                  <a:srgbClr val="1E293B"/>
                </a:solidFill>
                <a:latin typeface="Calibri"/>
              </a:rPr>
              <a:t>Desafio 4 — Avaliação comparável: medir qualidade de protótipos automáticos vs. manuais com o mesmo instrumento.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105156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09728"/>
            <a:ext cx="10607040" cy="8686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817CF0"/>
                </a:solidFill>
                <a:latin typeface="Calibri"/>
              </a:rPr>
              <a:t>QP1 – QP4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Calibri"/>
              </a:rPr>
              <a:t>Questões de pesquisa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65392"/>
            <a:ext cx="960120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Endo-DSL · PESC/COPPE/UFRJ · Caio Azeredo ·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565392"/>
            <a:ext cx="73152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4F46E5"/>
                </a:solidFill>
                <a:latin typeface="Calibri"/>
              </a:rPr>
              <a:t>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325880"/>
            <a:ext cx="5440680" cy="224028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  <a:effectLst>
            <a:outerShdw blurRad="60000" dist="25000" dir="5400000" rotWithShape="0">
              <a:srgbClr val="1E293B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325880"/>
            <a:ext cx="5440680" cy="64008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31520" y="1472184"/>
            <a:ext cx="960120" cy="365760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12700" bIns="1270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QP1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1417320"/>
            <a:ext cx="3977640" cy="5029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Expressividade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148840"/>
            <a:ext cx="4892040" cy="13258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1E293B"/>
                </a:solidFill>
                <a:latin typeface="Calibri"/>
              </a:rPr>
              <a:t>Uma DSL guiada por Bloom consegue expressar jogos educativos endógenos de forma acessível a não-programadores?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45352" y="1325880"/>
            <a:ext cx="5440680" cy="224028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  <a:effectLst>
            <a:outerShdw blurRad="60000" dist="25000" dir="5400000" rotWithShape="0">
              <a:srgbClr val="1E293B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45352" y="1325880"/>
            <a:ext cx="5440680" cy="64008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473952" y="1472184"/>
            <a:ext cx="960120" cy="365760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12700" bIns="1270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QP2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71232" y="1417320"/>
            <a:ext cx="3977640" cy="5029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Verificabilidade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19672" y="2148840"/>
            <a:ext cx="4892040" cy="13258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1E293B"/>
                </a:solidFill>
                <a:latin typeface="Calibri"/>
              </a:rPr>
              <a:t>É possível verificar automaticamente o alinhamento pedagógico (sintático e semântico) de uma especificação?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3840480"/>
            <a:ext cx="5440680" cy="224028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  <a:effectLst>
            <a:outerShdw blurRad="60000" dist="25000" dir="5400000" rotWithShape="0">
              <a:srgbClr val="1E293B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2920" y="3840480"/>
            <a:ext cx="5440680" cy="64008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31520" y="3986784"/>
            <a:ext cx="960120" cy="365760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12700" bIns="1270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QP3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0" y="3931920"/>
            <a:ext cx="3977640" cy="5029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Geração assistida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4663440"/>
            <a:ext cx="4892040" cy="13258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1E293B"/>
                </a:solidFill>
                <a:latin typeface="Calibri"/>
              </a:rPr>
              <a:t>Um pipeline RAG+LLM multi-agente, ancorado na DSL, gera especificações válidas e pedagogicamente coerentes?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45352" y="3840480"/>
            <a:ext cx="5440680" cy="224028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  <a:effectLst>
            <a:outerShdw blurRad="60000" dist="25000" dir="5400000" rotWithShape="0">
              <a:srgbClr val="1E293B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45352" y="3840480"/>
            <a:ext cx="5440680" cy="64008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473952" y="3986784"/>
            <a:ext cx="960120" cy="365760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12700" bIns="1270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QP4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71232" y="3931920"/>
            <a:ext cx="3977640" cy="5029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Qualidade comparada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19672" y="4663440"/>
            <a:ext cx="4892040" cy="13258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1E293B"/>
                </a:solidFill>
                <a:latin typeface="Calibri"/>
              </a:rPr>
              <a:t>Protótipos gerados automaticamente alcançam qualidade pedagógica comparável aos desenvolvidos manualmente?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105156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09728"/>
            <a:ext cx="10607040" cy="8686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817CF0"/>
                </a:solidFill>
                <a:latin typeface="Calibri"/>
              </a:rPr>
              <a:t>CONJECTURAS VERIFICÁVEIS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Calibri"/>
              </a:rPr>
              <a:t>Hipóteses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65392"/>
            <a:ext cx="960120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Endo-DSL · PESC/COPPE/UFRJ · Caio Azeredo ·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565392"/>
            <a:ext cx="73152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4F46E5"/>
                </a:solidFill>
                <a:latin typeface="Calibri"/>
              </a:rPr>
              <a:t>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417320"/>
            <a:ext cx="676656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800" b="1">
                <a:solidFill>
                  <a:srgbClr val="4F46E5"/>
                </a:solidFill>
                <a:latin typeface="Calibri"/>
              </a:rPr>
              <a:t>▸  </a:t>
            </a:r>
            <a:r>
              <a:rPr sz="1800">
                <a:solidFill>
                  <a:srgbClr val="1E293B"/>
                </a:solidFill>
                <a:latin typeface="Calibri"/>
              </a:rPr>
              <a:t>H1 — Uma DSL declarativa com Bloom como construto de primeira classe torna a intenção pedagógica explícita e verificável estaticamente.</a:t>
            </a:r>
          </a:p>
          <a:p>
            <a:pPr algn="l">
              <a:spcAft>
                <a:spcPts val="1200"/>
              </a:spcAft>
            </a:pPr>
            <a:r>
              <a:rPr sz="1800" b="1">
                <a:solidFill>
                  <a:srgbClr val="4F46E5"/>
                </a:solidFill>
                <a:latin typeface="Calibri"/>
              </a:rPr>
              <a:t>▸  </a:t>
            </a:r>
            <a:r>
              <a:rPr sz="1800">
                <a:solidFill>
                  <a:srgbClr val="1E293B"/>
                </a:solidFill>
                <a:latin typeface="Calibri"/>
              </a:rPr>
              <a:t>H2 — A validação semântica (matriz de afinidade Bloom×mecânica) detecta incoerências cognitivas antes da compilação.</a:t>
            </a:r>
          </a:p>
          <a:p>
            <a:pPr algn="l">
              <a:spcAft>
                <a:spcPts val="1200"/>
              </a:spcAft>
            </a:pPr>
            <a:r>
              <a:rPr sz="1800" b="1">
                <a:solidFill>
                  <a:srgbClr val="4F46E5"/>
                </a:solidFill>
                <a:latin typeface="Calibri"/>
              </a:rPr>
              <a:t>▸  </a:t>
            </a:r>
            <a:r>
              <a:rPr sz="1800">
                <a:solidFill>
                  <a:srgbClr val="1E293B"/>
                </a:solidFill>
                <a:latin typeface="Calibri"/>
              </a:rPr>
              <a:t>H3 — Um pipeline multi-agente com refinamento iterativo eleva a taxa de especificações válidas na primeira tentativa.</a:t>
            </a:r>
          </a:p>
          <a:p>
            <a:pPr algn="l">
              <a:spcAft>
                <a:spcPts val="1200"/>
              </a:spcAft>
            </a:pPr>
            <a:r>
              <a:rPr sz="1800" b="1">
                <a:solidFill>
                  <a:srgbClr val="4F46E5"/>
                </a:solidFill>
                <a:latin typeface="Calibri"/>
              </a:rPr>
              <a:t>▸  </a:t>
            </a:r>
            <a:r>
              <a:rPr sz="1800">
                <a:solidFill>
                  <a:srgbClr val="1E293B"/>
                </a:solidFill>
                <a:latin typeface="Calibri"/>
              </a:rPr>
              <a:t>H4 — Protótipos automáticos não apresentam diferença significativa de qualidade pedagógica frente a protótipos manuais (instrumento de 7-D).</a:t>
            </a:r>
          </a:p>
          <a:p>
            <a:pPr algn="l">
              <a:spcAft>
                <a:spcPts val="1200"/>
              </a:spcAft>
            </a:pPr>
            <a:r>
              <a:rPr sz="1800" b="1">
                <a:solidFill>
                  <a:srgbClr val="4F46E5"/>
                </a:solidFill>
                <a:latin typeface="Calibri"/>
              </a:rPr>
              <a:t>▸  </a:t>
            </a:r>
            <a:r>
              <a:rPr sz="1800">
                <a:solidFill>
                  <a:srgbClr val="1E293B"/>
                </a:solidFill>
                <a:latin typeface="Calibri"/>
              </a:rPr>
              <a:t>H5 — A reparametrização de domínio preserva a coerência pedagógica do protótipo, evidenciando endogeneidade estrutural.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89520" y="1325880"/>
            <a:ext cx="4096512" cy="45720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  <a:effectLst>
            <a:outerShdw blurRad="60000" dist="25000" dir="5400000" rotWithShape="0">
              <a:srgbClr val="1E293B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589520" y="1325880"/>
            <a:ext cx="4096512" cy="54864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18120" y="1325880"/>
            <a:ext cx="3639312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Mapa hipótese→QP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18120" y="2011680"/>
            <a:ext cx="3639312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>
                <a:solidFill>
                  <a:srgbClr val="F8FAFC"/>
                </a:solidFill>
                <a:latin typeface="Calibri"/>
              </a:rPr>
              <a:t>• H1 → QP1 (expressividade)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F8FAFC"/>
                </a:solidFill>
                <a:latin typeface="Calibri"/>
              </a:rPr>
              <a:t>• H2 → QP2 (verificabilidade)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F8FAFC"/>
                </a:solidFill>
                <a:latin typeface="Calibri"/>
              </a:rPr>
              <a:t>• H3 → QP3 (geração)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F8FAFC"/>
                </a:solidFill>
                <a:latin typeface="Calibri"/>
              </a:rPr>
              <a:t>• H4 → QP4 (qualidade)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F8FAFC"/>
                </a:solidFill>
                <a:latin typeface="Calibri"/>
              </a:rPr>
              <a:t>• H5 → endogeneidade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105156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09728"/>
            <a:ext cx="10607040" cy="8686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817CF0"/>
                </a:solidFill>
                <a:latin typeface="Calibri"/>
              </a:rPr>
              <a:t>GERAL E ESPECÍFICOS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Calibri"/>
              </a:rPr>
              <a:t>Objetivos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65392"/>
            <a:ext cx="960120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Endo-DSL · PESC/COPPE/UFRJ · Caio Azeredo ·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565392"/>
            <a:ext cx="73152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4F46E5"/>
                </a:solidFill>
                <a:latin typeface="Calibri"/>
              </a:rPr>
              <a:t>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325880"/>
            <a:ext cx="11183112" cy="11430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  <a:effectLst>
            <a:outerShdw blurRad="60000" dist="25000" dir="5400000" rotWithShape="0">
              <a:srgbClr val="1E293B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325880"/>
            <a:ext cx="146304" cy="1143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1435608"/>
            <a:ext cx="10360152" cy="9144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817CF0"/>
                </a:solidFill>
                <a:latin typeface="Calibri"/>
              </a:rPr>
              <a:t>OBJETIVO GERAL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FFFFFF"/>
                </a:solidFill>
                <a:latin typeface="Calibri"/>
              </a:rPr>
              <a:t>Conceber, implementar e avaliar a plataforma Endo-DSL: uma DSL guiada por Bloom e um pipeline RAG+LLM que geram protótipos de jogos educativos HTML5 pedagogicamente alinhados e rastreáveis.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697480"/>
            <a:ext cx="11183112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1">
                <a:solidFill>
                  <a:srgbClr val="4F46E5"/>
                </a:solidFill>
                <a:latin typeface="Calibri"/>
              </a:rPr>
              <a:t>▸  </a:t>
            </a:r>
            <a:r>
              <a:rPr sz="1600">
                <a:solidFill>
                  <a:srgbClr val="1E293B"/>
                </a:solidFill>
                <a:latin typeface="Calibri"/>
              </a:rPr>
              <a:t>OE1 — Projetar a DSL e sua gramática EBNF com Bloom como construto de 1ª classe.</a:t>
            </a:r>
          </a:p>
          <a:p>
            <a:pPr algn="l">
              <a:spcAft>
                <a:spcPts val="1000"/>
              </a:spcAft>
            </a:pPr>
            <a:r>
              <a:rPr sz="1600" b="1">
                <a:solidFill>
                  <a:srgbClr val="4F46E5"/>
                </a:solidFill>
                <a:latin typeface="Calibri"/>
              </a:rPr>
              <a:t>▸  </a:t>
            </a:r>
            <a:r>
              <a:rPr sz="1600">
                <a:solidFill>
                  <a:srgbClr val="1E293B"/>
                </a:solidFill>
                <a:latin typeface="Calibri"/>
              </a:rPr>
              <a:t>OE2 — Implementar parser, validação sintática e semântica (matriz de afinidade).</a:t>
            </a:r>
          </a:p>
          <a:p>
            <a:pPr algn="l">
              <a:spcAft>
                <a:spcPts val="1000"/>
              </a:spcAft>
            </a:pPr>
            <a:r>
              <a:rPr sz="1600" b="1">
                <a:solidFill>
                  <a:srgbClr val="4F46E5"/>
                </a:solidFill>
                <a:latin typeface="Calibri"/>
              </a:rPr>
              <a:t>▸  </a:t>
            </a:r>
            <a:r>
              <a:rPr sz="1600">
                <a:solidFill>
                  <a:srgbClr val="1E293B"/>
                </a:solidFill>
                <a:latin typeface="Calibri"/>
              </a:rPr>
              <a:t>OE3 — Construir a biblioteca curada de componentes pedagógicos (RAG).</a:t>
            </a:r>
          </a:p>
          <a:p>
            <a:pPr algn="l">
              <a:spcAft>
                <a:spcPts val="1000"/>
              </a:spcAft>
            </a:pPr>
            <a:r>
              <a:rPr sz="1600" b="1">
                <a:solidFill>
                  <a:srgbClr val="4F46E5"/>
                </a:solidFill>
                <a:latin typeface="Calibri"/>
              </a:rPr>
              <a:t>▸  </a:t>
            </a:r>
            <a:r>
              <a:rPr sz="1600">
                <a:solidFill>
                  <a:srgbClr val="1E293B"/>
                </a:solidFill>
                <a:latin typeface="Calibri"/>
              </a:rPr>
              <a:t>OE4 — Desenvolver o pipeline multi-agente recuperar→gerar→validar→refinar.</a:t>
            </a:r>
          </a:p>
          <a:p>
            <a:pPr algn="l">
              <a:spcAft>
                <a:spcPts val="1000"/>
              </a:spcAft>
            </a:pPr>
            <a:r>
              <a:rPr sz="1600" b="1">
                <a:solidFill>
                  <a:srgbClr val="4F46E5"/>
                </a:solidFill>
                <a:latin typeface="Calibri"/>
              </a:rPr>
              <a:t>▸  </a:t>
            </a:r>
            <a:r>
              <a:rPr sz="1600">
                <a:solidFill>
                  <a:srgbClr val="1E293B"/>
                </a:solidFill>
                <a:latin typeface="Calibri"/>
              </a:rPr>
              <a:t>OE5 — Implementar o compilador DSL→HTML5 autocontido e a reparametrização.</a:t>
            </a:r>
          </a:p>
          <a:p>
            <a:pPr algn="l">
              <a:spcAft>
                <a:spcPts val="1000"/>
              </a:spcAft>
            </a:pPr>
            <a:r>
              <a:rPr sz="1600" b="1">
                <a:solidFill>
                  <a:srgbClr val="4F46E5"/>
                </a:solidFill>
                <a:latin typeface="Calibri"/>
              </a:rPr>
              <a:t>▸  </a:t>
            </a:r>
            <a:r>
              <a:rPr sz="1600">
                <a:solidFill>
                  <a:srgbClr val="1E293B"/>
                </a:solidFill>
                <a:latin typeface="Calibri"/>
              </a:rPr>
              <a:t>OE6 — Definir e aplicar o instrumento de avaliação pedagógica de 7 dimensões.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105156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09728"/>
            <a:ext cx="10607040" cy="8686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817CF0"/>
                </a:solidFill>
                <a:latin typeface="Calibri"/>
              </a:rPr>
              <a:t>LINGUAGENS DE DOMÍNIO ESPECÍFICO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Calibri"/>
              </a:rPr>
              <a:t>Fundamentação — DSLs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65392"/>
            <a:ext cx="960120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Endo-DSL · PESC/COPPE/UFRJ · Caio Azeredo ·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565392"/>
            <a:ext cx="73152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4F46E5"/>
                </a:solidFill>
                <a:latin typeface="Calibri"/>
              </a:rPr>
              <a:t>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417320"/>
            <a:ext cx="676656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800" b="1">
                <a:solidFill>
                  <a:srgbClr val="4F46E5"/>
                </a:solidFill>
                <a:latin typeface="Calibri"/>
              </a:rPr>
              <a:t>▸  </a:t>
            </a:r>
            <a:r>
              <a:rPr sz="1800">
                <a:solidFill>
                  <a:srgbClr val="1E293B"/>
                </a:solidFill>
                <a:latin typeface="Calibri"/>
              </a:rPr>
              <a:t>DSL: linguagem com expressividade restrita a um domínio, ganhando clareza, verificabilidade e produtividade frente a linguagens de propósito geral.</a:t>
            </a:r>
          </a:p>
          <a:p>
            <a:pPr algn="l">
              <a:spcAft>
                <a:spcPts val="1200"/>
              </a:spcAft>
            </a:pPr>
            <a:r>
              <a:rPr sz="1800" b="1">
                <a:solidFill>
                  <a:srgbClr val="4F46E5"/>
                </a:solidFill>
                <a:latin typeface="Calibri"/>
              </a:rPr>
              <a:t>▸  </a:t>
            </a:r>
            <a:r>
              <a:rPr sz="1800">
                <a:solidFill>
                  <a:srgbClr val="1E293B"/>
                </a:solidFill>
                <a:latin typeface="Calibri"/>
              </a:rPr>
              <a:t>DSLs externas possuem sintaxe própria e parser dedicado — caso da Endo-DSL (gramática EBNF + parser recursivo descendente).</a:t>
            </a:r>
          </a:p>
          <a:p>
            <a:pPr algn="l">
              <a:spcAft>
                <a:spcPts val="1200"/>
              </a:spcAft>
            </a:pPr>
            <a:r>
              <a:rPr sz="1800" b="1">
                <a:solidFill>
                  <a:srgbClr val="4F46E5"/>
                </a:solidFill>
                <a:latin typeface="Calibri"/>
              </a:rPr>
              <a:t>▸  </a:t>
            </a:r>
            <a:r>
              <a:rPr sz="1800">
                <a:solidFill>
                  <a:srgbClr val="1E293B"/>
                </a:solidFill>
                <a:latin typeface="Calibri"/>
              </a:rPr>
              <a:t>Vantagem central: aproximam a notação do vocabulário do especialista do domínio (aqui, o educador).</a:t>
            </a:r>
          </a:p>
          <a:p>
            <a:pPr algn="l">
              <a:spcAft>
                <a:spcPts val="1200"/>
              </a:spcAft>
            </a:pPr>
            <a:r>
              <a:rPr sz="1800" b="1">
                <a:solidFill>
                  <a:srgbClr val="4F46E5"/>
                </a:solidFill>
                <a:latin typeface="Calibri"/>
              </a:rPr>
              <a:t>▸  </a:t>
            </a:r>
            <a:r>
              <a:rPr sz="1800">
                <a:solidFill>
                  <a:srgbClr val="1E293B"/>
                </a:solidFill>
                <a:latin typeface="Calibri"/>
              </a:rPr>
              <a:t>Permitem análise estática: erros de coerência são detectados antes da execução, viabilizando garantias.</a:t>
            </a:r>
          </a:p>
          <a:p>
            <a:pPr algn="l">
              <a:spcAft>
                <a:spcPts val="1200"/>
              </a:spcAft>
            </a:pPr>
            <a:r>
              <a:rPr sz="1800" b="1">
                <a:solidFill>
                  <a:srgbClr val="4F46E5"/>
                </a:solidFill>
                <a:latin typeface="Calibri"/>
              </a:rPr>
              <a:t>▸  </a:t>
            </a:r>
            <a:r>
              <a:rPr sz="1800">
                <a:solidFill>
                  <a:srgbClr val="1E293B"/>
                </a:solidFill>
                <a:latin typeface="Calibri"/>
              </a:rPr>
              <a:t>Tensão de projeto: expressividade × acessibilidade — resolvida com limites explícitos de gramática (RF06).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89520" y="1325880"/>
            <a:ext cx="4096512" cy="45720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  <a:effectLst>
            <a:outerShdw blurRad="60000" dist="25000" dir="5400000" rotWithShape="0">
              <a:srgbClr val="1E293B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589520" y="1325880"/>
            <a:ext cx="4096512" cy="54864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18120" y="1325880"/>
            <a:ext cx="3639312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Na Endo-DSL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18120" y="2011680"/>
            <a:ext cx="3639312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>
                <a:solidFill>
                  <a:srgbClr val="F8FAFC"/>
                </a:solidFill>
                <a:latin typeface="Calibri"/>
              </a:rPr>
              <a:t>• EBNF (ISO/IEC 14977)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F8FAFC"/>
                </a:solidFill>
                <a:latin typeface="Calibri"/>
              </a:rPr>
              <a:t>• Parser recursivo descendente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F8FAFC"/>
                </a:solidFill>
                <a:latin typeface="Calibri"/>
              </a:rPr>
              <a:t>• Análise estática de coerência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F8FAFC"/>
                </a:solidFill>
                <a:latin typeface="Calibri"/>
              </a:rPr>
              <a:t>• Notação próxima do educador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F8FAFC"/>
                </a:solidFill>
                <a:latin typeface="Calibri"/>
              </a:rPr>
              <a:t>• Limites de gramática explícitos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105156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09728"/>
            <a:ext cx="10607040" cy="8686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817CF0"/>
                </a:solidFill>
                <a:latin typeface="Calibri"/>
              </a:rPr>
              <a:t>SEIS NÍVEIS COGNITIVOS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Calibri"/>
              </a:rPr>
              <a:t>Fundamentação — Taxonomia de Bloom revisada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65392"/>
            <a:ext cx="960120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Endo-DSL · PESC/COPPE/UFRJ · Caio Azeredo ·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565392"/>
            <a:ext cx="73152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4F46E5"/>
                </a:solidFill>
                <a:latin typeface="Calibri"/>
              </a:rPr>
              <a:t>9</a:t>
            </a:r>
          </a:p>
        </p:txBody>
      </p:sp>
      <p:sp>
        <p:nvSpPr>
          <p:cNvPr id="10" name="Trapezoid 9"/>
          <p:cNvSpPr/>
          <p:nvPr/>
        </p:nvSpPr>
        <p:spPr>
          <a:xfrm rot="10800000">
            <a:off x="5577840" y="1508760"/>
            <a:ext cx="1737360" cy="749808"/>
          </a:xfrm>
          <a:prstGeom prst="trapezoid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Criar</a:t>
            </a:r>
          </a:p>
        </p:txBody>
      </p:sp>
      <p:sp>
        <p:nvSpPr>
          <p:cNvPr id="11" name="Trapezoid 10"/>
          <p:cNvSpPr/>
          <p:nvPr/>
        </p:nvSpPr>
        <p:spPr>
          <a:xfrm rot="10800000">
            <a:off x="5184648" y="2258568"/>
            <a:ext cx="2523744" cy="749808"/>
          </a:xfrm>
          <a:prstGeom prst="trapezoid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Avaliar</a:t>
            </a:r>
          </a:p>
        </p:txBody>
      </p:sp>
      <p:sp>
        <p:nvSpPr>
          <p:cNvPr id="12" name="Trapezoid 11"/>
          <p:cNvSpPr/>
          <p:nvPr/>
        </p:nvSpPr>
        <p:spPr>
          <a:xfrm rot="10800000">
            <a:off x="4791456" y="3008376"/>
            <a:ext cx="3310128" cy="749808"/>
          </a:xfrm>
          <a:prstGeom prst="trapezoid">
            <a:avLst/>
          </a:prstGeom>
          <a:solidFill>
            <a:srgbClr val="CA8A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Analisar</a:t>
            </a:r>
          </a:p>
        </p:txBody>
      </p:sp>
      <p:sp>
        <p:nvSpPr>
          <p:cNvPr id="13" name="Trapezoid 12"/>
          <p:cNvSpPr/>
          <p:nvPr/>
        </p:nvSpPr>
        <p:spPr>
          <a:xfrm rot="10800000">
            <a:off x="4398264" y="3758184"/>
            <a:ext cx="4096512" cy="749808"/>
          </a:xfrm>
          <a:prstGeom prst="trapezoid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Aplicar</a:t>
            </a:r>
          </a:p>
        </p:txBody>
      </p:sp>
      <p:sp>
        <p:nvSpPr>
          <p:cNvPr id="14" name="Trapezoid 13"/>
          <p:cNvSpPr/>
          <p:nvPr/>
        </p:nvSpPr>
        <p:spPr>
          <a:xfrm rot="10800000">
            <a:off x="4005072" y="4507992"/>
            <a:ext cx="4882896" cy="749808"/>
          </a:xfrm>
          <a:prstGeom prst="trapezoid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Compreender</a:t>
            </a:r>
          </a:p>
        </p:txBody>
      </p:sp>
      <p:sp>
        <p:nvSpPr>
          <p:cNvPr id="15" name="Trapezoid 14"/>
          <p:cNvSpPr/>
          <p:nvPr/>
        </p:nvSpPr>
        <p:spPr>
          <a:xfrm rot="10800000">
            <a:off x="3611880" y="5257800"/>
            <a:ext cx="5669280" cy="749808"/>
          </a:xfrm>
          <a:prstGeom prst="trapezoid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Lembrar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21240" y="1508760"/>
            <a:ext cx="1764792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4F46E5"/>
                </a:solidFill>
                <a:latin typeface="Calibri"/>
              </a:rPr>
              <a:t>Verbos típicos por nível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921240" y="1965960"/>
            <a:ext cx="201168" cy="201168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12700" bIns="1270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0" y="1920240"/>
            <a:ext cx="32918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E293B"/>
                </a:solidFill>
                <a:latin typeface="Calibri"/>
              </a:rPr>
              <a:t>Lembrar: </a:t>
            </a:r>
            <a:r>
              <a:rPr sz="1200" b="0" i="0">
                <a:solidFill>
                  <a:srgbClr val="64748B"/>
                </a:solidFill>
                <a:latin typeface="Calibri"/>
              </a:rPr>
              <a:t>identificar · reconhecer · listar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921240" y="2441448"/>
            <a:ext cx="201168" cy="201168"/>
          </a:xfrm>
          <a:prstGeom prst="round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12700" bIns="1270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41280" y="2395728"/>
            <a:ext cx="32918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E293B"/>
                </a:solidFill>
                <a:latin typeface="Calibri"/>
              </a:rPr>
              <a:t>Compreender: </a:t>
            </a:r>
            <a:r>
              <a:rPr sz="1200" b="0" i="0">
                <a:solidFill>
                  <a:srgbClr val="64748B"/>
                </a:solidFill>
                <a:latin typeface="Calibri"/>
              </a:rPr>
              <a:t>explicar · classificar · resumir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921240" y="2916936"/>
            <a:ext cx="201168" cy="201168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12700" bIns="1270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41280" y="2871216"/>
            <a:ext cx="32918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E293B"/>
                </a:solidFill>
                <a:latin typeface="Calibri"/>
              </a:rPr>
              <a:t>Aplicar: </a:t>
            </a:r>
            <a:r>
              <a:rPr sz="1200" b="0" i="0">
                <a:solidFill>
                  <a:srgbClr val="64748B"/>
                </a:solidFill>
                <a:latin typeface="Calibri"/>
              </a:rPr>
              <a:t>usar · resolver · demonstrar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921240" y="3392424"/>
            <a:ext cx="201168" cy="201168"/>
          </a:xfrm>
          <a:prstGeom prst="roundRect">
            <a:avLst/>
          </a:prstGeom>
          <a:solidFill>
            <a:srgbClr val="CA8A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12700" bIns="1270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41280" y="3346704"/>
            <a:ext cx="32918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E293B"/>
                </a:solidFill>
                <a:latin typeface="Calibri"/>
              </a:rPr>
              <a:t>Analisar: </a:t>
            </a:r>
            <a:r>
              <a:rPr sz="1200" b="0" i="0">
                <a:solidFill>
                  <a:srgbClr val="64748B"/>
                </a:solidFill>
                <a:latin typeface="Calibri"/>
              </a:rPr>
              <a:t>comparar · diferenciar · organizar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921240" y="3867912"/>
            <a:ext cx="201168" cy="201168"/>
          </a:xfrm>
          <a:prstGeom prst="round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12700" bIns="1270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41280" y="3822192"/>
            <a:ext cx="32918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E293B"/>
                </a:solidFill>
                <a:latin typeface="Calibri"/>
              </a:rPr>
              <a:t>Avaliar: </a:t>
            </a:r>
            <a:r>
              <a:rPr sz="1200" b="0" i="0">
                <a:solidFill>
                  <a:srgbClr val="64748B"/>
                </a:solidFill>
                <a:latin typeface="Calibri"/>
              </a:rPr>
              <a:t>julgar · criticar · justificar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921240" y="4343400"/>
            <a:ext cx="201168" cy="201168"/>
          </a:xfrm>
          <a:prstGeom prst="round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12700" bIns="1270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41280" y="4297680"/>
            <a:ext cx="32918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E293B"/>
                </a:solidFill>
                <a:latin typeface="Calibri"/>
              </a:rPr>
              <a:t>Criar: </a:t>
            </a:r>
            <a:r>
              <a:rPr sz="1200" b="0" i="0">
                <a:solidFill>
                  <a:srgbClr val="64748B"/>
                </a:solidFill>
                <a:latin typeface="Calibri"/>
              </a:rPr>
              <a:t>construir · planejar · produzir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5897880"/>
            <a:ext cx="11183112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1">
                <a:solidFill>
                  <a:srgbClr val="64748B"/>
                </a:solidFill>
                <a:latin typeface="Calibri"/>
              </a:rPr>
              <a:t>Na Endo-DSL, o nível de Bloom é exigível em objetivos, mecânicas e loops — construto de primeira classe (RF02).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105156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09728"/>
            <a:ext cx="10607040" cy="8686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817CF0"/>
                </a:solidFill>
                <a:latin typeface="Calibri"/>
              </a:rPr>
              <a:t>APRENDER É JOGAR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Calibri"/>
              </a:rPr>
              <a:t>Fundamentação — Game design endógeno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65392"/>
            <a:ext cx="960120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Endo-DSL · PESC/COPPE/UFRJ · Caio Azeredo ·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565392"/>
            <a:ext cx="73152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4F46E5"/>
                </a:solidFill>
                <a:latin typeface="Calibri"/>
              </a:rPr>
              <a:t>10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325880"/>
            <a:ext cx="5440680" cy="2377440"/>
          </a:xfrm>
          <a:prstGeom prst="roundRect">
            <a:avLst/>
          </a:prstGeom>
          <a:solidFill>
            <a:srgbClr val="FEF2F2"/>
          </a:solidFill>
          <a:ln>
            <a:noFill/>
          </a:ln>
          <a:effectLst/>
          <a:effectLst>
            <a:outerShdw blurRad="60000" dist="25000" dir="5400000" rotWithShape="0">
              <a:srgbClr val="1E293B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325880"/>
            <a:ext cx="5440680" cy="54864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1325880"/>
            <a:ext cx="498348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✗  Exógeno (justaposto)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057400"/>
            <a:ext cx="49834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1">
                <a:solidFill>
                  <a:srgbClr val="DC2626"/>
                </a:solidFill>
                <a:latin typeface="Calibri"/>
              </a:rPr>
              <a:t>•  </a:t>
            </a:r>
            <a:r>
              <a:rPr sz="1400">
                <a:solidFill>
                  <a:srgbClr val="1E293B"/>
                </a:solidFill>
                <a:latin typeface="Calibri"/>
              </a:rPr>
              <a:t>Conteúdo 'colado' sobre mecânica genérica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DC2626"/>
                </a:solidFill>
                <a:latin typeface="Calibri"/>
              </a:rPr>
              <a:t>•  </a:t>
            </a:r>
            <a:r>
              <a:rPr sz="1400">
                <a:solidFill>
                  <a:srgbClr val="1E293B"/>
                </a:solidFill>
                <a:latin typeface="Calibri"/>
              </a:rPr>
              <a:t>Recompensa externa ao aprendizado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DC2626"/>
                </a:solidFill>
                <a:latin typeface="Calibri"/>
              </a:rPr>
              <a:t>•  </a:t>
            </a:r>
            <a:r>
              <a:rPr sz="1400">
                <a:solidFill>
                  <a:srgbClr val="1E293B"/>
                </a:solidFill>
                <a:latin typeface="Calibri"/>
              </a:rPr>
              <a:t>Acertar a pergunta ≠ jogar bem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DC2626"/>
                </a:solidFill>
                <a:latin typeface="Calibri"/>
              </a:rPr>
              <a:t>•  </a:t>
            </a:r>
            <a:r>
              <a:rPr sz="1400">
                <a:solidFill>
                  <a:srgbClr val="1E293B"/>
                </a:solidFill>
                <a:latin typeface="Calibri"/>
              </a:rPr>
              <a:t>Exemplo: quiz sobre uma corrida de carro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45352" y="1325880"/>
            <a:ext cx="5440680" cy="2377440"/>
          </a:xfrm>
          <a:prstGeom prst="roundRect">
            <a:avLst/>
          </a:prstGeom>
          <a:solidFill>
            <a:srgbClr val="F0FDF4"/>
          </a:solidFill>
          <a:ln>
            <a:noFill/>
          </a:ln>
          <a:effectLst/>
          <a:effectLst>
            <a:outerShdw blurRad="60000" dist="25000" dir="5400000" rotWithShape="0">
              <a:srgbClr val="1E293B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45352" y="1325880"/>
            <a:ext cx="5440680" cy="54864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19672" y="1325880"/>
            <a:ext cx="498348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✓  Endógeno (integrado)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3952" y="2057400"/>
            <a:ext cx="49834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1">
                <a:solidFill>
                  <a:srgbClr val="16A34A"/>
                </a:solidFill>
                <a:latin typeface="Calibri"/>
              </a:rPr>
              <a:t>•  </a:t>
            </a:r>
            <a:r>
              <a:rPr sz="1400">
                <a:solidFill>
                  <a:srgbClr val="1E293B"/>
                </a:solidFill>
                <a:latin typeface="Calibri"/>
              </a:rPr>
              <a:t>Conteúdo É a mecânica central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16A34A"/>
                </a:solidFill>
                <a:latin typeface="Calibri"/>
              </a:rPr>
              <a:t>•  </a:t>
            </a:r>
            <a:r>
              <a:rPr sz="1400">
                <a:solidFill>
                  <a:srgbClr val="1E293B"/>
                </a:solidFill>
                <a:latin typeface="Calibri"/>
              </a:rPr>
              <a:t>Vencer exige exercer a habilidade-alvo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16A34A"/>
                </a:solidFill>
                <a:latin typeface="Calibri"/>
              </a:rPr>
              <a:t>•  </a:t>
            </a:r>
            <a:r>
              <a:rPr sz="1400">
                <a:solidFill>
                  <a:srgbClr val="1E293B"/>
                </a:solidFill>
                <a:latin typeface="Calibri"/>
              </a:rPr>
              <a:t>Jogar bem = aprender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16A34A"/>
                </a:solidFill>
                <a:latin typeface="Calibri"/>
              </a:rPr>
              <a:t>•  </a:t>
            </a:r>
            <a:r>
              <a:rPr sz="1400">
                <a:solidFill>
                  <a:srgbClr val="1E293B"/>
                </a:solidFill>
                <a:latin typeface="Calibri"/>
              </a:rPr>
              <a:t>Exemplo: comparar frações para avançar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4069080"/>
            <a:ext cx="11183112" cy="146304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4206240"/>
            <a:ext cx="10451592" cy="11887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4F46E5"/>
                </a:solidFill>
                <a:latin typeface="Calibri"/>
              </a:rPr>
              <a:t>Princípio de projeto da Endo-DSL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1E293B"/>
                </a:solidFill>
                <a:latin typeface="Calibri"/>
              </a:rPr>
              <a:t>A endogeneidade é uma dimensão avaliada explicitamente (instrumento de 7-D) e um critério de validação semântica: a mecânica deve operacionalizar o objetivo de aprendizagem declarado, não apenas acompanhá-lo.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105156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09728"/>
            <a:ext cx="10607040" cy="8686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817CF0"/>
                </a:solidFill>
                <a:latin typeface="Calibri"/>
              </a:rPr>
              <a:t>GERAÇÃO ANCORADA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Calibri"/>
              </a:rPr>
              <a:t>Fundamentação — RAG + LLM multi-agente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65392"/>
            <a:ext cx="960120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Endo-DSL · PESC/COPPE/UFRJ · Caio Azeredo ·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565392"/>
            <a:ext cx="73152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4F46E5"/>
                </a:solidFill>
                <a:latin typeface="Calibri"/>
              </a:rPr>
              <a:t>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417320"/>
            <a:ext cx="676656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800" b="1">
                <a:solidFill>
                  <a:srgbClr val="4F46E5"/>
                </a:solidFill>
                <a:latin typeface="Calibri"/>
              </a:rPr>
              <a:t>▸  </a:t>
            </a:r>
            <a:r>
              <a:rPr sz="1800">
                <a:solidFill>
                  <a:srgbClr val="1E293B"/>
                </a:solidFill>
                <a:latin typeface="Calibri"/>
              </a:rPr>
              <a:t>LLMs geram texto fluente, mas alucinam estrutura: sem âncora, produzem DSL sintaticamente inválida ou pedagogicamente incoerente.</a:t>
            </a:r>
          </a:p>
          <a:p>
            <a:pPr algn="l">
              <a:spcAft>
                <a:spcPts val="1200"/>
              </a:spcAft>
            </a:pPr>
            <a:r>
              <a:rPr sz="1800" b="1">
                <a:solidFill>
                  <a:srgbClr val="4F46E5"/>
                </a:solidFill>
                <a:latin typeface="Calibri"/>
              </a:rPr>
              <a:t>▸  </a:t>
            </a:r>
            <a:r>
              <a:rPr sz="1800">
                <a:solidFill>
                  <a:srgbClr val="1E293B"/>
                </a:solidFill>
                <a:latin typeface="Calibri"/>
              </a:rPr>
              <a:t>RAG (Retrieval-Augmented Generation): recupera componentes curados da biblioteca e os injeta no contexto de geração.</a:t>
            </a:r>
          </a:p>
          <a:p>
            <a:pPr algn="l">
              <a:spcAft>
                <a:spcPts val="1200"/>
              </a:spcAft>
            </a:pPr>
            <a:r>
              <a:rPr sz="1800" b="1">
                <a:solidFill>
                  <a:srgbClr val="4F46E5"/>
                </a:solidFill>
                <a:latin typeface="Calibri"/>
              </a:rPr>
              <a:t>▸  </a:t>
            </a:r>
            <a:r>
              <a:rPr sz="1800">
                <a:solidFill>
                  <a:srgbClr val="1E293B"/>
                </a:solidFill>
                <a:latin typeface="Calibri"/>
              </a:rPr>
              <a:t>Arquitetura multi-agente: papéis especializados (recuperar, gerar, validar, refinar) cooperam em um ciclo fechado.</a:t>
            </a:r>
          </a:p>
          <a:p>
            <a:pPr algn="l">
              <a:spcAft>
                <a:spcPts val="1200"/>
              </a:spcAft>
            </a:pPr>
            <a:r>
              <a:rPr sz="1800" b="1">
                <a:solidFill>
                  <a:srgbClr val="4F46E5"/>
                </a:solidFill>
                <a:latin typeface="Calibri"/>
              </a:rPr>
              <a:t>▸  </a:t>
            </a:r>
            <a:r>
              <a:rPr sz="1800">
                <a:solidFill>
                  <a:srgbClr val="1E293B"/>
                </a:solidFill>
                <a:latin typeface="Calibri"/>
              </a:rPr>
              <a:t>Refinamento iterativo: erros do validador realimentam o gerador até convergir para uma especificação válida.</a:t>
            </a:r>
          </a:p>
          <a:p>
            <a:pPr algn="l">
              <a:spcAft>
                <a:spcPts val="1200"/>
              </a:spcAft>
            </a:pPr>
            <a:r>
              <a:rPr sz="1800" b="1">
                <a:solidFill>
                  <a:srgbClr val="4F46E5"/>
                </a:solidFill>
                <a:latin typeface="Calibri"/>
              </a:rPr>
              <a:t>▸  </a:t>
            </a:r>
            <a:r>
              <a:rPr sz="1800">
                <a:solidFill>
                  <a:srgbClr val="1E293B"/>
                </a:solidFill>
                <a:latin typeface="Calibri"/>
              </a:rPr>
              <a:t>A gramática formal e a matriz de afinidade funcionam como 'guarda-corpo' verificável do LLM.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89520" y="1325880"/>
            <a:ext cx="4096512" cy="45720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  <a:effectLst>
            <a:outerShdw blurRad="60000" dist="25000" dir="5400000" rotWithShape="0">
              <a:srgbClr val="1E293B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589520" y="1325880"/>
            <a:ext cx="4096512" cy="54864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18120" y="1325880"/>
            <a:ext cx="3639312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Pilares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18120" y="2011680"/>
            <a:ext cx="3639312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>
                <a:solidFill>
                  <a:srgbClr val="F8FAFC"/>
                </a:solidFill>
                <a:latin typeface="Calibri"/>
              </a:rPr>
              <a:t>• Âncora formal (EBNF)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F8FAFC"/>
                </a:solidFill>
                <a:latin typeface="Calibri"/>
              </a:rPr>
              <a:t>• Recuperação curada (RAG)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F8FAFC"/>
                </a:solidFill>
                <a:latin typeface="Calibri"/>
              </a:rPr>
              <a:t>• Agentes especializados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F8FAFC"/>
                </a:solidFill>
                <a:latin typeface="Calibri"/>
              </a:rPr>
              <a:t>• Loop validar→refinar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F8FAFC"/>
                </a:solidFill>
                <a:latin typeface="Calibri"/>
              </a:rPr>
              <a:t>• Anti-alucinação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105156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09728"/>
            <a:ext cx="10607040" cy="8686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817CF0"/>
                </a:solidFill>
                <a:latin typeface="Calibri"/>
              </a:rPr>
              <a:t>TABELA COMPARATIVA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Calibri"/>
              </a:rPr>
              <a:t>Trabalhos relacionados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65392"/>
            <a:ext cx="960120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Endo-DSL · PESC/COPPE/UFRJ · Caio Azeredo ·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565392"/>
            <a:ext cx="73152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4F46E5"/>
                </a:solidFill>
                <a:latin typeface="Calibri"/>
              </a:rPr>
              <a:t>12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417320"/>
            <a:ext cx="3200400" cy="658368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417320"/>
            <a:ext cx="3200400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Abordagem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703320" y="1417320"/>
            <a:ext cx="1417320" cy="658368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03320" y="1417320"/>
            <a:ext cx="1417320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DSL
formal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120640" y="1417320"/>
            <a:ext cx="1554480" cy="658368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20640" y="1417320"/>
            <a:ext cx="1554480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Bloom
1ª classe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675120" y="1417320"/>
            <a:ext cx="1554480" cy="658368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0" y="1417320"/>
            <a:ext cx="1554480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Geração
LLM/RAG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0" y="1417320"/>
            <a:ext cx="1554480" cy="658368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1417320"/>
            <a:ext cx="1554480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Compila
executável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784080" y="1417320"/>
            <a:ext cx="1783080" cy="658368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784080" y="1417320"/>
            <a:ext cx="1783080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Avaliação
pedagógica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2075688"/>
            <a:ext cx="320040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2075688"/>
            <a:ext cx="3200400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E293B"/>
                </a:solidFill>
                <a:latin typeface="Calibri"/>
              </a:rPr>
              <a:t>Engines de jogo (Unity/Godot)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703320" y="2075688"/>
            <a:ext cx="141732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03320" y="2075688"/>
            <a:ext cx="1417320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E293B"/>
                </a:solidFill>
                <a:latin typeface="Calibri"/>
              </a:rPr>
              <a:t>—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120640" y="2075688"/>
            <a:ext cx="155448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120640" y="2075688"/>
            <a:ext cx="1554480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E293B"/>
                </a:solidFill>
                <a:latin typeface="Calibri"/>
              </a:rPr>
              <a:t>—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675120" y="2075688"/>
            <a:ext cx="155448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75120" y="2075688"/>
            <a:ext cx="1554480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E293B"/>
                </a:solidFill>
                <a:latin typeface="Calibri"/>
              </a:rPr>
              <a:t>parcial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29600" y="2075688"/>
            <a:ext cx="155448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0" y="2075688"/>
            <a:ext cx="1554480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6A34A"/>
                </a:solidFill>
                <a:latin typeface="Calibri"/>
              </a:rPr>
              <a:t>✓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784080" y="2075688"/>
            <a:ext cx="178308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784080" y="2075688"/>
            <a:ext cx="1783080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E293B"/>
                </a:solidFill>
                <a:latin typeface="Calibri"/>
              </a:rPr>
              <a:t>—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2920" y="2734056"/>
            <a:ext cx="3200400" cy="65836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2920" y="2734056"/>
            <a:ext cx="3200400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E293B"/>
                </a:solidFill>
                <a:latin typeface="Calibri"/>
              </a:rPr>
              <a:t>Autoria visual (Scratch, etc.)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703320" y="2734056"/>
            <a:ext cx="1417320" cy="65836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703320" y="2734056"/>
            <a:ext cx="1417320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E293B"/>
                </a:solidFill>
                <a:latin typeface="Calibri"/>
              </a:rPr>
              <a:t>—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120640" y="2734056"/>
            <a:ext cx="1554480" cy="65836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120640" y="2734056"/>
            <a:ext cx="1554480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E293B"/>
                </a:solidFill>
                <a:latin typeface="Calibri"/>
              </a:rPr>
              <a:t>—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675120" y="2734056"/>
            <a:ext cx="1554480" cy="65836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675120" y="2734056"/>
            <a:ext cx="1554480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E293B"/>
                </a:solidFill>
                <a:latin typeface="Calibri"/>
              </a:rPr>
              <a:t>—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229600" y="2734056"/>
            <a:ext cx="1554480" cy="65836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29600" y="2734056"/>
            <a:ext cx="1554480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6A34A"/>
                </a:solidFill>
                <a:latin typeface="Calibri"/>
              </a:rPr>
              <a:t>✓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784080" y="2734056"/>
            <a:ext cx="1783080" cy="65836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784080" y="2734056"/>
            <a:ext cx="1783080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E293B"/>
                </a:solidFill>
                <a:latin typeface="Calibri"/>
              </a:rPr>
              <a:t>parcial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02920" y="3392424"/>
            <a:ext cx="320040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02920" y="3392424"/>
            <a:ext cx="3200400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E293B"/>
                </a:solidFill>
                <a:latin typeface="Calibri"/>
              </a:rPr>
              <a:t>Game DSLs (PuzzleScript, Ceptre)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703320" y="3392424"/>
            <a:ext cx="141732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703320" y="3392424"/>
            <a:ext cx="1417320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6A34A"/>
                </a:solidFill>
                <a:latin typeface="Calibri"/>
              </a:rPr>
              <a:t>✓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120640" y="3392424"/>
            <a:ext cx="155448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120640" y="3392424"/>
            <a:ext cx="1554480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E293B"/>
                </a:solidFill>
                <a:latin typeface="Calibri"/>
              </a:rPr>
              <a:t>—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675120" y="3392424"/>
            <a:ext cx="155448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675120" y="3392424"/>
            <a:ext cx="1554480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E293B"/>
                </a:solidFill>
                <a:latin typeface="Calibri"/>
              </a:rPr>
              <a:t>—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229600" y="3392424"/>
            <a:ext cx="155448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229600" y="3392424"/>
            <a:ext cx="1554480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6A34A"/>
                </a:solidFill>
                <a:latin typeface="Calibri"/>
              </a:rPr>
              <a:t>✓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784080" y="3392424"/>
            <a:ext cx="178308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784080" y="3392424"/>
            <a:ext cx="1783080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E293B"/>
                </a:solidFill>
                <a:latin typeface="Calibri"/>
              </a:rPr>
              <a:t>—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02920" y="4050792"/>
            <a:ext cx="3200400" cy="65836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02920" y="4050792"/>
            <a:ext cx="3200400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E293B"/>
                </a:solidFill>
                <a:latin typeface="Calibri"/>
              </a:rPr>
              <a:t>LLM-to-game (geração direta)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703320" y="4050792"/>
            <a:ext cx="1417320" cy="65836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703320" y="4050792"/>
            <a:ext cx="1417320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E293B"/>
                </a:solidFill>
                <a:latin typeface="Calibri"/>
              </a:rPr>
              <a:t>—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120640" y="4050792"/>
            <a:ext cx="1554480" cy="65836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120640" y="4050792"/>
            <a:ext cx="1554480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E293B"/>
                </a:solidFill>
                <a:latin typeface="Calibri"/>
              </a:rPr>
              <a:t>—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675120" y="4050792"/>
            <a:ext cx="1554480" cy="65836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675120" y="4050792"/>
            <a:ext cx="1554480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6A34A"/>
                </a:solidFill>
                <a:latin typeface="Calibri"/>
              </a:rPr>
              <a:t>✓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229600" y="4050792"/>
            <a:ext cx="1554480" cy="65836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229600" y="4050792"/>
            <a:ext cx="1554480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E293B"/>
                </a:solidFill>
                <a:latin typeface="Calibri"/>
              </a:rPr>
              <a:t>parcial</a:t>
            </a:r>
          </a:p>
        </p:txBody>
      </p:sp>
      <p:sp>
        <p:nvSpPr>
          <p:cNvPr id="68" name="Rectangle 67"/>
          <p:cNvSpPr/>
          <p:nvPr/>
        </p:nvSpPr>
        <p:spPr>
          <a:xfrm>
            <a:off x="9784080" y="4050792"/>
            <a:ext cx="1783080" cy="65836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784080" y="4050792"/>
            <a:ext cx="1783080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E293B"/>
                </a:solidFill>
                <a:latin typeface="Calibri"/>
              </a:rPr>
              <a:t>—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02920" y="4709160"/>
            <a:ext cx="320040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02920" y="4709160"/>
            <a:ext cx="3200400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E293B"/>
                </a:solidFill>
                <a:latin typeface="Calibri"/>
              </a:rPr>
              <a:t>Frameworks de design pedagógico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703320" y="4709160"/>
            <a:ext cx="141732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3703320" y="4709160"/>
            <a:ext cx="1417320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E293B"/>
                </a:solidFill>
                <a:latin typeface="Calibri"/>
              </a:rPr>
              <a:t>parcial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120640" y="4709160"/>
            <a:ext cx="155448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5120640" y="4709160"/>
            <a:ext cx="1554480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6A34A"/>
                </a:solidFill>
                <a:latin typeface="Calibri"/>
              </a:rPr>
              <a:t>✓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675120" y="4709160"/>
            <a:ext cx="155448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675120" y="4709160"/>
            <a:ext cx="1554480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E293B"/>
                </a:solidFill>
                <a:latin typeface="Calibri"/>
              </a:rPr>
              <a:t>—</a:t>
            </a:r>
          </a:p>
        </p:txBody>
      </p:sp>
      <p:sp>
        <p:nvSpPr>
          <p:cNvPr id="78" name="Rectangle 77"/>
          <p:cNvSpPr/>
          <p:nvPr/>
        </p:nvSpPr>
        <p:spPr>
          <a:xfrm>
            <a:off x="8229600" y="4709160"/>
            <a:ext cx="155448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8229600" y="4709160"/>
            <a:ext cx="1554480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E293B"/>
                </a:solidFill>
                <a:latin typeface="Calibri"/>
              </a:rPr>
              <a:t>—</a:t>
            </a:r>
          </a:p>
        </p:txBody>
      </p:sp>
      <p:sp>
        <p:nvSpPr>
          <p:cNvPr id="80" name="Rectangle 79"/>
          <p:cNvSpPr/>
          <p:nvPr/>
        </p:nvSpPr>
        <p:spPr>
          <a:xfrm>
            <a:off x="9784080" y="4709160"/>
            <a:ext cx="178308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9784080" y="4709160"/>
            <a:ext cx="1783080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6A34A"/>
                </a:solidFill>
                <a:latin typeface="Calibri"/>
              </a:rPr>
              <a:t>✓</a:t>
            </a:r>
          </a:p>
        </p:txBody>
      </p:sp>
      <p:sp>
        <p:nvSpPr>
          <p:cNvPr id="82" name="Rectangle 81"/>
          <p:cNvSpPr/>
          <p:nvPr/>
        </p:nvSpPr>
        <p:spPr>
          <a:xfrm>
            <a:off x="502920" y="5367528"/>
            <a:ext cx="3200400" cy="658368"/>
          </a:xfrm>
          <a:prstGeom prst="rect">
            <a:avLst/>
          </a:prstGeom>
          <a:solidFill>
            <a:srgbClr val="4F46E5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502920" y="5367528"/>
            <a:ext cx="3200400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Endo-DSL (esta proposta)</a:t>
            </a:r>
          </a:p>
        </p:txBody>
      </p:sp>
      <p:sp>
        <p:nvSpPr>
          <p:cNvPr id="84" name="Rectangle 83"/>
          <p:cNvSpPr/>
          <p:nvPr/>
        </p:nvSpPr>
        <p:spPr>
          <a:xfrm>
            <a:off x="3703320" y="5367528"/>
            <a:ext cx="1417320" cy="658368"/>
          </a:xfrm>
          <a:prstGeom prst="rect">
            <a:avLst/>
          </a:prstGeom>
          <a:solidFill>
            <a:srgbClr val="4F46E5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3703320" y="5367528"/>
            <a:ext cx="1417320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86" name="Rectangle 85"/>
          <p:cNvSpPr/>
          <p:nvPr/>
        </p:nvSpPr>
        <p:spPr>
          <a:xfrm>
            <a:off x="5120640" y="5367528"/>
            <a:ext cx="1554480" cy="658368"/>
          </a:xfrm>
          <a:prstGeom prst="rect">
            <a:avLst/>
          </a:prstGeom>
          <a:solidFill>
            <a:srgbClr val="4F46E5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5120640" y="5367528"/>
            <a:ext cx="1554480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88" name="Rectangle 87"/>
          <p:cNvSpPr/>
          <p:nvPr/>
        </p:nvSpPr>
        <p:spPr>
          <a:xfrm>
            <a:off x="6675120" y="5367528"/>
            <a:ext cx="1554480" cy="658368"/>
          </a:xfrm>
          <a:prstGeom prst="rect">
            <a:avLst/>
          </a:prstGeom>
          <a:solidFill>
            <a:srgbClr val="4F46E5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6675120" y="5367528"/>
            <a:ext cx="1554480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90" name="Rectangle 89"/>
          <p:cNvSpPr/>
          <p:nvPr/>
        </p:nvSpPr>
        <p:spPr>
          <a:xfrm>
            <a:off x="8229600" y="5367528"/>
            <a:ext cx="1554480" cy="658368"/>
          </a:xfrm>
          <a:prstGeom prst="rect">
            <a:avLst/>
          </a:prstGeom>
          <a:solidFill>
            <a:srgbClr val="4F46E5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8229600" y="5367528"/>
            <a:ext cx="1554480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92" name="Rectangle 91"/>
          <p:cNvSpPr/>
          <p:nvPr/>
        </p:nvSpPr>
        <p:spPr>
          <a:xfrm>
            <a:off x="9784080" y="5367528"/>
            <a:ext cx="1783080" cy="658368"/>
          </a:xfrm>
          <a:prstGeom prst="rect">
            <a:avLst/>
          </a:prstGeom>
          <a:solidFill>
            <a:srgbClr val="4F46E5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9784080" y="5367528"/>
            <a:ext cx="1783080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502920" y="6117336"/>
            <a:ext cx="11183112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1">
                <a:solidFill>
                  <a:srgbClr val="64748B"/>
                </a:solidFill>
                <a:latin typeface="Calibri"/>
              </a:rPr>
              <a:t>Nenhuma abordagem reúne, simultaneamente, DSL formal, Bloom como construto de 1ª classe, geração RAG+LLM, compilação executável e avaliação pedagógica comparável.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105156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09728"/>
            <a:ext cx="10607040" cy="8686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817CF0"/>
                </a:solidFill>
                <a:latin typeface="Calibri"/>
              </a:rPr>
              <a:t>POSICIONAMENTO DA CONTRIBUIÇÃO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Calibri"/>
              </a:rPr>
              <a:t>Lacuna identificada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65392"/>
            <a:ext cx="960120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Endo-DSL · PESC/COPPE/UFRJ · Caio Azeredo ·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565392"/>
            <a:ext cx="73152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4F46E5"/>
                </a:solidFill>
                <a:latin typeface="Calibri"/>
              </a:rPr>
              <a:t>13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325880"/>
            <a:ext cx="11183112" cy="1280160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  <a:effectLst>
            <a:outerShdw blurRad="60000" dist="25000" dir="5400000" rotWithShape="0">
              <a:srgbClr val="1E293B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1463040"/>
            <a:ext cx="10268712" cy="10058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1" i="0">
                <a:solidFill>
                  <a:srgbClr val="FFFFFF"/>
                </a:solidFill>
                <a:latin typeface="Calibri"/>
              </a:rPr>
              <a:t>Não há uma plataforma que una uma DSL pedagógica verificável a um pipeline de geração ancorado e a uma avaliação comparável — fechando o ciclo intenção → especificação → protótipo → evidência.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880360"/>
            <a:ext cx="11183112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1800" b="1">
                <a:solidFill>
                  <a:srgbClr val="4F46E5"/>
                </a:solidFill>
                <a:latin typeface="Calibri"/>
              </a:rPr>
              <a:t>▸  </a:t>
            </a:r>
            <a:r>
              <a:rPr sz="1800">
                <a:solidFill>
                  <a:srgbClr val="1E293B"/>
                </a:solidFill>
                <a:latin typeface="Calibri"/>
              </a:rPr>
              <a:t>Game DSLs existem, mas ignoram a dimensão cognitiva (Bloom).</a:t>
            </a:r>
          </a:p>
          <a:p>
            <a:pPr algn="l">
              <a:spcAft>
                <a:spcPts val="1400"/>
              </a:spcAft>
            </a:pPr>
            <a:r>
              <a:rPr sz="1800" b="1">
                <a:solidFill>
                  <a:srgbClr val="4F46E5"/>
                </a:solidFill>
                <a:latin typeface="Calibri"/>
              </a:rPr>
              <a:t>▸  </a:t>
            </a:r>
            <a:r>
              <a:rPr sz="1800">
                <a:solidFill>
                  <a:srgbClr val="1E293B"/>
                </a:solidFill>
                <a:latin typeface="Calibri"/>
              </a:rPr>
              <a:t>Geradores LLM existem, mas sem âncora formal nem garantia pedagógica.</a:t>
            </a:r>
          </a:p>
          <a:p>
            <a:pPr algn="l">
              <a:spcAft>
                <a:spcPts val="1400"/>
              </a:spcAft>
            </a:pPr>
            <a:r>
              <a:rPr sz="1800" b="1">
                <a:solidFill>
                  <a:srgbClr val="4F46E5"/>
                </a:solidFill>
                <a:latin typeface="Calibri"/>
              </a:rPr>
              <a:t>▸  </a:t>
            </a:r>
            <a:r>
              <a:rPr sz="1800">
                <a:solidFill>
                  <a:srgbClr val="1E293B"/>
                </a:solidFill>
                <a:latin typeface="Calibri"/>
              </a:rPr>
              <a:t>Instrumentos pedagógicos existem, mas desacoplados da geração de artefatos.</a:t>
            </a:r>
          </a:p>
          <a:p>
            <a:pPr algn="l">
              <a:spcAft>
                <a:spcPts val="1400"/>
              </a:spcAft>
            </a:pPr>
            <a:r>
              <a:rPr sz="1800" b="1">
                <a:solidFill>
                  <a:srgbClr val="4F46E5"/>
                </a:solidFill>
                <a:latin typeface="Calibri"/>
              </a:rPr>
              <a:t>▸  </a:t>
            </a:r>
            <a:r>
              <a:rPr sz="1800">
                <a:solidFill>
                  <a:srgbClr val="1E293B"/>
                </a:solidFill>
                <a:latin typeface="Calibri"/>
              </a:rPr>
              <a:t>A Endo-DSL integra os três eixos num único artefato rastreável e avaliável.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105156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09728"/>
            <a:ext cx="10607040" cy="8686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817CF0"/>
                </a:solidFill>
                <a:latin typeface="Calibri"/>
              </a:rPr>
              <a:t>DO CONTEXTO AO PROTÓTIPO AVALIÁVEL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Calibri"/>
              </a:rPr>
              <a:t>Visão geral da proposta Endo-DSL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65392"/>
            <a:ext cx="960120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Endo-DSL · PESC/COPPE/UFRJ · Caio Azeredo ·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565392"/>
            <a:ext cx="73152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4F46E5"/>
                </a:solidFill>
                <a:latin typeface="Calibri"/>
              </a:rPr>
              <a:t>14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2" y="1691640"/>
            <a:ext cx="1874519" cy="128016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12700" bIns="1270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Contexto
educacional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514601" y="2331720"/>
            <a:ext cx="384048" cy="0"/>
          </a:xfrm>
          <a:prstGeom prst="line">
            <a:avLst/>
          </a:prstGeom>
          <a:ln w="28575">
            <a:solidFill>
              <a:srgbClr val="4F46E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898649" y="1691640"/>
            <a:ext cx="1874519" cy="1280160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12700" bIns="1270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DSL guiada
por Bloom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773168" y="2331720"/>
            <a:ext cx="384048" cy="0"/>
          </a:xfrm>
          <a:prstGeom prst="line">
            <a:avLst/>
          </a:prstGeom>
          <a:ln w="28575">
            <a:solidFill>
              <a:srgbClr val="4F46E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157216" y="1691640"/>
            <a:ext cx="1874519" cy="1280160"/>
          </a:xfrm>
          <a:prstGeom prst="round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12700" bIns="1270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Validação
sint.+sem.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031735" y="2331720"/>
            <a:ext cx="384048" cy="0"/>
          </a:xfrm>
          <a:prstGeom prst="line">
            <a:avLst/>
          </a:prstGeom>
          <a:ln w="28575">
            <a:solidFill>
              <a:srgbClr val="4F46E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415783" y="1691640"/>
            <a:ext cx="1874519" cy="1280160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12700" bIns="1270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Compilação
HTML5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9290302" y="2331720"/>
            <a:ext cx="384048" cy="0"/>
          </a:xfrm>
          <a:prstGeom prst="line">
            <a:avLst/>
          </a:prstGeom>
          <a:ln w="28575">
            <a:solidFill>
              <a:srgbClr val="4F46E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9674350" y="1691640"/>
            <a:ext cx="1874519" cy="1280160"/>
          </a:xfrm>
          <a:prstGeom prst="round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12700" bIns="1270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Avaliação
7 dimensões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3520440"/>
            <a:ext cx="11183112" cy="219456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3703320"/>
            <a:ext cx="10451592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100"/>
              </a:spcAft>
            </a:pPr>
            <a:r>
              <a:rPr sz="1600" b="1">
                <a:solidFill>
                  <a:srgbClr val="4F46E5"/>
                </a:solidFill>
                <a:latin typeface="Calibri"/>
              </a:rPr>
              <a:t>▸  </a:t>
            </a:r>
            <a:r>
              <a:rPr sz="1600">
                <a:solidFill>
                  <a:srgbClr val="1E293B"/>
                </a:solidFill>
                <a:latin typeface="Calibri"/>
              </a:rPr>
              <a:t>Tudo flui de um único artefato formal: a especificação Endo-DSL.</a:t>
            </a:r>
          </a:p>
          <a:p>
            <a:pPr algn="l">
              <a:spcAft>
                <a:spcPts val="1100"/>
              </a:spcAft>
            </a:pPr>
            <a:r>
              <a:rPr sz="1600" b="1">
                <a:solidFill>
                  <a:srgbClr val="4F46E5"/>
                </a:solidFill>
                <a:latin typeface="Calibri"/>
              </a:rPr>
              <a:t>▸  </a:t>
            </a:r>
            <a:r>
              <a:rPr sz="1600">
                <a:solidFill>
                  <a:srgbClr val="1E293B"/>
                </a:solidFill>
                <a:latin typeface="Calibri"/>
              </a:rPr>
              <a:t>RAG+LLM podem propor a especificação; o educador a revisa em editor ao vivo.</a:t>
            </a:r>
          </a:p>
          <a:p>
            <a:pPr algn="l">
              <a:spcAft>
                <a:spcPts val="1100"/>
              </a:spcAft>
            </a:pPr>
            <a:r>
              <a:rPr sz="1600" b="1">
                <a:solidFill>
                  <a:srgbClr val="4F46E5"/>
                </a:solidFill>
                <a:latin typeface="Calibri"/>
              </a:rPr>
              <a:t>▸  </a:t>
            </a:r>
            <a:r>
              <a:rPr sz="1600">
                <a:solidFill>
                  <a:srgbClr val="1E293B"/>
                </a:solidFill>
                <a:latin typeface="Calibri"/>
              </a:rPr>
              <a:t>Rastreabilidade pedagógica preservada do objetivo até o protótipo executável.</a:t>
            </a:r>
          </a:p>
          <a:p>
            <a:pPr algn="l">
              <a:spcAft>
                <a:spcPts val="1100"/>
              </a:spcAft>
            </a:pPr>
            <a:r>
              <a:rPr sz="1600" b="1">
                <a:solidFill>
                  <a:srgbClr val="4F46E5"/>
                </a:solidFill>
                <a:latin typeface="Calibri"/>
              </a:rPr>
              <a:t>▸  </a:t>
            </a:r>
            <a:r>
              <a:rPr sz="1600">
                <a:solidFill>
                  <a:srgbClr val="1E293B"/>
                </a:solidFill>
                <a:latin typeface="Calibri"/>
              </a:rPr>
              <a:t>Protótipos automáticos e manuais avaliados pelo MESMO instrumento (comparação).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105156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09728"/>
            <a:ext cx="10607040" cy="8686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817CF0"/>
                </a:solidFill>
                <a:latin typeface="Calibri"/>
              </a:rPr>
              <a:t>CINCO MÓDULOS INTEGRADOS PELA FACHADA PLATFORM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Calibri"/>
              </a:rPr>
              <a:t>Arquitetura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65392"/>
            <a:ext cx="960120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Endo-DSL · PESC/COPPE/UFRJ · Caio Azeredo ·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565392"/>
            <a:ext cx="73152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4F46E5"/>
                </a:solidFill>
                <a:latin typeface="Calibri"/>
              </a:rPr>
              <a:t>15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325880"/>
            <a:ext cx="11183112" cy="73152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  <a:effectLst>
            <a:outerShdw blurRad="60000" dist="25000" dir="5400000" rotWithShape="0">
              <a:srgbClr val="1E293B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325880"/>
            <a:ext cx="11183112" cy="7315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Platform — fachada única (CLI · Web tipo-Overleaf · API HTTP)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529791" y="2057400"/>
            <a:ext cx="0" cy="411480"/>
          </a:xfrm>
          <a:prstGeom prst="line">
            <a:avLst/>
          </a:prstGeom>
          <a:ln w="19050">
            <a:solidFill>
              <a:srgbClr val="64748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02920" y="2468880"/>
            <a:ext cx="2053742" cy="1920240"/>
          </a:xfrm>
          <a:prstGeom prst="roundRect">
            <a:avLst/>
          </a:prstGeom>
          <a:solidFill>
            <a:srgbClr val="FFFFFF"/>
          </a:solidFill>
          <a:ln w="28575">
            <a:solidFill>
              <a:srgbClr val="4F46E5"/>
            </a:solidFill>
          </a:ln>
          <a:effectLst/>
          <a:effectLst>
            <a:outerShdw blurRad="60000" dist="25000" dir="5400000" rotWithShape="0">
              <a:srgbClr val="1E293B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2468880"/>
            <a:ext cx="2053742" cy="10972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651760"/>
            <a:ext cx="1779422" cy="1554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50" b="1" i="0">
                <a:solidFill>
                  <a:srgbClr val="4F46E5"/>
                </a:solidFill>
                <a:latin typeface="Calibri"/>
              </a:rPr>
              <a:t>M1 · Linguagem/DSL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400" b="0" i="0">
                <a:solidFill>
                  <a:srgbClr val="1E293B"/>
                </a:solidFill>
                <a:latin typeface="Calibri"/>
              </a:rPr>
              <a:t/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 i="0">
                <a:solidFill>
                  <a:srgbClr val="64748B"/>
                </a:solidFill>
                <a:latin typeface="Calibri"/>
              </a:rPr>
              <a:t>EBNF · parser RD · validação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812133" y="2057400"/>
            <a:ext cx="0" cy="411480"/>
          </a:xfrm>
          <a:prstGeom prst="line">
            <a:avLst/>
          </a:prstGeom>
          <a:ln w="19050">
            <a:solidFill>
              <a:srgbClr val="64748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2785262" y="2468880"/>
            <a:ext cx="2053742" cy="1920240"/>
          </a:xfrm>
          <a:prstGeom prst="roundRect">
            <a:avLst/>
          </a:prstGeom>
          <a:solidFill>
            <a:srgbClr val="FFFFFF"/>
          </a:solidFill>
          <a:ln w="28575">
            <a:solidFill>
              <a:srgbClr val="0D9488"/>
            </a:solidFill>
          </a:ln>
          <a:effectLst/>
          <a:effectLst>
            <a:outerShdw blurRad="60000" dist="25000" dir="5400000" rotWithShape="0">
              <a:srgbClr val="1E293B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785262" y="2468880"/>
            <a:ext cx="2053742" cy="109728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922422" y="2651760"/>
            <a:ext cx="1779422" cy="1554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50" b="1" i="0">
                <a:solidFill>
                  <a:srgbClr val="0D9488"/>
                </a:solidFill>
                <a:latin typeface="Calibri"/>
              </a:rPr>
              <a:t>M2 · Biblioteca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400" b="0" i="0">
                <a:solidFill>
                  <a:srgbClr val="1E293B"/>
                </a:solidFill>
                <a:latin typeface="Calibri"/>
              </a:rPr>
              <a:t/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 i="0">
                <a:solidFill>
                  <a:srgbClr val="64748B"/>
                </a:solidFill>
                <a:latin typeface="Calibri"/>
              </a:rPr>
              <a:t>componentes curados · SQLite · RAG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094475" y="2057400"/>
            <a:ext cx="0" cy="411480"/>
          </a:xfrm>
          <a:prstGeom prst="line">
            <a:avLst/>
          </a:prstGeom>
          <a:ln w="19050">
            <a:solidFill>
              <a:srgbClr val="64748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067604" y="2468880"/>
            <a:ext cx="2053742" cy="1920240"/>
          </a:xfrm>
          <a:prstGeom prst="roundRect">
            <a:avLst/>
          </a:prstGeom>
          <a:solidFill>
            <a:srgbClr val="FFFFFF"/>
          </a:solidFill>
          <a:ln w="28575">
            <a:solidFill>
              <a:srgbClr val="7C3AED"/>
            </a:solidFill>
          </a:ln>
          <a:effectLst/>
          <a:effectLst>
            <a:outerShdw blurRad="60000" dist="25000" dir="5400000" rotWithShape="0">
              <a:srgbClr val="1E293B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67604" y="2468880"/>
            <a:ext cx="2053742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204764" y="2651760"/>
            <a:ext cx="1779422" cy="1554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50" b="1" i="0">
                <a:solidFill>
                  <a:srgbClr val="7C3AED"/>
                </a:solidFill>
                <a:latin typeface="Calibri"/>
              </a:rPr>
              <a:t>M3 · Pipeline multi-agente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400" b="0" i="0">
                <a:solidFill>
                  <a:srgbClr val="1E293B"/>
                </a:solidFill>
                <a:latin typeface="Calibri"/>
              </a:rPr>
              <a:t/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 i="0">
                <a:solidFill>
                  <a:srgbClr val="64748B"/>
                </a:solidFill>
                <a:latin typeface="Calibri"/>
              </a:rPr>
              <a:t>recuperar→gerar→validar→refinar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376817" y="2057400"/>
            <a:ext cx="0" cy="411480"/>
          </a:xfrm>
          <a:prstGeom prst="line">
            <a:avLst/>
          </a:prstGeom>
          <a:ln w="19050">
            <a:solidFill>
              <a:srgbClr val="64748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349946" y="2468880"/>
            <a:ext cx="2053742" cy="1920240"/>
          </a:xfrm>
          <a:prstGeom prst="roundRect">
            <a:avLst/>
          </a:prstGeom>
          <a:solidFill>
            <a:srgbClr val="FFFFFF"/>
          </a:solidFill>
          <a:ln w="28575">
            <a:solidFill>
              <a:srgbClr val="16A34A"/>
            </a:solidFill>
          </a:ln>
          <a:effectLst/>
          <a:effectLst>
            <a:outerShdw blurRad="60000" dist="25000" dir="5400000" rotWithShape="0">
              <a:srgbClr val="1E293B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9946" y="2468880"/>
            <a:ext cx="2053742" cy="109728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87106" y="2651760"/>
            <a:ext cx="1779422" cy="1554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50" b="1" i="0">
                <a:solidFill>
                  <a:srgbClr val="16A34A"/>
                </a:solidFill>
                <a:latin typeface="Calibri"/>
              </a:rPr>
              <a:t>M4 · Compilador HTML5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400" b="0" i="0">
                <a:solidFill>
                  <a:srgbClr val="1E293B"/>
                </a:solidFill>
                <a:latin typeface="Calibri"/>
              </a:rPr>
              <a:t/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 i="0">
                <a:solidFill>
                  <a:srgbClr val="64748B"/>
                </a:solidFill>
                <a:latin typeface="Calibri"/>
              </a:rPr>
              <a:t>jogo autocontido · reparametrização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10659159" y="2057400"/>
            <a:ext cx="0" cy="411480"/>
          </a:xfrm>
          <a:prstGeom prst="line">
            <a:avLst/>
          </a:prstGeom>
          <a:ln w="19050">
            <a:solidFill>
              <a:srgbClr val="64748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9632288" y="2468880"/>
            <a:ext cx="2053742" cy="1920240"/>
          </a:xfrm>
          <a:prstGeom prst="roundRect">
            <a:avLst/>
          </a:prstGeom>
          <a:solidFill>
            <a:srgbClr val="FFFFFF"/>
          </a:solidFill>
          <a:ln w="28575">
            <a:solidFill>
              <a:srgbClr val="EA580C"/>
            </a:solidFill>
          </a:ln>
          <a:effectLst/>
          <a:effectLst>
            <a:outerShdw blurRad="60000" dist="25000" dir="5400000" rotWithShape="0">
              <a:srgbClr val="1E293B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632288" y="2468880"/>
            <a:ext cx="2053742" cy="10972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769448" y="2651760"/>
            <a:ext cx="1779422" cy="1554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50" b="1" i="0">
                <a:solidFill>
                  <a:srgbClr val="EA580C"/>
                </a:solidFill>
                <a:latin typeface="Calibri"/>
              </a:rPr>
              <a:t>M5 · Avaliação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400" b="0" i="0">
                <a:solidFill>
                  <a:srgbClr val="1E293B"/>
                </a:solidFill>
                <a:latin typeface="Calibri"/>
              </a:rPr>
              <a:t/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 i="0">
                <a:solidFill>
                  <a:srgbClr val="64748B"/>
                </a:solidFill>
                <a:latin typeface="Calibri"/>
              </a:rPr>
              <a:t>instrumento Likert 7-D · relatórios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02920" y="4663440"/>
            <a:ext cx="11183112" cy="6400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2920" y="4663440"/>
            <a:ext cx="11183112" cy="6400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E293B"/>
                </a:solidFill>
                <a:latin typeface="Calibri"/>
              </a:rPr>
              <a:t>Persistência: SQLite (sessões · componentes · tentativas · avaliações)  ·  Workspace de protótipos HTML5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105156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09728"/>
            <a:ext cx="10607040" cy="8686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817CF0"/>
                </a:solidFill>
                <a:latin typeface="Calibri"/>
              </a:rPr>
              <a:t>GRAMÁTICA EBNF &amp; EXEMPLO (RF01)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Calibri"/>
              </a:rPr>
              <a:t>Módulo 1 — Linguagem / DSL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65392"/>
            <a:ext cx="960120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Endo-DSL · PESC/COPPE/UFRJ · Caio Azeredo ·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565392"/>
            <a:ext cx="73152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4F46E5"/>
                </a:solidFill>
                <a:latin typeface="Calibri"/>
              </a:rPr>
              <a:t>16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325880"/>
            <a:ext cx="5440680" cy="4572000"/>
          </a:xfrm>
          <a:prstGeom prst="roundRect">
            <a:avLst/>
          </a:prstGeom>
          <a:solidFill>
            <a:srgbClr val="0F172A"/>
          </a:solidFill>
          <a:ln>
            <a:noFill/>
          </a:ln>
          <a:effectLst/>
          <a:effectLst>
            <a:outerShdw blurRad="60000" dist="25000" dir="5400000" rotWithShape="0">
              <a:srgbClr val="1E293B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325880"/>
            <a:ext cx="5440680" cy="384048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1325880"/>
            <a:ext cx="498348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817CF0"/>
                </a:solidFill>
                <a:latin typeface="Consolas"/>
              </a:rPr>
              <a:t>grammar.ebnf (ISO/IEC 14977)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1828800"/>
            <a:ext cx="49834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50">
                <a:solidFill>
                  <a:srgbClr val="E2E8F0"/>
                </a:solidFill>
                <a:latin typeface="Consolas"/>
              </a:rPr>
              <a:t>spec      = game_decl ;</a:t>
            </a:r>
          </a:p>
          <a:p>
            <a:pPr>
              <a:spcAft>
                <a:spcPts val="200"/>
              </a:spcAft>
            </a:pPr>
            <a:r>
              <a:rPr sz="1150">
                <a:solidFill>
                  <a:srgbClr val="E2E8F0"/>
                </a:solidFill>
                <a:latin typeface="Consolas"/>
              </a:rPr>
              <a:t>game_decl = "game" string "{"</a:t>
            </a:r>
          </a:p>
          <a:p>
            <a:pPr>
              <a:spcAft>
                <a:spcPts val="200"/>
              </a:spcAft>
            </a:pPr>
            <a:r>
              <a:rPr sz="1150">
                <a:solidFill>
                  <a:srgbClr val="E2E8F0"/>
                </a:solidFill>
                <a:latin typeface="Consolas"/>
              </a:rPr>
              <a:t>            { game_member } "}" ;</a:t>
            </a:r>
          </a:p>
          <a:p>
            <a:pPr>
              <a:spcAft>
                <a:spcPts val="200"/>
              </a:spcAft>
            </a:pPr>
            <a:r>
              <a:rPr sz="1150">
                <a:solidFill>
                  <a:srgbClr val="94A3B8"/>
                </a:solidFill>
                <a:latin typeface="Consolas"/>
              </a:rPr>
              <a:t> </a:t>
            </a:r>
          </a:p>
          <a:p>
            <a:pPr>
              <a:spcAft>
                <a:spcPts val="200"/>
              </a:spcAft>
            </a:pPr>
            <a:r>
              <a:rPr sz="1150">
                <a:solidFill>
                  <a:srgbClr val="E2E8F0"/>
                </a:solidFill>
                <a:latin typeface="Consolas"/>
              </a:rPr>
              <a:t>mechanic_decl =</a:t>
            </a:r>
          </a:p>
          <a:p>
            <a:pPr>
              <a:spcAft>
                <a:spcPts val="200"/>
              </a:spcAft>
            </a:pPr>
            <a:r>
              <a:rPr sz="1150">
                <a:solidFill>
                  <a:srgbClr val="E2E8F0"/>
                </a:solidFill>
                <a:latin typeface="Consolas"/>
              </a:rPr>
              <a:t>   "mechanic" ident "{"</a:t>
            </a:r>
          </a:p>
          <a:p>
            <a:pPr>
              <a:spcAft>
                <a:spcPts val="200"/>
              </a:spcAft>
            </a:pPr>
            <a:r>
              <a:rPr sz="1150">
                <a:solidFill>
                  <a:srgbClr val="E2E8F0"/>
                </a:solidFill>
                <a:latin typeface="Consolas"/>
              </a:rPr>
              <a:t>   { mechanic_field } "}" ;</a:t>
            </a:r>
          </a:p>
          <a:p>
            <a:pPr>
              <a:spcAft>
                <a:spcPts val="200"/>
              </a:spcAft>
            </a:pPr>
            <a:r>
              <a:rPr sz="1150">
                <a:solidFill>
                  <a:srgbClr val="94A3B8"/>
                </a:solidFill>
                <a:latin typeface="Consolas"/>
              </a:rPr>
              <a:t> </a:t>
            </a:r>
          </a:p>
          <a:p>
            <a:pPr>
              <a:spcAft>
                <a:spcPts val="200"/>
              </a:spcAft>
            </a:pPr>
            <a:r>
              <a:rPr sz="1150">
                <a:solidFill>
                  <a:srgbClr val="94A3B8"/>
                </a:solidFill>
                <a:latin typeface="Consolas"/>
              </a:rPr>
              <a:t>(* Bloom = construto 1ª classe *)</a:t>
            </a:r>
          </a:p>
          <a:p>
            <a:pPr>
              <a:spcAft>
                <a:spcPts val="200"/>
              </a:spcAft>
            </a:pPr>
            <a:r>
              <a:rPr sz="1150">
                <a:solidFill>
                  <a:srgbClr val="6EE7B7"/>
                </a:solidFill>
                <a:latin typeface="Consolas"/>
              </a:rPr>
              <a:t>bloom = "Lembrar" | "Compreender"</a:t>
            </a:r>
          </a:p>
          <a:p>
            <a:pPr>
              <a:spcAft>
                <a:spcPts val="200"/>
              </a:spcAft>
            </a:pPr>
            <a:r>
              <a:rPr sz="1150">
                <a:solidFill>
                  <a:srgbClr val="6EE7B7"/>
                </a:solidFill>
                <a:latin typeface="Consolas"/>
              </a:rPr>
              <a:t>      | "Aplicar"  | "Analisar"</a:t>
            </a:r>
          </a:p>
          <a:p>
            <a:pPr>
              <a:spcAft>
                <a:spcPts val="200"/>
              </a:spcAft>
            </a:pPr>
            <a:r>
              <a:rPr sz="1150">
                <a:solidFill>
                  <a:srgbClr val="6EE7B7"/>
                </a:solidFill>
                <a:latin typeface="Consolas"/>
              </a:rPr>
              <a:t>      | "Avaliar"  | "Criar" ;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45352" y="1325880"/>
            <a:ext cx="5440680" cy="4572000"/>
          </a:xfrm>
          <a:prstGeom prst="roundRect">
            <a:avLst/>
          </a:prstGeom>
          <a:solidFill>
            <a:srgbClr val="0F172A"/>
          </a:solidFill>
          <a:ln>
            <a:noFill/>
          </a:ln>
          <a:effectLst/>
          <a:effectLst>
            <a:outerShdw blurRad="60000" dist="25000" dir="5400000" rotWithShape="0">
              <a:srgbClr val="1E293B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45352" y="1325880"/>
            <a:ext cx="5440680" cy="384048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73952" y="1325880"/>
            <a:ext cx="498348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817CF0"/>
                </a:solidFill>
                <a:latin typeface="Consolas"/>
              </a:rPr>
              <a:t>fracoes.endo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3952" y="1828800"/>
            <a:ext cx="49834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50">
                <a:solidFill>
                  <a:srgbClr val="93C5FD"/>
                </a:solidFill>
                <a:latin typeface="Consolas"/>
              </a:rPr>
              <a:t>game "Comparando Frações" {</a:t>
            </a:r>
          </a:p>
          <a:p>
            <a:pPr>
              <a:spcAft>
                <a:spcPts val="200"/>
              </a:spcAft>
            </a:pPr>
            <a:r>
              <a:rPr sz="1150">
                <a:solidFill>
                  <a:srgbClr val="E2E8F0"/>
                </a:solidFill>
                <a:latin typeface="Consolas"/>
              </a:rPr>
              <a:t>  metadata {</a:t>
            </a:r>
          </a:p>
          <a:p>
            <a:pPr>
              <a:spcAft>
                <a:spcPts val="200"/>
              </a:spcAft>
            </a:pPr>
            <a:r>
              <a:rPr sz="1150">
                <a:solidFill>
                  <a:srgbClr val="E2E8F0"/>
                </a:solidFill>
                <a:latin typeface="Consolas"/>
              </a:rPr>
              <a:t>    domain: "Matemática"</a:t>
            </a:r>
          </a:p>
          <a:p>
            <a:pPr>
              <a:spcAft>
                <a:spcPts val="200"/>
              </a:spcAft>
            </a:pPr>
            <a:r>
              <a:rPr sz="1150">
                <a:solidFill>
                  <a:srgbClr val="6EE7B7"/>
                </a:solidFill>
                <a:latin typeface="Consolas"/>
              </a:rPr>
              <a:t>    bloom: Analisar</a:t>
            </a:r>
          </a:p>
          <a:p>
            <a:pPr>
              <a:spcAft>
                <a:spcPts val="200"/>
              </a:spcAft>
            </a:pPr>
            <a:r>
              <a:rPr sz="1150">
                <a:solidFill>
                  <a:srgbClr val="E2E8F0"/>
                </a:solidFill>
                <a:latin typeface="Consolas"/>
              </a:rPr>
              <a:t>    age_range: "10-11"</a:t>
            </a:r>
          </a:p>
          <a:p>
            <a:pPr>
              <a:spcAft>
                <a:spcPts val="200"/>
              </a:spcAft>
            </a:pPr>
            <a:r>
              <a:rPr sz="1150">
                <a:solidFill>
                  <a:srgbClr val="E2E8F0"/>
                </a:solidFill>
                <a:latin typeface="Consolas"/>
              </a:rPr>
              <a:t>  }</a:t>
            </a:r>
          </a:p>
          <a:p>
            <a:pPr>
              <a:spcAft>
                <a:spcPts val="200"/>
              </a:spcAft>
            </a:pPr>
            <a:r>
              <a:rPr sz="1150">
                <a:solidFill>
                  <a:srgbClr val="93C5FD"/>
                </a:solidFill>
                <a:latin typeface="Consolas"/>
              </a:rPr>
              <a:t>  mechanic comparacao {</a:t>
            </a:r>
          </a:p>
          <a:p>
            <a:pPr>
              <a:spcAft>
                <a:spcPts val="200"/>
              </a:spcAft>
            </a:pPr>
            <a:r>
              <a:rPr sz="1150">
                <a:solidFill>
                  <a:srgbClr val="E2E8F0"/>
                </a:solidFill>
                <a:latin typeface="Consolas"/>
              </a:rPr>
              <a:t>    type: classification</a:t>
            </a:r>
          </a:p>
          <a:p>
            <a:pPr>
              <a:spcAft>
                <a:spcPts val="200"/>
              </a:spcAft>
            </a:pPr>
            <a:r>
              <a:rPr sz="1150">
                <a:solidFill>
                  <a:srgbClr val="6EE7B7"/>
                </a:solidFill>
                <a:latin typeface="Consolas"/>
              </a:rPr>
              <a:t>    bloom: Analisar</a:t>
            </a:r>
          </a:p>
          <a:p>
            <a:pPr>
              <a:spcAft>
                <a:spcPts val="200"/>
              </a:spcAft>
            </a:pPr>
            <a:r>
              <a:rPr sz="1150">
                <a:solidFill>
                  <a:srgbClr val="E2E8F0"/>
                </a:solidFill>
                <a:latin typeface="Consolas"/>
              </a:rPr>
              <a:t>    addresses: obj_comparar</a:t>
            </a:r>
          </a:p>
          <a:p>
            <a:pPr>
              <a:spcAft>
                <a:spcPts val="200"/>
              </a:spcAft>
            </a:pPr>
            <a:r>
              <a:rPr sz="1150">
                <a:solidFill>
                  <a:srgbClr val="E2E8F0"/>
                </a:solidFill>
                <a:latin typeface="Consolas"/>
              </a:rPr>
              <a:t>  }</a:t>
            </a:r>
          </a:p>
          <a:p>
            <a:pPr>
              <a:spcAft>
                <a:spcPts val="200"/>
              </a:spcAft>
            </a:pPr>
            <a:r>
              <a:rPr sz="1150">
                <a:solidFill>
                  <a:srgbClr val="93C5FD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105156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09728"/>
            <a:ext cx="10607040" cy="8686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817CF0"/>
                </a:solidFill>
                <a:latin typeface="Calibri"/>
              </a:rPr>
              <a:t>RF02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Calibri"/>
              </a:rPr>
              <a:t>Bloom como construto de primeira classe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65392"/>
            <a:ext cx="960120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Endo-DSL · PESC/COPPE/UFRJ · Caio Azeredo ·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565392"/>
            <a:ext cx="73152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4F46E5"/>
                </a:solidFill>
                <a:latin typeface="Calibri"/>
              </a:rPr>
              <a:t>17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417320"/>
            <a:ext cx="676656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800" b="1">
                <a:solidFill>
                  <a:srgbClr val="4F46E5"/>
                </a:solidFill>
                <a:latin typeface="Calibri"/>
              </a:rPr>
              <a:t>▸  </a:t>
            </a:r>
            <a:r>
              <a:rPr sz="1800">
                <a:solidFill>
                  <a:srgbClr val="1E293B"/>
                </a:solidFill>
                <a:latin typeface="Calibri"/>
              </a:rPr>
              <a:t>O não-terminal &lt;bloom&gt; é exigível em objetivos, mecânicas, loops e ramificações narrativas — não é metadado opcional.</a:t>
            </a:r>
          </a:p>
          <a:p>
            <a:pPr algn="l">
              <a:spcAft>
                <a:spcPts val="1200"/>
              </a:spcAft>
            </a:pPr>
            <a:r>
              <a:rPr sz="1800" b="1">
                <a:solidFill>
                  <a:srgbClr val="4F46E5"/>
                </a:solidFill>
                <a:latin typeface="Calibri"/>
              </a:rPr>
              <a:t>▸  </a:t>
            </a:r>
            <a:r>
              <a:rPr sz="1800">
                <a:solidFill>
                  <a:srgbClr val="1E293B"/>
                </a:solidFill>
                <a:latin typeface="Calibri"/>
              </a:rPr>
              <a:t>Nomes canônicos em português; o parser também aceita os equivalentes em inglês (Remember…Create).</a:t>
            </a:r>
          </a:p>
          <a:p>
            <a:pPr algn="l">
              <a:spcAft>
                <a:spcPts val="1200"/>
              </a:spcAft>
            </a:pPr>
            <a:r>
              <a:rPr sz="1800" b="1">
                <a:solidFill>
                  <a:srgbClr val="4F46E5"/>
                </a:solidFill>
                <a:latin typeface="Calibri"/>
              </a:rPr>
              <a:t>▸  </a:t>
            </a:r>
            <a:r>
              <a:rPr sz="1800">
                <a:solidFill>
                  <a:srgbClr val="1E293B"/>
                </a:solidFill>
                <a:latin typeface="Calibri"/>
              </a:rPr>
              <a:t>Cada elemento declara o nível cognitivo que pretende exercitar, tornando a intenção pedagógica explícita e auditável.</a:t>
            </a:r>
          </a:p>
          <a:p>
            <a:pPr algn="l">
              <a:spcAft>
                <a:spcPts val="1200"/>
              </a:spcAft>
            </a:pPr>
            <a:r>
              <a:rPr sz="1800" b="1">
                <a:solidFill>
                  <a:srgbClr val="4F46E5"/>
                </a:solidFill>
                <a:latin typeface="Calibri"/>
              </a:rPr>
              <a:t>▸  </a:t>
            </a:r>
            <a:r>
              <a:rPr sz="1800">
                <a:solidFill>
                  <a:srgbClr val="1E293B"/>
                </a:solidFill>
                <a:latin typeface="Calibri"/>
              </a:rPr>
              <a:t>Isso habilita a verificação semântica: comparar o Bloom do objetivo com o Bloom das mecânicas que o endereçam.</a:t>
            </a:r>
          </a:p>
          <a:p>
            <a:pPr algn="l">
              <a:spcAft>
                <a:spcPts val="1200"/>
              </a:spcAft>
            </a:pPr>
            <a:r>
              <a:rPr sz="1800" b="1">
                <a:solidFill>
                  <a:srgbClr val="4F46E5"/>
                </a:solidFill>
                <a:latin typeface="Calibri"/>
              </a:rPr>
              <a:t>▸  </a:t>
            </a:r>
            <a:r>
              <a:rPr sz="1800">
                <a:solidFill>
                  <a:srgbClr val="1E293B"/>
                </a:solidFill>
                <a:latin typeface="Calibri"/>
              </a:rPr>
              <a:t>Resultado: rastreabilidade pedagógica do objetivo de aprendizagem até a mecânica e o protótipo compilado.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89520" y="1325880"/>
            <a:ext cx="4096512" cy="45720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  <a:effectLst>
            <a:outerShdw blurRad="60000" dist="25000" dir="5400000" rotWithShape="0">
              <a:srgbClr val="1E293B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589520" y="1325880"/>
            <a:ext cx="4096512" cy="54864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18120" y="1325880"/>
            <a:ext cx="3639312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Os 6 níveis aceitos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18120" y="2011680"/>
            <a:ext cx="3639312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>
                <a:solidFill>
                  <a:srgbClr val="F8FAFC"/>
                </a:solidFill>
                <a:latin typeface="Calibri"/>
              </a:rPr>
              <a:t>• Lembrar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F8FAFC"/>
                </a:solidFill>
                <a:latin typeface="Calibri"/>
              </a:rPr>
              <a:t>• Compreender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F8FAFC"/>
                </a:solidFill>
                <a:latin typeface="Calibri"/>
              </a:rPr>
              <a:t>• Aplicar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F8FAFC"/>
                </a:solidFill>
                <a:latin typeface="Calibri"/>
              </a:rPr>
              <a:t>• Analisar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F8FAFC"/>
                </a:solidFill>
                <a:latin typeface="Calibri"/>
              </a:rPr>
              <a:t>• Avaliar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F8FAFC"/>
                </a:solidFill>
                <a:latin typeface="Calibri"/>
              </a:rPr>
              <a:t>• Criar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105156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09728"/>
            <a:ext cx="10607040" cy="8686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817CF0"/>
                </a:solidFill>
                <a:latin typeface="Calibri"/>
              </a:rPr>
              <a:t>RF03 / RF04 — MATRIZ DE AFINIDADE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Calibri"/>
              </a:rPr>
              <a:t>Validação sintática e semântica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65392"/>
            <a:ext cx="960120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Endo-DSL · PESC/COPPE/UFRJ · Caio Azeredo ·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565392"/>
            <a:ext cx="73152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4F46E5"/>
                </a:solidFill>
                <a:latin typeface="Calibri"/>
              </a:rPr>
              <a:t>18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325880"/>
            <a:ext cx="4754880" cy="201168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  <a:effectLst>
            <a:outerShdw blurRad="60000" dist="25000" dir="5400000" rotWithShape="0">
              <a:srgbClr val="1E293B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463040"/>
            <a:ext cx="4206240" cy="1828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1" i="0">
                <a:solidFill>
                  <a:srgbClr val="4F46E5"/>
                </a:solidFill>
                <a:latin typeface="Calibri"/>
              </a:rPr>
              <a:t>RF03 · Validação sintática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50" b="0" i="0">
                <a:solidFill>
                  <a:srgbClr val="1E293B"/>
                </a:solidFill>
                <a:latin typeface="Calibri"/>
              </a:rPr>
              <a:t>Parser recursivo descendente verifica a aderência à gramática EBNF; erros reportam linha/coluna e sugestão.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1" i="0">
                <a:solidFill>
                  <a:srgbClr val="4F46E5"/>
                </a:solidFill>
                <a:latin typeface="Calibri"/>
              </a:rPr>
              <a:t>RF04 · Validação semântica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50" b="0" i="0">
                <a:solidFill>
                  <a:srgbClr val="1E293B"/>
                </a:solidFill>
                <a:latin typeface="Calibri"/>
              </a:rPr>
              <a:t>Coerência cognitiva: o nível de Bloom da mecânica é compatível com o do objetivo que ela endereça (matriz de afinidade).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566160"/>
            <a:ext cx="47548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</a:pPr>
            <a:r>
              <a:rPr sz="1400" b="1">
                <a:solidFill>
                  <a:srgbClr val="4F46E5"/>
                </a:solidFill>
                <a:latin typeface="Calibri"/>
              </a:rPr>
              <a:t>▸  </a:t>
            </a:r>
            <a:r>
              <a:rPr sz="1400">
                <a:solidFill>
                  <a:srgbClr val="1E293B"/>
                </a:solidFill>
                <a:latin typeface="Calibri"/>
              </a:rPr>
              <a:t>Referências cruzadas (addresses) resolvidas.</a:t>
            </a:r>
          </a:p>
          <a:p>
            <a:pPr algn="l">
              <a:spcAft>
                <a:spcPts val="900"/>
              </a:spcAft>
            </a:pPr>
            <a:r>
              <a:rPr sz="1400" b="1">
                <a:solidFill>
                  <a:srgbClr val="4F46E5"/>
                </a:solidFill>
                <a:latin typeface="Calibri"/>
              </a:rPr>
              <a:t>▸  </a:t>
            </a:r>
            <a:r>
              <a:rPr sz="1400">
                <a:solidFill>
                  <a:srgbClr val="1E293B"/>
                </a:solidFill>
                <a:latin typeface="Calibri"/>
              </a:rPr>
              <a:t>Loops com transições válidas entre mecânicas.</a:t>
            </a:r>
          </a:p>
          <a:p>
            <a:pPr algn="l">
              <a:spcAft>
                <a:spcPts val="900"/>
              </a:spcAft>
            </a:pPr>
            <a:r>
              <a:rPr sz="1400" b="1">
                <a:solidFill>
                  <a:srgbClr val="4F46E5"/>
                </a:solidFill>
                <a:latin typeface="Calibri"/>
              </a:rPr>
              <a:t>▸  </a:t>
            </a:r>
            <a:r>
              <a:rPr sz="1400">
                <a:solidFill>
                  <a:srgbClr val="1E293B"/>
                </a:solidFill>
                <a:latin typeface="Calibri"/>
              </a:rPr>
              <a:t>Avisos pedagógicos não bloqueiam, mas orientam.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0" y="1325880"/>
            <a:ext cx="594360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E293B"/>
                </a:solidFill>
                <a:latin typeface="Calibri"/>
              </a:rPr>
              <a:t>Matriz de afinidade  (linha: objetivo · coluna: mecânica)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92240" y="1828800"/>
            <a:ext cx="658368" cy="36576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1828800"/>
            <a:ext cx="658368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Lemb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150608" y="1828800"/>
            <a:ext cx="658368" cy="36576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50608" y="1828800"/>
            <a:ext cx="658368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Comp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808976" y="1828800"/>
            <a:ext cx="658368" cy="36576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08976" y="1828800"/>
            <a:ext cx="658368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Apli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67344" y="1828800"/>
            <a:ext cx="658368" cy="365760"/>
          </a:xfrm>
          <a:prstGeom prst="rect">
            <a:avLst/>
          </a:prstGeom>
          <a:solidFill>
            <a:srgbClr val="CA8A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67344" y="1828800"/>
            <a:ext cx="658368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Anal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25712" y="1828800"/>
            <a:ext cx="658368" cy="36576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25712" y="1828800"/>
            <a:ext cx="658368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Aval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784080" y="1828800"/>
            <a:ext cx="658368" cy="36576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784080" y="1828800"/>
            <a:ext cx="658368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Cria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0" y="2194560"/>
            <a:ext cx="822960" cy="65836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69280" y="2194560"/>
            <a:ext cx="822960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Lemb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92240" y="2194560"/>
            <a:ext cx="658368" cy="658368"/>
          </a:xfrm>
          <a:prstGeom prst="rect">
            <a:avLst/>
          </a:prstGeom>
          <a:solidFill>
            <a:srgbClr val="16A34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92240" y="2194560"/>
            <a:ext cx="658368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150608" y="2194560"/>
            <a:ext cx="658368" cy="658368"/>
          </a:xfrm>
          <a:prstGeom prst="rect">
            <a:avLst/>
          </a:prstGeom>
          <a:solidFill>
            <a:srgbClr val="CA8A04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150608" y="2194560"/>
            <a:ext cx="658368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~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808976" y="2194560"/>
            <a:ext cx="658368" cy="658368"/>
          </a:xfrm>
          <a:prstGeom prst="rect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808976" y="2194560"/>
            <a:ext cx="658368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✗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467344" y="2194560"/>
            <a:ext cx="658368" cy="658368"/>
          </a:xfrm>
          <a:prstGeom prst="rect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467344" y="2194560"/>
            <a:ext cx="658368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✗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125712" y="2194560"/>
            <a:ext cx="658368" cy="658368"/>
          </a:xfrm>
          <a:prstGeom prst="rect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25712" y="2194560"/>
            <a:ext cx="658368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✗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784080" y="2194560"/>
            <a:ext cx="658368" cy="658368"/>
          </a:xfrm>
          <a:prstGeom prst="rect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784080" y="2194560"/>
            <a:ext cx="658368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✗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669280" y="2852928"/>
            <a:ext cx="822960" cy="658368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669280" y="2852928"/>
            <a:ext cx="822960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Comp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92240" y="2852928"/>
            <a:ext cx="658368" cy="658368"/>
          </a:xfrm>
          <a:prstGeom prst="rect">
            <a:avLst/>
          </a:prstGeom>
          <a:solidFill>
            <a:srgbClr val="CA8A04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92240" y="2852928"/>
            <a:ext cx="658368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~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150608" y="2852928"/>
            <a:ext cx="658368" cy="658368"/>
          </a:xfrm>
          <a:prstGeom prst="rect">
            <a:avLst/>
          </a:prstGeom>
          <a:solidFill>
            <a:srgbClr val="16A34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150608" y="2852928"/>
            <a:ext cx="658368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808976" y="2852928"/>
            <a:ext cx="658368" cy="658368"/>
          </a:xfrm>
          <a:prstGeom prst="rect">
            <a:avLst/>
          </a:prstGeom>
          <a:solidFill>
            <a:srgbClr val="CA8A04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808976" y="2852928"/>
            <a:ext cx="658368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~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467344" y="2852928"/>
            <a:ext cx="658368" cy="658368"/>
          </a:xfrm>
          <a:prstGeom prst="rect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467344" y="2852928"/>
            <a:ext cx="658368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✗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125712" y="2852928"/>
            <a:ext cx="658368" cy="658368"/>
          </a:xfrm>
          <a:prstGeom prst="rect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125712" y="2852928"/>
            <a:ext cx="658368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✗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784080" y="2852928"/>
            <a:ext cx="658368" cy="658368"/>
          </a:xfrm>
          <a:prstGeom prst="rect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784080" y="2852928"/>
            <a:ext cx="658368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✗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669280" y="3511296"/>
            <a:ext cx="822960" cy="658368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669280" y="3511296"/>
            <a:ext cx="822960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Apli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492240" y="3511296"/>
            <a:ext cx="658368" cy="658368"/>
          </a:xfrm>
          <a:prstGeom prst="rect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492240" y="3511296"/>
            <a:ext cx="658368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✗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150608" y="3511296"/>
            <a:ext cx="658368" cy="658368"/>
          </a:xfrm>
          <a:prstGeom prst="rect">
            <a:avLst/>
          </a:prstGeom>
          <a:solidFill>
            <a:srgbClr val="CA8A04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150608" y="3511296"/>
            <a:ext cx="658368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~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808976" y="3511296"/>
            <a:ext cx="658368" cy="658368"/>
          </a:xfrm>
          <a:prstGeom prst="rect">
            <a:avLst/>
          </a:prstGeom>
          <a:solidFill>
            <a:srgbClr val="16A34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808976" y="3511296"/>
            <a:ext cx="658368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467344" y="3511296"/>
            <a:ext cx="658368" cy="658368"/>
          </a:xfrm>
          <a:prstGeom prst="rect">
            <a:avLst/>
          </a:prstGeom>
          <a:solidFill>
            <a:srgbClr val="CA8A04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467344" y="3511296"/>
            <a:ext cx="658368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~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125712" y="3511296"/>
            <a:ext cx="658368" cy="658368"/>
          </a:xfrm>
          <a:prstGeom prst="rect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125712" y="3511296"/>
            <a:ext cx="658368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✗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784080" y="3511296"/>
            <a:ext cx="658368" cy="658368"/>
          </a:xfrm>
          <a:prstGeom prst="rect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784080" y="3511296"/>
            <a:ext cx="658368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✗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669280" y="4169664"/>
            <a:ext cx="822960" cy="658368"/>
          </a:xfrm>
          <a:prstGeom prst="rect">
            <a:avLst/>
          </a:prstGeom>
          <a:solidFill>
            <a:srgbClr val="CA8A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669280" y="4169664"/>
            <a:ext cx="822960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Anal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492240" y="4169664"/>
            <a:ext cx="658368" cy="658368"/>
          </a:xfrm>
          <a:prstGeom prst="rect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492240" y="4169664"/>
            <a:ext cx="658368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✗</a:t>
            </a:r>
          </a:p>
        </p:txBody>
      </p:sp>
      <p:sp>
        <p:nvSpPr>
          <p:cNvPr id="72" name="Rectangle 71"/>
          <p:cNvSpPr/>
          <p:nvPr/>
        </p:nvSpPr>
        <p:spPr>
          <a:xfrm>
            <a:off x="7150608" y="4169664"/>
            <a:ext cx="658368" cy="658368"/>
          </a:xfrm>
          <a:prstGeom prst="rect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7150608" y="4169664"/>
            <a:ext cx="658368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✗</a:t>
            </a:r>
          </a:p>
        </p:txBody>
      </p:sp>
      <p:sp>
        <p:nvSpPr>
          <p:cNvPr id="74" name="Rectangle 73"/>
          <p:cNvSpPr/>
          <p:nvPr/>
        </p:nvSpPr>
        <p:spPr>
          <a:xfrm>
            <a:off x="7808976" y="4169664"/>
            <a:ext cx="658368" cy="658368"/>
          </a:xfrm>
          <a:prstGeom prst="rect">
            <a:avLst/>
          </a:prstGeom>
          <a:solidFill>
            <a:srgbClr val="CA8A04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808976" y="4169664"/>
            <a:ext cx="658368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~</a:t>
            </a:r>
          </a:p>
        </p:txBody>
      </p:sp>
      <p:sp>
        <p:nvSpPr>
          <p:cNvPr id="76" name="Rectangle 75"/>
          <p:cNvSpPr/>
          <p:nvPr/>
        </p:nvSpPr>
        <p:spPr>
          <a:xfrm>
            <a:off x="8467344" y="4169664"/>
            <a:ext cx="658368" cy="658368"/>
          </a:xfrm>
          <a:prstGeom prst="rect">
            <a:avLst/>
          </a:prstGeom>
          <a:solidFill>
            <a:srgbClr val="16A34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8467344" y="4169664"/>
            <a:ext cx="658368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78" name="Rectangle 77"/>
          <p:cNvSpPr/>
          <p:nvPr/>
        </p:nvSpPr>
        <p:spPr>
          <a:xfrm>
            <a:off x="9125712" y="4169664"/>
            <a:ext cx="658368" cy="658368"/>
          </a:xfrm>
          <a:prstGeom prst="rect">
            <a:avLst/>
          </a:prstGeom>
          <a:solidFill>
            <a:srgbClr val="CA8A04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9125712" y="4169664"/>
            <a:ext cx="658368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~</a:t>
            </a:r>
          </a:p>
        </p:txBody>
      </p:sp>
      <p:sp>
        <p:nvSpPr>
          <p:cNvPr id="80" name="Rectangle 79"/>
          <p:cNvSpPr/>
          <p:nvPr/>
        </p:nvSpPr>
        <p:spPr>
          <a:xfrm>
            <a:off x="9784080" y="4169664"/>
            <a:ext cx="658368" cy="658368"/>
          </a:xfrm>
          <a:prstGeom prst="rect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9784080" y="4169664"/>
            <a:ext cx="658368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✗</a:t>
            </a:r>
          </a:p>
        </p:txBody>
      </p:sp>
      <p:sp>
        <p:nvSpPr>
          <p:cNvPr id="82" name="Rectangle 81"/>
          <p:cNvSpPr/>
          <p:nvPr/>
        </p:nvSpPr>
        <p:spPr>
          <a:xfrm>
            <a:off x="5669280" y="4828032"/>
            <a:ext cx="822960" cy="65836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5669280" y="4828032"/>
            <a:ext cx="822960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Aval</a:t>
            </a:r>
          </a:p>
        </p:txBody>
      </p:sp>
      <p:sp>
        <p:nvSpPr>
          <p:cNvPr id="84" name="Rectangle 83"/>
          <p:cNvSpPr/>
          <p:nvPr/>
        </p:nvSpPr>
        <p:spPr>
          <a:xfrm>
            <a:off x="6492240" y="4828032"/>
            <a:ext cx="658368" cy="658368"/>
          </a:xfrm>
          <a:prstGeom prst="rect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6492240" y="4828032"/>
            <a:ext cx="658368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✗</a:t>
            </a:r>
          </a:p>
        </p:txBody>
      </p:sp>
      <p:sp>
        <p:nvSpPr>
          <p:cNvPr id="86" name="Rectangle 85"/>
          <p:cNvSpPr/>
          <p:nvPr/>
        </p:nvSpPr>
        <p:spPr>
          <a:xfrm>
            <a:off x="7150608" y="4828032"/>
            <a:ext cx="658368" cy="658368"/>
          </a:xfrm>
          <a:prstGeom prst="rect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7150608" y="4828032"/>
            <a:ext cx="658368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✗</a:t>
            </a:r>
          </a:p>
        </p:txBody>
      </p:sp>
      <p:sp>
        <p:nvSpPr>
          <p:cNvPr id="88" name="Rectangle 87"/>
          <p:cNvSpPr/>
          <p:nvPr/>
        </p:nvSpPr>
        <p:spPr>
          <a:xfrm>
            <a:off x="7808976" y="4828032"/>
            <a:ext cx="658368" cy="658368"/>
          </a:xfrm>
          <a:prstGeom prst="rect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7808976" y="4828032"/>
            <a:ext cx="658368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✗</a:t>
            </a:r>
          </a:p>
        </p:txBody>
      </p:sp>
      <p:sp>
        <p:nvSpPr>
          <p:cNvPr id="90" name="Rectangle 89"/>
          <p:cNvSpPr/>
          <p:nvPr/>
        </p:nvSpPr>
        <p:spPr>
          <a:xfrm>
            <a:off x="8467344" y="4828032"/>
            <a:ext cx="658368" cy="658368"/>
          </a:xfrm>
          <a:prstGeom prst="rect">
            <a:avLst/>
          </a:prstGeom>
          <a:solidFill>
            <a:srgbClr val="CA8A04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8467344" y="4828032"/>
            <a:ext cx="658368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~</a:t>
            </a:r>
          </a:p>
        </p:txBody>
      </p:sp>
      <p:sp>
        <p:nvSpPr>
          <p:cNvPr id="92" name="Rectangle 91"/>
          <p:cNvSpPr/>
          <p:nvPr/>
        </p:nvSpPr>
        <p:spPr>
          <a:xfrm>
            <a:off x="9125712" y="4828032"/>
            <a:ext cx="658368" cy="658368"/>
          </a:xfrm>
          <a:prstGeom prst="rect">
            <a:avLst/>
          </a:prstGeom>
          <a:solidFill>
            <a:srgbClr val="16A34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9125712" y="4828032"/>
            <a:ext cx="658368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94" name="Rectangle 93"/>
          <p:cNvSpPr/>
          <p:nvPr/>
        </p:nvSpPr>
        <p:spPr>
          <a:xfrm>
            <a:off x="9784080" y="4828032"/>
            <a:ext cx="658368" cy="658368"/>
          </a:xfrm>
          <a:prstGeom prst="rect">
            <a:avLst/>
          </a:prstGeom>
          <a:solidFill>
            <a:srgbClr val="CA8A04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9784080" y="4828032"/>
            <a:ext cx="658368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~</a:t>
            </a:r>
          </a:p>
        </p:txBody>
      </p:sp>
      <p:sp>
        <p:nvSpPr>
          <p:cNvPr id="96" name="Rectangle 95"/>
          <p:cNvSpPr/>
          <p:nvPr/>
        </p:nvSpPr>
        <p:spPr>
          <a:xfrm>
            <a:off x="5669280" y="5486400"/>
            <a:ext cx="822960" cy="658368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5669280" y="5486400"/>
            <a:ext cx="822960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Cria</a:t>
            </a:r>
          </a:p>
        </p:txBody>
      </p:sp>
      <p:sp>
        <p:nvSpPr>
          <p:cNvPr id="98" name="Rectangle 97"/>
          <p:cNvSpPr/>
          <p:nvPr/>
        </p:nvSpPr>
        <p:spPr>
          <a:xfrm>
            <a:off x="6492240" y="5486400"/>
            <a:ext cx="658368" cy="658368"/>
          </a:xfrm>
          <a:prstGeom prst="rect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6492240" y="5486400"/>
            <a:ext cx="658368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✗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7150608" y="5486400"/>
            <a:ext cx="658368" cy="658368"/>
          </a:xfrm>
          <a:prstGeom prst="rect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7150608" y="5486400"/>
            <a:ext cx="658368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✗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7808976" y="5486400"/>
            <a:ext cx="658368" cy="658368"/>
          </a:xfrm>
          <a:prstGeom prst="rect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7808976" y="5486400"/>
            <a:ext cx="658368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✗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8467344" y="5486400"/>
            <a:ext cx="658368" cy="658368"/>
          </a:xfrm>
          <a:prstGeom prst="rect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8467344" y="5486400"/>
            <a:ext cx="658368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✗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9125712" y="5486400"/>
            <a:ext cx="658368" cy="658368"/>
          </a:xfrm>
          <a:prstGeom prst="rect">
            <a:avLst/>
          </a:prstGeom>
          <a:solidFill>
            <a:srgbClr val="CA8A04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9125712" y="5486400"/>
            <a:ext cx="658368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~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9784080" y="5486400"/>
            <a:ext cx="658368" cy="658368"/>
          </a:xfrm>
          <a:prstGeom prst="rect">
            <a:avLst/>
          </a:prstGeom>
          <a:solidFill>
            <a:srgbClr val="16A34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9784080" y="5486400"/>
            <a:ext cx="658368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5669280" y="6281928"/>
            <a:ext cx="59436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64748B"/>
                </a:solidFill>
                <a:latin typeface="Calibri"/>
              </a:rPr>
              <a:t>✓ coerente   ~ aviso (1 nível)   ✗ incoerente (≥2 níveis)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105156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09728"/>
            <a:ext cx="10607040" cy="8686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817CF0"/>
                </a:solidFill>
                <a:latin typeface="Calibri"/>
              </a:rPr>
              <a:t>SQLITE &amp; CURADORIA (RF07–RF12)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Calibri"/>
              </a:rPr>
              <a:t>Módulo 2 — Biblioteca de componentes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65392"/>
            <a:ext cx="960120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Endo-DSL · PESC/COPPE/UFRJ · Caio Azeredo ·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565392"/>
            <a:ext cx="73152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4F46E5"/>
                </a:solidFill>
                <a:latin typeface="Calibri"/>
              </a:rPr>
              <a:t>19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417320"/>
            <a:ext cx="676656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800" b="1">
                <a:solidFill>
                  <a:srgbClr val="4F46E5"/>
                </a:solidFill>
                <a:latin typeface="Calibri"/>
              </a:rPr>
              <a:t>▸  </a:t>
            </a:r>
            <a:r>
              <a:rPr sz="1800">
                <a:solidFill>
                  <a:srgbClr val="1E293B"/>
                </a:solidFill>
                <a:latin typeface="Calibri"/>
              </a:rPr>
              <a:t>Repositório de componentes pedagógicos reutilizáveis: mecânicas parametrizáveis indexadas por nível de Bloom, tipo e domínio.</a:t>
            </a:r>
          </a:p>
          <a:p>
            <a:pPr algn="l">
              <a:spcAft>
                <a:spcPts val="1200"/>
              </a:spcAft>
            </a:pPr>
            <a:r>
              <a:rPr sz="1800" b="1">
                <a:solidFill>
                  <a:srgbClr val="4F46E5"/>
                </a:solidFill>
                <a:latin typeface="Calibri"/>
              </a:rPr>
              <a:t>▸  </a:t>
            </a:r>
            <a:r>
              <a:rPr sz="1800">
                <a:solidFill>
                  <a:srgbClr val="1E293B"/>
                </a:solidFill>
                <a:latin typeface="Calibri"/>
              </a:rPr>
              <a:t>Persistência em SQLite (stdlib) — zero dependências externas obrigatórias.</a:t>
            </a:r>
          </a:p>
          <a:p>
            <a:pPr algn="l">
              <a:spcAft>
                <a:spcPts val="1200"/>
              </a:spcAft>
            </a:pPr>
            <a:r>
              <a:rPr sz="1800" b="1">
                <a:solidFill>
                  <a:srgbClr val="4F46E5"/>
                </a:solidFill>
                <a:latin typeface="Calibri"/>
              </a:rPr>
              <a:t>▸  </a:t>
            </a:r>
            <a:r>
              <a:rPr sz="1800">
                <a:solidFill>
                  <a:srgbClr val="1E293B"/>
                </a:solidFill>
                <a:latin typeface="Calibri"/>
              </a:rPr>
              <a:t>Status duplo: componentes canônicos (★, curados) e experimentais (○).</a:t>
            </a:r>
          </a:p>
          <a:p>
            <a:pPr algn="l">
              <a:spcAft>
                <a:spcPts val="1200"/>
              </a:spcAft>
            </a:pPr>
            <a:r>
              <a:rPr sz="1800" b="1">
                <a:solidFill>
                  <a:srgbClr val="4F46E5"/>
                </a:solidFill>
                <a:latin typeface="Calibri"/>
              </a:rPr>
              <a:t>▸  </a:t>
            </a:r>
            <a:r>
              <a:rPr sz="1800">
                <a:solidFill>
                  <a:srgbClr val="1E293B"/>
                </a:solidFill>
                <a:latin typeface="Calibri"/>
              </a:rPr>
              <a:t>Métricas por componente: instanciações e avaliação média realimentam a recuperação RAG.</a:t>
            </a:r>
          </a:p>
          <a:p>
            <a:pPr algn="l">
              <a:spcAft>
                <a:spcPts val="1200"/>
              </a:spcAft>
            </a:pPr>
            <a:r>
              <a:rPr sz="1800" b="1">
                <a:solidFill>
                  <a:srgbClr val="4F46E5"/>
                </a:solidFill>
                <a:latin typeface="Calibri"/>
              </a:rPr>
              <a:t>▸  </a:t>
            </a:r>
            <a:r>
              <a:rPr sz="1800">
                <a:solidFill>
                  <a:srgbClr val="1E293B"/>
                </a:solidFill>
                <a:latin typeface="Calibri"/>
              </a:rPr>
              <a:t>Jornada do curador: aprovar/rejeitar componentes experimentais com justificativa (RF12), promovendo a canônicos.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89520" y="1325880"/>
            <a:ext cx="4096512" cy="45720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  <a:effectLst>
            <a:outerShdw blurRad="60000" dist="25000" dir="5400000" rotWithShape="0">
              <a:srgbClr val="1E293B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589520" y="1325880"/>
            <a:ext cx="4096512" cy="54864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18120" y="1325880"/>
            <a:ext cx="3639312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Características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18120" y="2011680"/>
            <a:ext cx="3639312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>
                <a:solidFill>
                  <a:srgbClr val="F8FAFC"/>
                </a:solidFill>
                <a:latin typeface="Calibri"/>
              </a:rPr>
              <a:t>• Indexação por Bloom/tipo/domínio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F8FAFC"/>
                </a:solidFill>
                <a:latin typeface="Calibri"/>
              </a:rPr>
              <a:t>• SQLite (stdlib)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F8FAFC"/>
                </a:solidFill>
                <a:latin typeface="Calibri"/>
              </a:rPr>
              <a:t>• ★ canônico · ○ experimental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F8FAFC"/>
                </a:solidFill>
                <a:latin typeface="Calibri"/>
              </a:rPr>
              <a:t>• Métricas de uso e qualidade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F8FAFC"/>
                </a:solidFill>
                <a:latin typeface="Calibri"/>
              </a:rPr>
              <a:t>• Fila de curadoria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105156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09728"/>
            <a:ext cx="10607040" cy="8686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817CF0"/>
                </a:solidFill>
                <a:latin typeface="Calibri"/>
              </a:rPr>
              <a:t>RECUPERAR→GERAR→VALIDAR→REFINAR (RF13–RF18)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Calibri"/>
              </a:rPr>
              <a:t>Módulo 3 — Pipeline multi-agente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65392"/>
            <a:ext cx="960120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Endo-DSL · PESC/COPPE/UFRJ · Caio Azeredo ·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565392"/>
            <a:ext cx="73152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4F46E5"/>
                </a:solidFill>
                <a:latin typeface="Calibri"/>
              </a:rPr>
              <a:t>20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85216" y="1645920"/>
            <a:ext cx="2377440" cy="1554480"/>
          </a:xfrm>
          <a:prstGeom prst="roundRect">
            <a:avLst/>
          </a:prstGeom>
          <a:solidFill>
            <a:srgbClr val="0D9488"/>
          </a:solidFill>
          <a:ln>
            <a:noFill/>
          </a:ln>
          <a:effectLst/>
          <a:effectLst>
            <a:outerShdw blurRad="60000" dist="25000" dir="5400000" rotWithShape="0">
              <a:srgbClr val="1E293B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2376" y="1810512"/>
            <a:ext cx="2103120" cy="11887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1. Recuperar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E2E8F0"/>
                </a:solidFill>
                <a:latin typeface="Calibri"/>
              </a:rPr>
              <a:t>RAG: componentes
relevantes (RF14)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962656" y="2423160"/>
            <a:ext cx="502920" cy="0"/>
          </a:xfrm>
          <a:prstGeom prst="line">
            <a:avLst/>
          </a:prstGeom>
          <a:ln w="31750">
            <a:solidFill>
              <a:srgbClr val="1E293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465576" y="1645920"/>
            <a:ext cx="2377440" cy="1554480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  <a:effectLst>
            <a:outerShdw blurRad="60000" dist="25000" dir="5400000" rotWithShape="0">
              <a:srgbClr val="1E293B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02736" y="1810512"/>
            <a:ext cx="2103120" cy="11887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2. Gerar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E2E8F0"/>
                </a:solidFill>
                <a:latin typeface="Calibri"/>
              </a:rPr>
              <a:t>LLM produz DSL
ancorada (RF15)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843016" y="2423160"/>
            <a:ext cx="502920" cy="0"/>
          </a:xfrm>
          <a:prstGeom prst="line">
            <a:avLst/>
          </a:prstGeom>
          <a:ln w="31750">
            <a:solidFill>
              <a:srgbClr val="1E293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345936" y="1645920"/>
            <a:ext cx="2377440" cy="1554480"/>
          </a:xfrm>
          <a:prstGeom prst="roundRect">
            <a:avLst/>
          </a:prstGeom>
          <a:solidFill>
            <a:srgbClr val="CA8A04"/>
          </a:solidFill>
          <a:ln>
            <a:noFill/>
          </a:ln>
          <a:effectLst/>
          <a:effectLst>
            <a:outerShdw blurRad="60000" dist="25000" dir="5400000" rotWithShape="0">
              <a:srgbClr val="1E293B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83096" y="1810512"/>
            <a:ext cx="2103120" cy="11887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3. Validar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E2E8F0"/>
                </a:solidFill>
                <a:latin typeface="Calibri"/>
              </a:rPr>
              <a:t>sintaxe + semântica
Bloom (RF16)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723376" y="2423160"/>
            <a:ext cx="502920" cy="0"/>
          </a:xfrm>
          <a:prstGeom prst="line">
            <a:avLst/>
          </a:prstGeom>
          <a:ln w="31750">
            <a:solidFill>
              <a:srgbClr val="1E293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9226296" y="1645920"/>
            <a:ext cx="2377440" cy="1554480"/>
          </a:xfrm>
          <a:prstGeom prst="roundRect">
            <a:avLst/>
          </a:prstGeom>
          <a:solidFill>
            <a:srgbClr val="EA580C"/>
          </a:solidFill>
          <a:ln>
            <a:noFill/>
          </a:ln>
          <a:effectLst/>
          <a:effectLst>
            <a:outerShdw blurRad="60000" dist="25000" dir="5400000" rotWithShape="0">
              <a:srgbClr val="1E293B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63456" y="1810512"/>
            <a:ext cx="2103120" cy="11887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4. Refinar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E2E8F0"/>
                </a:solidFill>
                <a:latin typeface="Calibri"/>
              </a:rPr>
              <a:t>realimenta erros
(RF17/RF18)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0415016" y="3200400"/>
            <a:ext cx="0" cy="502920"/>
          </a:xfrm>
          <a:prstGeom prst="line">
            <a:avLst/>
          </a:prstGeom>
          <a:ln w="25400">
            <a:solidFill>
              <a:srgbClr val="DC262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>
            <a:off x="4654296" y="3703320"/>
            <a:ext cx="5760720" cy="0"/>
          </a:xfrm>
          <a:prstGeom prst="line">
            <a:avLst/>
          </a:prstGeom>
          <a:ln w="25400">
            <a:solidFill>
              <a:srgbClr val="DC262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4654296" y="3200400"/>
            <a:ext cx="0" cy="502920"/>
          </a:xfrm>
          <a:prstGeom prst="line">
            <a:avLst/>
          </a:prstGeom>
          <a:ln w="25400">
            <a:solidFill>
              <a:srgbClr val="DC262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3465576" y="3749040"/>
            <a:ext cx="81381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 i="1">
                <a:solidFill>
                  <a:srgbClr val="DC2626"/>
                </a:solidFill>
                <a:latin typeface="Calibri"/>
              </a:rPr>
              <a:t>ciclo de refinamento iterativo (até validar ou esgotar tentativas)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4526280"/>
            <a:ext cx="11183112" cy="118872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4617720"/>
            <a:ext cx="10451592" cy="10058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4F46E5"/>
                </a:solidFill>
                <a:latin typeface="Calibri"/>
              </a:rPr>
              <a:t>Métricas instrumentadas: </a:t>
            </a:r>
            <a:r>
              <a:rPr sz="1400" b="0" i="0">
                <a:solidFill>
                  <a:srgbClr val="1E293B"/>
                </a:solidFill>
                <a:latin typeface="Calibri"/>
              </a:rPr>
              <a:t>taxa de validade na 1ª tentativa, número médio de tentativas, taxa de rejeição e erros mais frequentes — registradas em generation_attempts.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105156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09728"/>
            <a:ext cx="10607040" cy="8686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817CF0"/>
                </a:solidFill>
                <a:latin typeface="Calibri"/>
              </a:rPr>
              <a:t>RF19–RF23 &amp; REPARAMETRIZAÇÃO (RF22)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Calibri"/>
              </a:rPr>
              <a:t>Módulo 4 — Compilador HTML5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65392"/>
            <a:ext cx="960120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Endo-DSL · PESC/COPPE/UFRJ · Caio Azeredo ·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565392"/>
            <a:ext cx="73152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4F46E5"/>
                </a:solidFill>
                <a:latin typeface="Calibri"/>
              </a:rPr>
              <a:t>21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417320"/>
            <a:ext cx="676656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800" b="1">
                <a:solidFill>
                  <a:srgbClr val="4F46E5"/>
                </a:solidFill>
                <a:latin typeface="Calibri"/>
              </a:rPr>
              <a:t>▸  </a:t>
            </a:r>
            <a:r>
              <a:rPr sz="1800">
                <a:solidFill>
                  <a:srgbClr val="1E293B"/>
                </a:solidFill>
                <a:latin typeface="Calibri"/>
              </a:rPr>
              <a:t>Compila a especificação DSL em um jogo HTML5 autocontido — zero dependências externas em runtime (HTML+CSS+JS embutidos).</a:t>
            </a:r>
          </a:p>
          <a:p>
            <a:pPr algn="l">
              <a:spcAft>
                <a:spcPts val="1200"/>
              </a:spcAft>
            </a:pPr>
            <a:r>
              <a:rPr sz="1800" b="1">
                <a:solidFill>
                  <a:srgbClr val="4F46E5"/>
                </a:solidFill>
                <a:latin typeface="Calibri"/>
              </a:rPr>
              <a:t>▸  </a:t>
            </a:r>
            <a:r>
              <a:rPr sz="1800">
                <a:solidFill>
                  <a:srgbClr val="1E293B"/>
                </a:solidFill>
                <a:latin typeface="Calibri"/>
              </a:rPr>
              <a:t>Cada mecânica da DSL mapeia para um gerador de mecânica de jogo (quiz, classificação, sequenciamento, comparação…).</a:t>
            </a:r>
          </a:p>
          <a:p>
            <a:pPr algn="l">
              <a:spcAft>
                <a:spcPts val="1200"/>
              </a:spcAft>
            </a:pPr>
            <a:r>
              <a:rPr sz="1800" b="1">
                <a:solidFill>
                  <a:srgbClr val="4F46E5"/>
                </a:solidFill>
                <a:latin typeface="Calibri"/>
              </a:rPr>
              <a:t>▸  </a:t>
            </a:r>
            <a:r>
              <a:rPr sz="1800">
                <a:solidFill>
                  <a:srgbClr val="1E293B"/>
                </a:solidFill>
                <a:latin typeface="Calibri"/>
              </a:rPr>
              <a:t>Gera artefato de rastreabilidade pedagógica: do objetivo ao componente executável (/prototype/&lt;pid&gt;/traceability).</a:t>
            </a:r>
          </a:p>
          <a:p>
            <a:pPr algn="l">
              <a:spcAft>
                <a:spcPts val="1200"/>
              </a:spcAft>
            </a:pPr>
            <a:r>
              <a:rPr sz="1800" b="1">
                <a:solidFill>
                  <a:srgbClr val="4F46E5"/>
                </a:solidFill>
                <a:latin typeface="Calibri"/>
              </a:rPr>
              <a:t>▸  </a:t>
            </a:r>
            <a:r>
              <a:rPr sz="1800">
                <a:solidFill>
                  <a:srgbClr val="1E293B"/>
                </a:solidFill>
                <a:latin typeface="Calibri"/>
              </a:rPr>
              <a:t>Reparametrização de domínio (RF22): troca o domínio/tópico de um protótipo existente SEM recompilar — evidência de endogeneidade estrutural.</a:t>
            </a:r>
          </a:p>
          <a:p>
            <a:pPr algn="l">
              <a:spcAft>
                <a:spcPts val="1200"/>
              </a:spcAft>
            </a:pPr>
            <a:r>
              <a:rPr sz="1800" b="1">
                <a:solidFill>
                  <a:srgbClr val="4F46E5"/>
                </a:solidFill>
                <a:latin typeface="Calibri"/>
              </a:rPr>
              <a:t>▸  </a:t>
            </a:r>
            <a:r>
              <a:rPr sz="1800">
                <a:solidFill>
                  <a:srgbClr val="1E293B"/>
                </a:solidFill>
                <a:latin typeface="Calibri"/>
              </a:rPr>
              <a:t>Saída executável em qualquer navegador, distribuível como arquivo único.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89520" y="1325880"/>
            <a:ext cx="4096512" cy="45720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  <a:effectLst>
            <a:outerShdw blurRad="60000" dist="25000" dir="5400000" rotWithShape="0">
              <a:srgbClr val="1E293B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589520" y="1325880"/>
            <a:ext cx="4096512" cy="54864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18120" y="1325880"/>
            <a:ext cx="3639312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Capacidades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18120" y="2011680"/>
            <a:ext cx="3639312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>
                <a:solidFill>
                  <a:srgbClr val="F8FAFC"/>
                </a:solidFill>
                <a:latin typeface="Calibri"/>
              </a:rPr>
              <a:t>• HTML5 autocontido (offline)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F8FAFC"/>
                </a:solidFill>
                <a:latin typeface="Calibri"/>
              </a:rPr>
              <a:t>• Mecânica DSL → mecânica jogo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F8FAFC"/>
                </a:solidFill>
                <a:latin typeface="Calibri"/>
              </a:rPr>
              <a:t>• Rastreabilidade pedagógica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F8FAFC"/>
                </a:solidFill>
                <a:latin typeface="Calibri"/>
              </a:rPr>
              <a:t>• Reparametrização sem recompilar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F8FAFC"/>
                </a:solidFill>
                <a:latin typeface="Calibri"/>
              </a:rPr>
              <a:t>• Distribuível como 1 arquivo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105156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09728"/>
            <a:ext cx="10607040" cy="8686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817CF0"/>
                </a:solidFill>
                <a:latin typeface="Calibri"/>
              </a:rPr>
              <a:t>INSTRUMENTO LIKERT DE 7 DIMENSÕES (RF24–RF26)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Calibri"/>
              </a:rPr>
              <a:t>Módulo 5 — Avaliação pedagógica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65392"/>
            <a:ext cx="960120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Endo-DSL · PESC/COPPE/UFRJ · Caio Azeredo ·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565392"/>
            <a:ext cx="73152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4F46E5"/>
                </a:solidFill>
                <a:latin typeface="Calibri"/>
              </a:rPr>
              <a:t>22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325880"/>
            <a:ext cx="5440680" cy="603504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325880"/>
            <a:ext cx="91440" cy="603504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166360" y="1444752"/>
            <a:ext cx="640080" cy="36576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12700" bIns="1270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w 1,3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" y="1362456"/>
            <a:ext cx="4343400" cy="53035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400" b="1" i="0">
                <a:solidFill>
                  <a:srgbClr val="1E293B"/>
                </a:solidFill>
                <a:latin typeface="Calibri"/>
              </a:rPr>
              <a:t>D1. Alinhamento pedagógico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64748B"/>
                </a:solidFill>
                <a:latin typeface="Calibri"/>
              </a:rPr>
              <a:t>Mecânicas implementam os objetivos?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45352" y="1325880"/>
            <a:ext cx="5440680" cy="603504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45352" y="1325880"/>
            <a:ext cx="91440" cy="603504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0908792" y="1444752"/>
            <a:ext cx="640080" cy="36576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12700" bIns="1270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w 1,2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01384" y="1362456"/>
            <a:ext cx="4343400" cy="53035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400" b="1" i="0">
                <a:solidFill>
                  <a:srgbClr val="1E293B"/>
                </a:solidFill>
                <a:latin typeface="Calibri"/>
              </a:rPr>
              <a:t>D2. Coerência cognitiva (Bloom)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64748B"/>
                </a:solidFill>
                <a:latin typeface="Calibri"/>
              </a:rPr>
              <a:t>Nível exercitado = nível pretendido?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2057400"/>
            <a:ext cx="5440680" cy="603504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" y="2057400"/>
            <a:ext cx="91440" cy="603504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166360" y="2176272"/>
            <a:ext cx="640080" cy="36576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12700" bIns="1270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w 1,3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52" y="2093976"/>
            <a:ext cx="4343400" cy="53035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400" b="1" i="0">
                <a:solidFill>
                  <a:srgbClr val="1E293B"/>
                </a:solidFill>
                <a:latin typeface="Calibri"/>
              </a:rPr>
              <a:t>D3. Endogeneidade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64748B"/>
                </a:solidFill>
                <a:latin typeface="Calibri"/>
              </a:rPr>
              <a:t>Aprender é jogar (não justaposto)?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5352" y="2057400"/>
            <a:ext cx="5440680" cy="603504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45352" y="2057400"/>
            <a:ext cx="91440" cy="603504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0908792" y="2176272"/>
            <a:ext cx="640080" cy="36576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12700" bIns="1270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w 1,0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01384" y="2093976"/>
            <a:ext cx="4343400" cy="53035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400" b="1" i="0">
                <a:solidFill>
                  <a:srgbClr val="1E293B"/>
                </a:solidFill>
                <a:latin typeface="Calibri"/>
              </a:rPr>
              <a:t>D4. Clareza instrucional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64748B"/>
                </a:solidFill>
                <a:latin typeface="Calibri"/>
              </a:rPr>
              <a:t>Instruções e desafios claros?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2788920"/>
            <a:ext cx="5440680" cy="603504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02920" y="2788920"/>
            <a:ext cx="91440" cy="603504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166360" y="2907792"/>
            <a:ext cx="640080" cy="36576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12700" bIns="1270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w 1,0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952" y="2825496"/>
            <a:ext cx="4343400" cy="53035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400" b="1" i="0">
                <a:solidFill>
                  <a:srgbClr val="1E293B"/>
                </a:solidFill>
                <a:latin typeface="Calibri"/>
              </a:rPr>
              <a:t>D5. Adequação ao público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64748B"/>
                </a:solidFill>
                <a:latin typeface="Calibri"/>
              </a:rPr>
              <a:t>Adequado à faixa etária/contexto?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45352" y="2788920"/>
            <a:ext cx="5440680" cy="603504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45352" y="2788920"/>
            <a:ext cx="91440" cy="603504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10908792" y="2907792"/>
            <a:ext cx="640080" cy="36576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12700" bIns="1270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w 1,0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01384" y="2825496"/>
            <a:ext cx="4343400" cy="53035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400" b="1" i="0">
                <a:solidFill>
                  <a:srgbClr val="1E293B"/>
                </a:solidFill>
                <a:latin typeface="Calibri"/>
              </a:rPr>
              <a:t>D6. Potencial de engajamento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64748B"/>
                </a:solidFill>
                <a:latin typeface="Calibri"/>
              </a:rPr>
              <a:t>Mantém o interesse do aprendiz?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02920" y="3520440"/>
            <a:ext cx="5440680" cy="603504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02920" y="3520440"/>
            <a:ext cx="91440" cy="603504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5166360" y="3639312"/>
            <a:ext cx="640080" cy="36576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12700" bIns="1270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w 0,8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8952" y="3557016"/>
            <a:ext cx="4343400" cy="53035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400" b="1" i="0">
                <a:solidFill>
                  <a:srgbClr val="1E293B"/>
                </a:solidFill>
                <a:latin typeface="Calibri"/>
              </a:rPr>
              <a:t>D7. Adaptabilidade de conteúdo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64748B"/>
                </a:solidFill>
                <a:latin typeface="Calibri"/>
              </a:rPr>
              <a:t>Reparametrizável p/ outros domínios?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02920" y="4297680"/>
            <a:ext cx="11183112" cy="6858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68680" y="4297680"/>
            <a:ext cx="10451592" cy="6858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Escala Likert 1–5 por dimensão · pesos dialogam com MEEGA+ · MESMO instrumento para protótipos automáticos e manuais (RF26 → QP4).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105156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09728"/>
            <a:ext cx="10607040" cy="8686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817CF0"/>
                </a:solidFill>
                <a:latin typeface="Calibri"/>
              </a:rPr>
              <a:t>FLUXO DO STUDIO — FASES 1 A 7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Calibri"/>
              </a:rPr>
              <a:t>Jornada do usuário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65392"/>
            <a:ext cx="960120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Endo-DSL · PESC/COPPE/UFRJ · Caio Azeredo ·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565392"/>
            <a:ext cx="73152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4F46E5"/>
                </a:solidFill>
                <a:latin typeface="Calibri"/>
              </a:rPr>
              <a:t>23</a:t>
            </a:r>
          </a:p>
        </p:txBody>
      </p:sp>
      <p:sp>
        <p:nvSpPr>
          <p:cNvPr id="10" name="Oval 9"/>
          <p:cNvSpPr/>
          <p:nvPr/>
        </p:nvSpPr>
        <p:spPr>
          <a:xfrm>
            <a:off x="800100" y="1965960"/>
            <a:ext cx="822960" cy="822960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880360"/>
            <a:ext cx="16916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E293B"/>
                </a:solidFill>
                <a:latin typeface="Calibri"/>
              </a:rPr>
              <a:t>Contexto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64748B"/>
                </a:solidFill>
                <a:latin typeface="Calibri"/>
              </a:rPr>
              <a:t>domínio, Bloom,
faixa, duração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623060" y="2377440"/>
            <a:ext cx="804672" cy="0"/>
          </a:xfrm>
          <a:prstGeom prst="line">
            <a:avLst/>
          </a:prstGeom>
          <a:ln w="25400">
            <a:solidFill>
              <a:srgbClr val="817CF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2427732" y="1965960"/>
            <a:ext cx="822960" cy="822960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93392" y="2880360"/>
            <a:ext cx="16916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E293B"/>
                </a:solidFill>
                <a:latin typeface="Calibri"/>
              </a:rPr>
              <a:t>Recuperação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64748B"/>
                </a:solidFill>
                <a:latin typeface="Calibri"/>
              </a:rPr>
              <a:t>componentes
via RAG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250692" y="2377440"/>
            <a:ext cx="804672" cy="0"/>
          </a:xfrm>
          <a:prstGeom prst="line">
            <a:avLst/>
          </a:prstGeom>
          <a:ln w="25400">
            <a:solidFill>
              <a:srgbClr val="817CF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4055364" y="1965960"/>
            <a:ext cx="822960" cy="822960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21024" y="2880360"/>
            <a:ext cx="16916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E293B"/>
                </a:solidFill>
                <a:latin typeface="Calibri"/>
              </a:rPr>
              <a:t>Geração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64748B"/>
                </a:solidFill>
                <a:latin typeface="Calibri"/>
              </a:rPr>
              <a:t>DSL a partir do
contexto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878324" y="2377440"/>
            <a:ext cx="804672" cy="0"/>
          </a:xfrm>
          <a:prstGeom prst="line">
            <a:avLst/>
          </a:prstGeom>
          <a:ln w="25400">
            <a:solidFill>
              <a:srgbClr val="817CF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5682996" y="1965960"/>
            <a:ext cx="822960" cy="822960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48656" y="2880360"/>
            <a:ext cx="16916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E293B"/>
                </a:solidFill>
                <a:latin typeface="Calibri"/>
              </a:rPr>
              <a:t>Revisão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64748B"/>
                </a:solidFill>
                <a:latin typeface="Calibri"/>
              </a:rPr>
              <a:t>edição com
validação ao vivo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505956" y="2377440"/>
            <a:ext cx="804672" cy="0"/>
          </a:xfrm>
          <a:prstGeom prst="line">
            <a:avLst/>
          </a:prstGeom>
          <a:ln w="25400">
            <a:solidFill>
              <a:srgbClr val="817CF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7310628" y="1965960"/>
            <a:ext cx="822960" cy="822960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6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76288" y="2880360"/>
            <a:ext cx="16916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E293B"/>
                </a:solidFill>
                <a:latin typeface="Calibri"/>
              </a:rPr>
              <a:t>Compilação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64748B"/>
                </a:solidFill>
                <a:latin typeface="Calibri"/>
              </a:rPr>
              <a:t>protótipo HTML5
+ métricas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133588" y="2377440"/>
            <a:ext cx="804672" cy="0"/>
          </a:xfrm>
          <a:prstGeom prst="line">
            <a:avLst/>
          </a:prstGeom>
          <a:ln w="25400">
            <a:solidFill>
              <a:srgbClr val="817CF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8938260" y="1965960"/>
            <a:ext cx="822960" cy="822960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6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3920" y="2880360"/>
            <a:ext cx="16916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E293B"/>
                </a:solidFill>
                <a:latin typeface="Calibri"/>
              </a:rPr>
              <a:t>Avaliação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64748B"/>
                </a:solidFill>
                <a:latin typeface="Calibri"/>
              </a:rPr>
              <a:t>instrumento
7-D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9761220" y="2377440"/>
            <a:ext cx="804672" cy="0"/>
          </a:xfrm>
          <a:prstGeom prst="line">
            <a:avLst/>
          </a:prstGeom>
          <a:ln w="25400">
            <a:solidFill>
              <a:srgbClr val="817CF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Oval 27"/>
          <p:cNvSpPr/>
          <p:nvPr/>
        </p:nvSpPr>
        <p:spPr>
          <a:xfrm>
            <a:off x="10565892" y="1965960"/>
            <a:ext cx="822960" cy="82296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6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131552" y="2880360"/>
            <a:ext cx="16916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E293B"/>
                </a:solidFill>
                <a:latin typeface="Calibri"/>
              </a:rPr>
              <a:t>Curadoria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64748B"/>
                </a:solidFill>
                <a:latin typeface="Calibri"/>
              </a:rPr>
              <a:t>promoção de
componentes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2920" y="4617720"/>
            <a:ext cx="11183112" cy="100584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8680" y="4709160"/>
            <a:ext cx="10451592" cy="8229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1E293B"/>
                </a:solidFill>
                <a:latin typeface="Calibri"/>
              </a:rPr>
              <a:t>As Fases 1–6 percorrem o Studio (interface tipo-Overleaf); a Fase 7 corresponde à jornada do curador, que governa a evolução da biblioteca.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105156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09728"/>
            <a:ext cx="10607040" cy="8686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817CF0"/>
                </a:solidFill>
                <a:latin typeface="Calibri"/>
              </a:rPr>
              <a:t>EDITOR DIVIDIDO + LIVE PREVIEW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Calibri"/>
              </a:rPr>
              <a:t>Interface tipo-Overleaf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65392"/>
            <a:ext cx="960120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Endo-DSL · PESC/COPPE/UFRJ · Caio Azeredo ·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565392"/>
            <a:ext cx="73152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4F46E5"/>
                </a:solidFill>
                <a:latin typeface="Calibri"/>
              </a:rPr>
              <a:t>24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325880"/>
            <a:ext cx="5408676" cy="3931920"/>
          </a:xfrm>
          <a:prstGeom prst="roundRect">
            <a:avLst/>
          </a:prstGeom>
          <a:solidFill>
            <a:srgbClr val="0F172A"/>
          </a:solidFill>
          <a:ln>
            <a:noFill/>
          </a:ln>
          <a:effectLst/>
          <a:effectLst>
            <a:outerShdw blurRad="60000" dist="25000" dir="5400000" rotWithShape="0">
              <a:srgbClr val="1E293B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325880"/>
            <a:ext cx="5408676" cy="41148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1325880"/>
            <a:ext cx="4951476" cy="4114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817CF0"/>
                </a:solidFill>
                <a:latin typeface="Calibri"/>
              </a:rPr>
              <a:t>◳  Editor DSL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1874520"/>
            <a:ext cx="4951476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>
                <a:solidFill>
                  <a:srgbClr val="93C5FD"/>
                </a:solidFill>
                <a:latin typeface="Consolas"/>
              </a:rPr>
              <a:t>game "Comparando Frações" {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6EE7B7"/>
                </a:solidFill>
                <a:latin typeface="Consolas"/>
              </a:rPr>
              <a:t>  metadata { bloom: Analisar }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E2E8F0"/>
                </a:solidFill>
                <a:latin typeface="Consolas"/>
              </a:rPr>
              <a:t>  mechanic comparacao {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E2E8F0"/>
                </a:solidFill>
                <a:latin typeface="Consolas"/>
              </a:rPr>
              <a:t>    type: classification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6EE7B7"/>
                </a:solidFill>
                <a:latin typeface="Consolas"/>
              </a:rPr>
              <a:t>    bloom: Analisar }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93C5FD"/>
                </a:solidFill>
                <a:latin typeface="Consolas"/>
              </a:rPr>
              <a:t>}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77356" y="1325880"/>
            <a:ext cx="5408676" cy="3931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  <a:effectLst/>
          <a:effectLst>
            <a:outerShdw blurRad="60000" dist="25000" dir="5400000" rotWithShape="0">
              <a:srgbClr val="1E293B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77356" y="1325880"/>
            <a:ext cx="5408676" cy="41148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05956" y="1325880"/>
            <a:ext cx="4951476" cy="4114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▶  Live preview (protótipo HTML5)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43116" y="2011680"/>
            <a:ext cx="4677156" cy="64008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43116" y="2011680"/>
            <a:ext cx="4677156" cy="6400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E293B"/>
                </a:solidFill>
                <a:latin typeface="Calibri"/>
              </a:rPr>
              <a:t>Qual é maior?   3/4  vs  2/3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643116" y="2834640"/>
            <a:ext cx="1371600" cy="457200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12700" bIns="1270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3/4 maior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51876" y="2834640"/>
            <a:ext cx="1371600" cy="457200"/>
          </a:xfrm>
          <a:prstGeom prst="round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12700" bIns="1270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2/3 maior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60636" y="2834640"/>
            <a:ext cx="1371600" cy="457200"/>
          </a:xfrm>
          <a:prstGeom prst="round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12700" bIns="1270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iguais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43116" y="3520440"/>
            <a:ext cx="4677156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250" b="1">
                <a:solidFill>
                  <a:srgbClr val="4F46E5"/>
                </a:solidFill>
                <a:latin typeface="Calibri"/>
              </a:rPr>
              <a:t>▸  </a:t>
            </a:r>
            <a:r>
              <a:rPr sz="1250">
                <a:solidFill>
                  <a:srgbClr val="1E293B"/>
                </a:solidFill>
                <a:latin typeface="Calibri"/>
              </a:rPr>
              <a:t>Validação ao vivo (linha/coluna).</a:t>
            </a:r>
          </a:p>
          <a:p>
            <a:pPr algn="l">
              <a:spcAft>
                <a:spcPts val="700"/>
              </a:spcAft>
            </a:pPr>
            <a:r>
              <a:rPr sz="1250" b="1">
                <a:solidFill>
                  <a:srgbClr val="4F46E5"/>
                </a:solidFill>
                <a:latin typeface="Calibri"/>
              </a:rPr>
              <a:t>▸  </a:t>
            </a:r>
            <a:r>
              <a:rPr sz="1250">
                <a:solidFill>
                  <a:srgbClr val="1E293B"/>
                </a:solidFill>
                <a:latin typeface="Calibri"/>
              </a:rPr>
              <a:t>Recompila a cada alteração.</a:t>
            </a:r>
          </a:p>
          <a:p>
            <a:pPr algn="l">
              <a:spcAft>
                <a:spcPts val="700"/>
              </a:spcAft>
            </a:pPr>
            <a:r>
              <a:rPr sz="1250" b="1">
                <a:solidFill>
                  <a:srgbClr val="4F46E5"/>
                </a:solidFill>
                <a:latin typeface="Calibri"/>
              </a:rPr>
              <a:t>▸  </a:t>
            </a:r>
            <a:r>
              <a:rPr sz="1250">
                <a:solidFill>
                  <a:srgbClr val="1E293B"/>
                </a:solidFill>
                <a:latin typeface="Calibri"/>
              </a:rPr>
              <a:t>Sem instalar nada: roda no navegador.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5440680"/>
            <a:ext cx="111831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4F46E5"/>
                </a:solidFill>
                <a:latin typeface="Calibri"/>
              </a:rPr>
              <a:t>▸  </a:t>
            </a:r>
            <a:r>
              <a:rPr sz="1400">
                <a:solidFill>
                  <a:srgbClr val="1E293B"/>
                </a:solidFill>
                <a:latin typeface="Calibri"/>
              </a:rPr>
              <a:t>Metáfora familiar (Overleaf/LaTeX): código formal à esquerda, artefato renderizado à direita — baixa curva para o educador.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105156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09728"/>
            <a:ext cx="10607040" cy="8686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817CF0"/>
                </a:solidFill>
                <a:latin typeface="Calibri"/>
              </a:rPr>
              <a:t>BLOOM: ANALISAR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Calibri"/>
              </a:rPr>
              <a:t>Estudo de caso — “Comparando Frações”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65392"/>
            <a:ext cx="960120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Endo-DSL · PESC/COPPE/UFRJ · Caio Azeredo ·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565392"/>
            <a:ext cx="73152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4F46E5"/>
                </a:solidFill>
                <a:latin typeface="Calibri"/>
              </a:rPr>
              <a:t>25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325880"/>
            <a:ext cx="2103120" cy="82296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325880"/>
            <a:ext cx="2103120" cy="27432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325880"/>
            <a:ext cx="210312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Domínio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1618488"/>
            <a:ext cx="2103120" cy="5029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1E293B"/>
                </a:solidFill>
                <a:latin typeface="Calibri"/>
              </a:rPr>
              <a:t>Matemática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697480" y="1325880"/>
            <a:ext cx="2103120" cy="82296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697480" y="1325880"/>
            <a:ext cx="2103120" cy="27432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697480" y="1325880"/>
            <a:ext cx="210312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Tópico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1618488"/>
            <a:ext cx="2103120" cy="5029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1E293B"/>
                </a:solidFill>
                <a:latin typeface="Calibri"/>
              </a:rPr>
              <a:t>Frações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892040" y="1325880"/>
            <a:ext cx="2103120" cy="82296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892040" y="1325880"/>
            <a:ext cx="2103120" cy="27432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92040" y="1325880"/>
            <a:ext cx="210312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Bloom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92040" y="1618488"/>
            <a:ext cx="2103120" cy="5029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1E293B"/>
                </a:solidFill>
                <a:latin typeface="Calibri"/>
              </a:rPr>
              <a:t>Analisar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086600" y="1325880"/>
            <a:ext cx="2103120" cy="82296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086600" y="1325880"/>
            <a:ext cx="2103120" cy="27432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086600" y="1325880"/>
            <a:ext cx="210312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Faixa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86600" y="1618488"/>
            <a:ext cx="2103120" cy="5029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1E293B"/>
                </a:solidFill>
                <a:latin typeface="Calibri"/>
              </a:rPr>
              <a:t>10–11 anos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281160" y="1325880"/>
            <a:ext cx="2103120" cy="82296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281160" y="1325880"/>
            <a:ext cx="2103120" cy="27432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81160" y="1325880"/>
            <a:ext cx="210312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Duração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81160" y="1618488"/>
            <a:ext cx="2103120" cy="5029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1E293B"/>
                </a:solidFill>
                <a:latin typeface="Calibri"/>
              </a:rPr>
              <a:t>15 min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2920" y="2514600"/>
            <a:ext cx="3566160" cy="1005840"/>
          </a:xfrm>
          <a:prstGeom prst="roundRect">
            <a:avLst/>
          </a:prstGeom>
          <a:solidFill>
            <a:srgbClr val="CA8A04"/>
          </a:solidFill>
          <a:ln>
            <a:noFill/>
          </a:ln>
          <a:effectLst/>
          <a:effectLst>
            <a:outerShdw blurRad="60000" dist="25000" dir="5400000" rotWithShape="0">
              <a:srgbClr val="1E293B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" y="2514600"/>
            <a:ext cx="3200400" cy="10058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OBJETIVO obj_comparar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Comparar frações com denom.
diferentes (Analisar)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4069080" y="3017520"/>
            <a:ext cx="548640" cy="0"/>
          </a:xfrm>
          <a:prstGeom prst="line">
            <a:avLst/>
          </a:prstGeom>
          <a:ln w="28575">
            <a:solidFill>
              <a:srgbClr val="4F46E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4617720" y="2514600"/>
            <a:ext cx="3566160" cy="1005840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  <a:effectLst>
            <a:outerShdw blurRad="60000" dist="25000" dir="5400000" rotWithShape="0">
              <a:srgbClr val="1E293B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800600" y="2514600"/>
            <a:ext cx="3200400" cy="10058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MECÂNICA comparacao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FFFFFF"/>
                </a:solidFill>
                <a:latin typeface="Calibri"/>
              </a:rPr>
              <a:t>classification · Analisar
classifica pares: maior/menor/igual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8183880" y="3017520"/>
            <a:ext cx="548640" cy="0"/>
          </a:xfrm>
          <a:prstGeom prst="line">
            <a:avLst/>
          </a:prstGeom>
          <a:ln w="28575">
            <a:solidFill>
              <a:srgbClr val="4F46E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8732520" y="2514600"/>
            <a:ext cx="2926080" cy="100584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  <a:effectLst>
            <a:outerShdw blurRad="60000" dist="25000" dir="5400000" rotWithShape="0">
              <a:srgbClr val="1E293B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915400" y="2514600"/>
            <a:ext cx="2651760" cy="10058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MECÂNICA revisao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FFFFFF"/>
                </a:solidFill>
                <a:latin typeface="Calibri"/>
              </a:rPr>
              <a:t>quiz · Lembrar
fixação dos conceitos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02920" y="3794760"/>
            <a:ext cx="11183112" cy="777240"/>
          </a:xfrm>
          <a:prstGeom prst="round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77240" y="3794760"/>
            <a:ext cx="10634472" cy="7772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LOOP principal (Analisar):  comparacao → revisao → comparacao  — classificar e revisar até consolidar.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" y="4754880"/>
            <a:ext cx="1118311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</a:pPr>
            <a:r>
              <a:rPr sz="1400" b="1">
                <a:solidFill>
                  <a:srgbClr val="4F46E5"/>
                </a:solidFill>
                <a:latin typeface="Calibri"/>
              </a:rPr>
              <a:t>▸  </a:t>
            </a:r>
            <a:r>
              <a:rPr sz="1400">
                <a:solidFill>
                  <a:srgbClr val="1E293B"/>
                </a:solidFill>
                <a:latin typeface="Calibri"/>
              </a:rPr>
              <a:t>Endogeneidade: vencer EXIGE comparar frações — a habilidade-alvo é a mecânica.</a:t>
            </a:r>
          </a:p>
          <a:p>
            <a:pPr algn="l">
              <a:spcAft>
                <a:spcPts val="900"/>
              </a:spcAft>
            </a:pPr>
            <a:r>
              <a:rPr sz="1400" b="1">
                <a:solidFill>
                  <a:srgbClr val="4F46E5"/>
                </a:solidFill>
                <a:latin typeface="Calibri"/>
              </a:rPr>
              <a:t>▸  </a:t>
            </a:r>
            <a:r>
              <a:rPr sz="1400">
                <a:solidFill>
                  <a:srgbClr val="1E293B"/>
                </a:solidFill>
                <a:latin typeface="Calibri"/>
              </a:rPr>
              <a:t>Validação semântica: mecânica 'comparacao' (Analisar) coerente com o objetivo (Analisar).</a:t>
            </a:r>
          </a:p>
          <a:p>
            <a:pPr algn="l">
              <a:spcAft>
                <a:spcPts val="900"/>
              </a:spcAft>
            </a:pPr>
            <a:r>
              <a:rPr sz="1400" b="1">
                <a:solidFill>
                  <a:srgbClr val="4F46E5"/>
                </a:solidFill>
                <a:latin typeface="Calibri"/>
              </a:rPr>
              <a:t>▸  </a:t>
            </a:r>
            <a:r>
              <a:rPr sz="1400">
                <a:solidFill>
                  <a:srgbClr val="1E293B"/>
                </a:solidFill>
                <a:latin typeface="Calibri"/>
              </a:rPr>
              <a:t>Compila para HTML5 autocontido; reparametrizável p/ 'comparar ângulos', etc.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105156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09728"/>
            <a:ext cx="10607040" cy="8686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817CF0"/>
                </a:solidFill>
                <a:latin typeface="Calibri"/>
              </a:rPr>
              <a:t>CICLOS DE RELEVÂNCIA, PROJETO E RIGOR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Calibri"/>
              </a:rPr>
              <a:t>Metodologia — Design Science Research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65392"/>
            <a:ext cx="960120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Endo-DSL · PESC/COPPE/UFRJ · Caio Azeredo ·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565392"/>
            <a:ext cx="73152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4F46E5"/>
                </a:solidFill>
                <a:latin typeface="Calibri"/>
              </a:rPr>
              <a:t>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325880"/>
            <a:ext cx="3520440" cy="40233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E293B"/>
            </a:solidFill>
          </a:ln>
          <a:effectLst/>
          <a:effectLst>
            <a:outerShdw blurRad="60000" dist="25000" dir="5400000" rotWithShape="0">
              <a:srgbClr val="1E293B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325880"/>
            <a:ext cx="3520440" cy="86868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1417320"/>
            <a:ext cx="3063240" cy="7315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CICLO DE RELEVÂNCIA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Ambiente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423160"/>
            <a:ext cx="30632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400" b="1">
                <a:solidFill>
                  <a:srgbClr val="1E293B"/>
                </a:solidFill>
                <a:latin typeface="Calibri"/>
              </a:rPr>
              <a:t>▸  </a:t>
            </a:r>
            <a:r>
              <a:rPr sz="1400">
                <a:solidFill>
                  <a:srgbClr val="1E293B"/>
                </a:solidFill>
                <a:latin typeface="Calibri"/>
              </a:rPr>
              <a:t>Educadores não-programadores</a:t>
            </a:r>
          </a:p>
          <a:p>
            <a:pPr algn="l">
              <a:spcAft>
                <a:spcPts val="1200"/>
              </a:spcAft>
            </a:pPr>
            <a:r>
              <a:rPr sz="1400" b="1">
                <a:solidFill>
                  <a:srgbClr val="1E293B"/>
                </a:solidFill>
                <a:latin typeface="Calibri"/>
              </a:rPr>
              <a:t>▸  </a:t>
            </a:r>
            <a:r>
              <a:rPr sz="1400">
                <a:solidFill>
                  <a:srgbClr val="1E293B"/>
                </a:solidFill>
                <a:latin typeface="Calibri"/>
              </a:rPr>
              <a:t>Necessidade de jogos alinhados</a:t>
            </a:r>
          </a:p>
          <a:p>
            <a:pPr algn="l">
              <a:spcAft>
                <a:spcPts val="1200"/>
              </a:spcAft>
            </a:pPr>
            <a:r>
              <a:rPr sz="1400" b="1">
                <a:solidFill>
                  <a:srgbClr val="1E293B"/>
                </a:solidFill>
                <a:latin typeface="Calibri"/>
              </a:rPr>
              <a:t>▸  </a:t>
            </a:r>
            <a:r>
              <a:rPr sz="1400">
                <a:solidFill>
                  <a:srgbClr val="1E293B"/>
                </a:solidFill>
                <a:latin typeface="Calibri"/>
              </a:rPr>
              <a:t>Requisitos do domínio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023360" y="3337560"/>
            <a:ext cx="310896" cy="0"/>
          </a:xfrm>
          <a:prstGeom prst="line">
            <a:avLst/>
          </a:prstGeom>
          <a:ln w="28575">
            <a:solidFill>
              <a:srgbClr val="64748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334256" y="1325880"/>
            <a:ext cx="3520440" cy="40233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4F46E5"/>
            </a:solidFill>
          </a:ln>
          <a:effectLst/>
          <a:effectLst>
            <a:outerShdw blurRad="60000" dist="25000" dir="5400000" rotWithShape="0">
              <a:srgbClr val="1E293B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34256" y="1325880"/>
            <a:ext cx="3520440" cy="86868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62856" y="1417320"/>
            <a:ext cx="3063240" cy="7315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CICLO DE PROJETO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Construção &amp; avaliação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62856" y="2423160"/>
            <a:ext cx="30632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400" b="1">
                <a:solidFill>
                  <a:srgbClr val="4F46E5"/>
                </a:solidFill>
                <a:latin typeface="Calibri"/>
              </a:rPr>
              <a:t>▸  </a:t>
            </a:r>
            <a:r>
              <a:rPr sz="1400">
                <a:solidFill>
                  <a:srgbClr val="1E293B"/>
                </a:solidFill>
                <a:latin typeface="Calibri"/>
              </a:rPr>
              <a:t>DSL + parser + validação</a:t>
            </a:r>
          </a:p>
          <a:p>
            <a:pPr algn="l">
              <a:spcAft>
                <a:spcPts val="1200"/>
              </a:spcAft>
            </a:pPr>
            <a:r>
              <a:rPr sz="1400" b="1">
                <a:solidFill>
                  <a:srgbClr val="4F46E5"/>
                </a:solidFill>
                <a:latin typeface="Calibri"/>
              </a:rPr>
              <a:t>▸  </a:t>
            </a:r>
            <a:r>
              <a:rPr sz="1400">
                <a:solidFill>
                  <a:srgbClr val="1E293B"/>
                </a:solidFill>
                <a:latin typeface="Calibri"/>
              </a:rPr>
              <a:t>Pipeline RAG+LLM</a:t>
            </a:r>
          </a:p>
          <a:p>
            <a:pPr algn="l">
              <a:spcAft>
                <a:spcPts val="1200"/>
              </a:spcAft>
            </a:pPr>
            <a:r>
              <a:rPr sz="1400" b="1">
                <a:solidFill>
                  <a:srgbClr val="4F46E5"/>
                </a:solidFill>
                <a:latin typeface="Calibri"/>
              </a:rPr>
              <a:t>▸  </a:t>
            </a:r>
            <a:r>
              <a:rPr sz="1400">
                <a:solidFill>
                  <a:srgbClr val="1E293B"/>
                </a:solidFill>
                <a:latin typeface="Calibri"/>
              </a:rPr>
              <a:t>Compilador + instrumento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854696" y="3337560"/>
            <a:ext cx="310896" cy="0"/>
          </a:xfrm>
          <a:prstGeom prst="line">
            <a:avLst/>
          </a:prstGeom>
          <a:ln w="28575">
            <a:solidFill>
              <a:srgbClr val="64748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8165592" y="1325880"/>
            <a:ext cx="3520440" cy="40233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D9488"/>
            </a:solidFill>
          </a:ln>
          <a:effectLst/>
          <a:effectLst>
            <a:outerShdw blurRad="60000" dist="25000" dir="5400000" rotWithShape="0">
              <a:srgbClr val="1E293B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165592" y="1325880"/>
            <a:ext cx="3520440" cy="86868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94192" y="1417320"/>
            <a:ext cx="3063240" cy="7315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CICLO DE RIGOR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Base de conhecimento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94192" y="2423160"/>
            <a:ext cx="30632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400" b="1">
                <a:solidFill>
                  <a:srgbClr val="0D9488"/>
                </a:solidFill>
                <a:latin typeface="Calibri"/>
              </a:rPr>
              <a:t>▸  </a:t>
            </a:r>
            <a:r>
              <a:rPr sz="1400">
                <a:solidFill>
                  <a:srgbClr val="1E293B"/>
                </a:solidFill>
                <a:latin typeface="Calibri"/>
              </a:rPr>
              <a:t>Teoria de DSLs</a:t>
            </a:r>
          </a:p>
          <a:p>
            <a:pPr algn="l">
              <a:spcAft>
                <a:spcPts val="1200"/>
              </a:spcAft>
            </a:pPr>
            <a:r>
              <a:rPr sz="1400" b="1">
                <a:solidFill>
                  <a:srgbClr val="0D9488"/>
                </a:solidFill>
                <a:latin typeface="Calibri"/>
              </a:rPr>
              <a:t>▸  </a:t>
            </a:r>
            <a:r>
              <a:rPr sz="1400">
                <a:solidFill>
                  <a:srgbClr val="1E293B"/>
                </a:solidFill>
                <a:latin typeface="Calibri"/>
              </a:rPr>
              <a:t>Taxonomia de Bloom</a:t>
            </a:r>
          </a:p>
          <a:p>
            <a:pPr algn="l">
              <a:spcAft>
                <a:spcPts val="1200"/>
              </a:spcAft>
            </a:pPr>
            <a:r>
              <a:rPr sz="1400" b="1">
                <a:solidFill>
                  <a:srgbClr val="0D9488"/>
                </a:solidFill>
                <a:latin typeface="Calibri"/>
              </a:rPr>
              <a:t>▸  </a:t>
            </a:r>
            <a:r>
              <a:rPr sz="1400">
                <a:solidFill>
                  <a:srgbClr val="1E293B"/>
                </a:solidFill>
                <a:latin typeface="Calibri"/>
              </a:rPr>
              <a:t>Design endógeno · RAG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5532120"/>
            <a:ext cx="11183112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1">
                <a:solidFill>
                  <a:srgbClr val="64748B"/>
                </a:solidFill>
                <a:latin typeface="Calibri"/>
              </a:rPr>
              <a:t>Artefato avaliado iterativamente; a prova de conceito (Endo-DSL implementada) já evidencia viabilidade técnica.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105156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09728"/>
            <a:ext cx="10607040" cy="8686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817CF0"/>
                </a:solidFill>
                <a:latin typeface="Calibri"/>
              </a:rPr>
              <a:t>AUTOMÁTICO VS. MANUAL (QP4)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Calibri"/>
              </a:rPr>
              <a:t>Protocolo de avaliação experimental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65392"/>
            <a:ext cx="960120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Endo-DSL · PESC/COPPE/UFRJ · Caio Azeredo ·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565392"/>
            <a:ext cx="73152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4F46E5"/>
                </a:solidFill>
                <a:latin typeface="Calibri"/>
              </a:rPr>
              <a:t>27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417320"/>
            <a:ext cx="676656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 b="1">
                <a:solidFill>
                  <a:srgbClr val="4F46E5"/>
                </a:solidFill>
                <a:latin typeface="Calibri"/>
              </a:rPr>
              <a:t>▸  </a:t>
            </a:r>
            <a:r>
              <a:rPr sz="1700">
                <a:solidFill>
                  <a:srgbClr val="1E293B"/>
                </a:solidFill>
                <a:latin typeface="Calibri"/>
              </a:rPr>
              <a:t>Conjunto de cenários pedagógicos (domínio × tópico × nível de Bloom) definidos a priori.</a:t>
            </a:r>
          </a:p>
          <a:p>
            <a:pPr algn="l">
              <a:spcAft>
                <a:spcPts val="1200"/>
              </a:spcAft>
            </a:pPr>
            <a:r>
              <a:rPr sz="1700" b="1">
                <a:solidFill>
                  <a:srgbClr val="4F46E5"/>
                </a:solidFill>
                <a:latin typeface="Calibri"/>
              </a:rPr>
              <a:t>▸  </a:t>
            </a:r>
            <a:r>
              <a:rPr sz="1700">
                <a:solidFill>
                  <a:srgbClr val="1E293B"/>
                </a:solidFill>
                <a:latin typeface="Calibri"/>
              </a:rPr>
              <a:t>Braço A — protótipos gerados pelo pipeline automático (origin=auto).</a:t>
            </a:r>
          </a:p>
          <a:p>
            <a:pPr algn="l">
              <a:spcAft>
                <a:spcPts val="1200"/>
              </a:spcAft>
            </a:pPr>
            <a:r>
              <a:rPr sz="1700" b="1">
                <a:solidFill>
                  <a:srgbClr val="4F46E5"/>
                </a:solidFill>
                <a:latin typeface="Calibri"/>
              </a:rPr>
              <a:t>▸  </a:t>
            </a:r>
            <a:r>
              <a:rPr sz="1700">
                <a:solidFill>
                  <a:srgbClr val="1E293B"/>
                </a:solidFill>
                <a:latin typeface="Calibri"/>
              </a:rPr>
              <a:t>Braço B — protótipos especificados manualmente por autores (origin=manual).</a:t>
            </a:r>
          </a:p>
          <a:p>
            <a:pPr algn="l">
              <a:spcAft>
                <a:spcPts val="1200"/>
              </a:spcAft>
            </a:pPr>
            <a:r>
              <a:rPr sz="1700" b="1">
                <a:solidFill>
                  <a:srgbClr val="4F46E5"/>
                </a:solidFill>
                <a:latin typeface="Calibri"/>
              </a:rPr>
              <a:t>▸  </a:t>
            </a:r>
            <a:r>
              <a:rPr sz="1700">
                <a:solidFill>
                  <a:srgbClr val="1E293B"/>
                </a:solidFill>
                <a:latin typeface="Calibri"/>
              </a:rPr>
              <a:t>Avaliadores cegos ao braço aplicam o MESMO instrumento de 7 dimensões a todos os protótipos.</a:t>
            </a:r>
          </a:p>
          <a:p>
            <a:pPr algn="l">
              <a:spcAft>
                <a:spcPts val="1200"/>
              </a:spcAft>
            </a:pPr>
            <a:r>
              <a:rPr sz="1700" b="1">
                <a:solidFill>
                  <a:srgbClr val="4F46E5"/>
                </a:solidFill>
                <a:latin typeface="Calibri"/>
              </a:rPr>
              <a:t>▸  </a:t>
            </a:r>
            <a:r>
              <a:rPr sz="1700">
                <a:solidFill>
                  <a:srgbClr val="1E293B"/>
                </a:solidFill>
                <a:latin typeface="Calibri"/>
              </a:rPr>
              <a:t>Análise estatística das diferenças por dimensão e do escore agregado ponderado; teste da hipótese H4.</a:t>
            </a:r>
          </a:p>
          <a:p>
            <a:pPr algn="l">
              <a:spcAft>
                <a:spcPts val="1200"/>
              </a:spcAft>
            </a:pPr>
            <a:r>
              <a:rPr sz="1700" b="1">
                <a:solidFill>
                  <a:srgbClr val="4F46E5"/>
                </a:solidFill>
                <a:latin typeface="Calibri"/>
              </a:rPr>
              <a:t>▸  </a:t>
            </a:r>
            <a:r>
              <a:rPr sz="1700">
                <a:solidFill>
                  <a:srgbClr val="1E293B"/>
                </a:solidFill>
                <a:latin typeface="Calibri"/>
              </a:rPr>
              <a:t>Reuso/curadoria registrados para avaliar o efeito da biblioteca RAG.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89520" y="1325880"/>
            <a:ext cx="4096512" cy="45720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  <a:effectLst>
            <a:outerShdw blurRad="60000" dist="25000" dir="5400000" rotWithShape="0">
              <a:srgbClr val="1E293B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589520" y="1325880"/>
            <a:ext cx="4096512" cy="54864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18120" y="1325880"/>
            <a:ext cx="3639312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Desenho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18120" y="2011680"/>
            <a:ext cx="3639312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>
                <a:solidFill>
                  <a:srgbClr val="F8FAFC"/>
                </a:solidFill>
                <a:latin typeface="Calibri"/>
              </a:rPr>
              <a:t>• Cenários controlados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F8FAFC"/>
                </a:solidFill>
                <a:latin typeface="Calibri"/>
              </a:rPr>
              <a:t>• Braço A: auto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F8FAFC"/>
                </a:solidFill>
                <a:latin typeface="Calibri"/>
              </a:rPr>
              <a:t>• Braço B: manual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F8FAFC"/>
                </a:solidFill>
                <a:latin typeface="Calibri"/>
              </a:rPr>
              <a:t>• Avaliadores cegos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F8FAFC"/>
                </a:solidFill>
                <a:latin typeface="Calibri"/>
              </a:rPr>
              <a:t>• Mesmo instrumento 7-D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F8FAFC"/>
                </a:solidFill>
                <a:latin typeface="Calibri"/>
              </a:rPr>
              <a:t>• Teste de H4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105156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09728"/>
            <a:ext cx="10607040" cy="8686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817CF0"/>
                </a:solidFill>
                <a:latin typeface="Calibri"/>
              </a:rPr>
              <a:t>O QUE MEDIMOS E COMO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Calibri"/>
              </a:rPr>
              <a:t>Métricas e instrumentação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65392"/>
            <a:ext cx="960120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Endo-DSL · PESC/COPPE/UFRJ · Caio Azeredo ·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565392"/>
            <a:ext cx="73152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4F46E5"/>
                </a:solidFill>
                <a:latin typeface="Calibri"/>
              </a:rPr>
              <a:t>28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325880"/>
            <a:ext cx="3520440" cy="402336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  <a:effectLst>
            <a:outerShdw blurRad="60000" dist="25000" dir="5400000" rotWithShape="0">
              <a:srgbClr val="1E293B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325880"/>
            <a:ext cx="3520440" cy="64008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325880"/>
            <a:ext cx="3520440" cy="6400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Geração (pipeline)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194560"/>
            <a:ext cx="29718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1400" b="1">
                <a:solidFill>
                  <a:srgbClr val="4F46E5"/>
                </a:solidFill>
                <a:latin typeface="Calibri"/>
              </a:rPr>
              <a:t>▸  </a:t>
            </a:r>
            <a:r>
              <a:rPr sz="1400">
                <a:solidFill>
                  <a:srgbClr val="1E293B"/>
                </a:solidFill>
                <a:latin typeface="Calibri"/>
              </a:rPr>
              <a:t>Validade na 1ª tentativa</a:t>
            </a:r>
          </a:p>
          <a:p>
            <a:pPr algn="l">
              <a:spcAft>
                <a:spcPts val="1400"/>
              </a:spcAft>
            </a:pPr>
            <a:r>
              <a:rPr sz="1400" b="1">
                <a:solidFill>
                  <a:srgbClr val="4F46E5"/>
                </a:solidFill>
                <a:latin typeface="Calibri"/>
              </a:rPr>
              <a:t>▸  </a:t>
            </a:r>
            <a:r>
              <a:rPr sz="1400">
                <a:solidFill>
                  <a:srgbClr val="1E293B"/>
                </a:solidFill>
                <a:latin typeface="Calibri"/>
              </a:rPr>
              <a:t>Nº médio de tentativas</a:t>
            </a:r>
          </a:p>
          <a:p>
            <a:pPr algn="l">
              <a:spcAft>
                <a:spcPts val="1400"/>
              </a:spcAft>
            </a:pPr>
            <a:r>
              <a:rPr sz="1400" b="1">
                <a:solidFill>
                  <a:srgbClr val="4F46E5"/>
                </a:solidFill>
                <a:latin typeface="Calibri"/>
              </a:rPr>
              <a:t>▸  </a:t>
            </a:r>
            <a:r>
              <a:rPr sz="1400">
                <a:solidFill>
                  <a:srgbClr val="1E293B"/>
                </a:solidFill>
                <a:latin typeface="Calibri"/>
              </a:rPr>
              <a:t>Taxa de rejeição</a:t>
            </a:r>
          </a:p>
          <a:p>
            <a:pPr algn="l">
              <a:spcAft>
                <a:spcPts val="1400"/>
              </a:spcAft>
            </a:pPr>
            <a:r>
              <a:rPr sz="1400" b="1">
                <a:solidFill>
                  <a:srgbClr val="4F46E5"/>
                </a:solidFill>
                <a:latin typeface="Calibri"/>
              </a:rPr>
              <a:t>▸  </a:t>
            </a:r>
            <a:r>
              <a:rPr sz="1400">
                <a:solidFill>
                  <a:srgbClr val="1E293B"/>
                </a:solidFill>
                <a:latin typeface="Calibri"/>
              </a:rPr>
              <a:t>Erros mais frequentes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34256" y="1325880"/>
            <a:ext cx="3520440" cy="402336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  <a:effectLst>
            <a:outerShdw blurRad="60000" dist="25000" dir="5400000" rotWithShape="0">
              <a:srgbClr val="1E293B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34256" y="1325880"/>
            <a:ext cx="3520440" cy="64008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34256" y="1325880"/>
            <a:ext cx="3520440" cy="6400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Qualidade pedagógica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08576" y="2194560"/>
            <a:ext cx="29718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1400" b="1">
                <a:solidFill>
                  <a:srgbClr val="EA580C"/>
                </a:solidFill>
                <a:latin typeface="Calibri"/>
              </a:rPr>
              <a:t>▸  </a:t>
            </a:r>
            <a:r>
              <a:rPr sz="1400">
                <a:solidFill>
                  <a:srgbClr val="1E293B"/>
                </a:solidFill>
                <a:latin typeface="Calibri"/>
              </a:rPr>
              <a:t>Escore por dimensão (1–5)</a:t>
            </a:r>
          </a:p>
          <a:p>
            <a:pPr algn="l">
              <a:spcAft>
                <a:spcPts val="1400"/>
              </a:spcAft>
            </a:pPr>
            <a:r>
              <a:rPr sz="1400" b="1">
                <a:solidFill>
                  <a:srgbClr val="EA580C"/>
                </a:solidFill>
                <a:latin typeface="Calibri"/>
              </a:rPr>
              <a:t>▸  </a:t>
            </a:r>
            <a:r>
              <a:rPr sz="1400">
                <a:solidFill>
                  <a:srgbClr val="1E293B"/>
                </a:solidFill>
                <a:latin typeface="Calibri"/>
              </a:rPr>
              <a:t>Escore agregado ponderado</a:t>
            </a:r>
          </a:p>
          <a:p>
            <a:pPr algn="l">
              <a:spcAft>
                <a:spcPts val="1400"/>
              </a:spcAft>
            </a:pPr>
            <a:r>
              <a:rPr sz="1400" b="1">
                <a:solidFill>
                  <a:srgbClr val="EA580C"/>
                </a:solidFill>
                <a:latin typeface="Calibri"/>
              </a:rPr>
              <a:t>▸  </a:t>
            </a:r>
            <a:r>
              <a:rPr sz="1400">
                <a:solidFill>
                  <a:srgbClr val="1E293B"/>
                </a:solidFill>
                <a:latin typeface="Calibri"/>
              </a:rPr>
              <a:t>Concordância entre avaliadores</a:t>
            </a:r>
          </a:p>
          <a:p>
            <a:pPr algn="l">
              <a:spcAft>
                <a:spcPts val="1400"/>
              </a:spcAft>
            </a:pPr>
            <a:r>
              <a:rPr sz="1400" b="1">
                <a:solidFill>
                  <a:srgbClr val="EA580C"/>
                </a:solidFill>
                <a:latin typeface="Calibri"/>
              </a:rPr>
              <a:t>▸  </a:t>
            </a:r>
            <a:r>
              <a:rPr sz="1400">
                <a:solidFill>
                  <a:srgbClr val="1E293B"/>
                </a:solidFill>
                <a:latin typeface="Calibri"/>
              </a:rPr>
              <a:t>Auto vs. manual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65592" y="1325880"/>
            <a:ext cx="3520440" cy="402336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  <a:effectLst>
            <a:outerShdw blurRad="60000" dist="25000" dir="5400000" rotWithShape="0">
              <a:srgbClr val="1E293B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65592" y="1325880"/>
            <a:ext cx="3520440" cy="64008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65592" y="1325880"/>
            <a:ext cx="3520440" cy="6400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Artefato/compilação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39912" y="2194560"/>
            <a:ext cx="29718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1400" b="1">
                <a:solidFill>
                  <a:srgbClr val="16A34A"/>
                </a:solidFill>
                <a:latin typeface="Calibri"/>
              </a:rPr>
              <a:t>▸  </a:t>
            </a:r>
            <a:r>
              <a:rPr sz="1400">
                <a:solidFill>
                  <a:srgbClr val="1E293B"/>
                </a:solidFill>
                <a:latin typeface="Calibri"/>
              </a:rPr>
              <a:t>Cobertura de mecânicas</a:t>
            </a:r>
          </a:p>
          <a:p>
            <a:pPr algn="l">
              <a:spcAft>
                <a:spcPts val="1400"/>
              </a:spcAft>
            </a:pPr>
            <a:r>
              <a:rPr sz="1400" b="1">
                <a:solidFill>
                  <a:srgbClr val="16A34A"/>
                </a:solidFill>
                <a:latin typeface="Calibri"/>
              </a:rPr>
              <a:t>▸  </a:t>
            </a:r>
            <a:r>
              <a:rPr sz="1400">
                <a:solidFill>
                  <a:srgbClr val="1E293B"/>
                </a:solidFill>
                <a:latin typeface="Calibri"/>
              </a:rPr>
              <a:t>Rastreabilidade objetivo→mecânica</a:t>
            </a:r>
          </a:p>
          <a:p>
            <a:pPr algn="l">
              <a:spcAft>
                <a:spcPts val="1400"/>
              </a:spcAft>
            </a:pPr>
            <a:r>
              <a:rPr sz="1400" b="1">
                <a:solidFill>
                  <a:srgbClr val="16A34A"/>
                </a:solidFill>
                <a:latin typeface="Calibri"/>
              </a:rPr>
              <a:t>▸  </a:t>
            </a:r>
            <a:r>
              <a:rPr sz="1400">
                <a:solidFill>
                  <a:srgbClr val="1E293B"/>
                </a:solidFill>
                <a:latin typeface="Calibri"/>
              </a:rPr>
              <a:t>Reparametrizações bem-sucedidas</a:t>
            </a:r>
          </a:p>
          <a:p>
            <a:pPr algn="l">
              <a:spcAft>
                <a:spcPts val="1400"/>
              </a:spcAft>
            </a:pPr>
            <a:r>
              <a:rPr sz="1400" b="1">
                <a:solidFill>
                  <a:srgbClr val="16A34A"/>
                </a:solidFill>
                <a:latin typeface="Calibri"/>
              </a:rPr>
              <a:t>▸  </a:t>
            </a:r>
            <a:r>
              <a:rPr sz="1400">
                <a:solidFill>
                  <a:srgbClr val="1E293B"/>
                </a:solidFill>
                <a:latin typeface="Calibri"/>
              </a:rPr>
              <a:t>Tamanho do HTML5 gerado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5532120"/>
            <a:ext cx="11183112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1">
                <a:solidFill>
                  <a:srgbClr val="64748B"/>
                </a:solidFill>
                <a:latin typeface="Calibri"/>
              </a:rPr>
              <a:t>Instrumentação nativa: generation_attempts e evaluations no SQLite; exportação CSV (RF25) e relatório comparativo (RF26).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105156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09728"/>
            <a:ext cx="10607040" cy="8686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817CF0"/>
                </a:solidFill>
                <a:latin typeface="Calibri"/>
              </a:rPr>
              <a:t>O QUE JÁ FUNCIONA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Calibri"/>
              </a:rPr>
              <a:t>Resultados preliminares / prova de conceito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65392"/>
            <a:ext cx="960120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Endo-DSL · PESC/COPPE/UFRJ · Caio Azeredo ·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565392"/>
            <a:ext cx="73152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4F46E5"/>
                </a:solidFill>
                <a:latin typeface="Calibri"/>
              </a:rPr>
              <a:t>29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325880"/>
            <a:ext cx="667512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463040"/>
            <a:ext cx="63093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16A34A"/>
                </a:solidFill>
                <a:latin typeface="Calibri"/>
              </a:rPr>
              <a:t>✓  Já implementado (prova de conceito)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1965960"/>
            <a:ext cx="62179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100"/>
              </a:spcAft>
            </a:pPr>
            <a:r>
              <a:rPr sz="1450" b="1">
                <a:solidFill>
                  <a:srgbClr val="16A34A"/>
                </a:solidFill>
                <a:latin typeface="Calibri"/>
              </a:rPr>
              <a:t>✓  </a:t>
            </a:r>
            <a:r>
              <a:rPr sz="1450">
                <a:solidFill>
                  <a:srgbClr val="1E293B"/>
                </a:solidFill>
                <a:latin typeface="Calibri"/>
              </a:rPr>
              <a:t>Plataforma implementada em Python 3.11 (stdlib), CLI + Web + API HTTP.</a:t>
            </a:r>
          </a:p>
          <a:p>
            <a:pPr algn="l">
              <a:spcAft>
                <a:spcPts val="1100"/>
              </a:spcAft>
            </a:pPr>
            <a:r>
              <a:rPr sz="1450" b="1">
                <a:solidFill>
                  <a:srgbClr val="16A34A"/>
                </a:solidFill>
                <a:latin typeface="Calibri"/>
              </a:rPr>
              <a:t>✓  </a:t>
            </a:r>
            <a:r>
              <a:rPr sz="1450">
                <a:solidFill>
                  <a:srgbClr val="1E293B"/>
                </a:solidFill>
                <a:latin typeface="Calibri"/>
              </a:rPr>
              <a:t>Gramática EBNF + parser recursivo descendente + validação sint./sem. operacionais.</a:t>
            </a:r>
          </a:p>
          <a:p>
            <a:pPr algn="l">
              <a:spcAft>
                <a:spcPts val="1100"/>
              </a:spcAft>
            </a:pPr>
            <a:r>
              <a:rPr sz="1450" b="1">
                <a:solidFill>
                  <a:srgbClr val="16A34A"/>
                </a:solidFill>
                <a:latin typeface="Calibri"/>
              </a:rPr>
              <a:t>✓  </a:t>
            </a:r>
            <a:r>
              <a:rPr sz="1450">
                <a:solidFill>
                  <a:srgbClr val="1E293B"/>
                </a:solidFill>
                <a:latin typeface="Calibri"/>
              </a:rPr>
              <a:t>Biblioteca SQLite com componentes canônicos e curadoria funcional.</a:t>
            </a:r>
          </a:p>
          <a:p>
            <a:pPr algn="l">
              <a:spcAft>
                <a:spcPts val="1100"/>
              </a:spcAft>
            </a:pPr>
            <a:r>
              <a:rPr sz="1450" b="1">
                <a:solidFill>
                  <a:srgbClr val="16A34A"/>
                </a:solidFill>
                <a:latin typeface="Calibri"/>
              </a:rPr>
              <a:t>✓  </a:t>
            </a:r>
            <a:r>
              <a:rPr sz="1450">
                <a:solidFill>
                  <a:srgbClr val="1E293B"/>
                </a:solidFill>
                <a:latin typeface="Calibri"/>
              </a:rPr>
              <a:t>Pipeline multi-agente com refinamento iterativo e métricas instrumentadas.</a:t>
            </a:r>
          </a:p>
          <a:p>
            <a:pPr algn="l">
              <a:spcAft>
                <a:spcPts val="1100"/>
              </a:spcAft>
            </a:pPr>
            <a:r>
              <a:rPr sz="1450" b="1">
                <a:solidFill>
                  <a:srgbClr val="16A34A"/>
                </a:solidFill>
                <a:latin typeface="Calibri"/>
              </a:rPr>
              <a:t>✓  </a:t>
            </a:r>
            <a:r>
              <a:rPr sz="1450">
                <a:solidFill>
                  <a:srgbClr val="1E293B"/>
                </a:solidFill>
                <a:latin typeface="Calibri"/>
              </a:rPr>
              <a:t>Compilador DSL→HTML5 autocontido + reparametrização de domínio.</a:t>
            </a:r>
          </a:p>
          <a:p>
            <a:pPr algn="l">
              <a:spcAft>
                <a:spcPts val="1100"/>
              </a:spcAft>
            </a:pPr>
            <a:r>
              <a:rPr sz="1450" b="1">
                <a:solidFill>
                  <a:srgbClr val="16A34A"/>
                </a:solidFill>
                <a:latin typeface="Calibri"/>
              </a:rPr>
              <a:t>✓  </a:t>
            </a:r>
            <a:r>
              <a:rPr sz="1450">
                <a:solidFill>
                  <a:srgbClr val="1E293B"/>
                </a:solidFill>
                <a:latin typeface="Calibri"/>
              </a:rPr>
              <a:t>Estudo de caso 'Comparando Frações' compila e executa no navegador.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52360" y="1325880"/>
            <a:ext cx="4233672" cy="45720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  <a:effectLst>
            <a:outerShdw blurRad="60000" dist="25000" dir="5400000" rotWithShape="0">
              <a:srgbClr val="1E293B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26680" y="1508760"/>
            <a:ext cx="3685032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817CF0"/>
                </a:solidFill>
                <a:latin typeface="Calibri"/>
              </a:rPr>
              <a:t>Indicadores (ilustrativos)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26680" y="2148840"/>
            <a:ext cx="3685032" cy="8686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Calibri"/>
              </a:rPr>
              <a:t>5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BD5E1"/>
                </a:solidFill>
                <a:latin typeface="Calibri"/>
              </a:rPr>
              <a:t>módulos integrados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26680" y="3063240"/>
            <a:ext cx="3685032" cy="8686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Calibri"/>
              </a:rPr>
              <a:t>6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BD5E1"/>
                </a:solidFill>
                <a:latin typeface="Calibri"/>
              </a:rPr>
              <a:t>níveis de Bloom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26680" y="3977640"/>
            <a:ext cx="3685032" cy="8686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Calibri"/>
              </a:rPr>
              <a:t>7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BD5E1"/>
                </a:solidFill>
                <a:latin typeface="Calibri"/>
              </a:rPr>
              <a:t>dimensões de avaliação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26680" y="4892040"/>
            <a:ext cx="3685032" cy="8686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Calibri"/>
              </a:rPr>
              <a:t>0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BD5E1"/>
                </a:solidFill>
                <a:latin typeface="Calibri"/>
              </a:rPr>
              <a:t>dependências em runtime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105156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09728"/>
            <a:ext cx="10607040" cy="8686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817CF0"/>
                </a:solidFill>
                <a:latin typeface="Calibri"/>
              </a:rPr>
              <a:t>CIENTÍFICAS E TÉCNICAS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Calibri"/>
              </a:rPr>
              <a:t>Contribuições esperadas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65392"/>
            <a:ext cx="960120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Endo-DSL · PESC/COPPE/UFRJ · Caio Azeredo ·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565392"/>
            <a:ext cx="73152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4F46E5"/>
                </a:solidFill>
                <a:latin typeface="Calibri"/>
              </a:rPr>
              <a:t>30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325880"/>
            <a:ext cx="5440680" cy="457200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  <a:effectLst>
            <a:outerShdw blurRad="60000" dist="25000" dir="5400000" rotWithShape="0">
              <a:srgbClr val="1E293B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325880"/>
            <a:ext cx="5440680" cy="59436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325880"/>
            <a:ext cx="5440680" cy="5943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Científicas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148840"/>
            <a:ext cx="4800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1500" b="1">
                <a:solidFill>
                  <a:srgbClr val="4F46E5"/>
                </a:solidFill>
                <a:latin typeface="Calibri"/>
              </a:rPr>
              <a:t>▸  </a:t>
            </a:r>
            <a:r>
              <a:rPr sz="1500">
                <a:solidFill>
                  <a:srgbClr val="1E293B"/>
                </a:solidFill>
                <a:latin typeface="Calibri"/>
              </a:rPr>
              <a:t>DSL com Bloom como construto de 1ª classe e sua semântica de afinidade.</a:t>
            </a:r>
          </a:p>
          <a:p>
            <a:pPr algn="l">
              <a:spcAft>
                <a:spcPts val="1400"/>
              </a:spcAft>
            </a:pPr>
            <a:r>
              <a:rPr sz="1500" b="1">
                <a:solidFill>
                  <a:srgbClr val="4F46E5"/>
                </a:solidFill>
                <a:latin typeface="Calibri"/>
              </a:rPr>
              <a:t>▸  </a:t>
            </a:r>
            <a:r>
              <a:rPr sz="1500">
                <a:solidFill>
                  <a:srgbClr val="1E293B"/>
                </a:solidFill>
                <a:latin typeface="Calibri"/>
              </a:rPr>
              <a:t>Método de geração de jogos educativos ancorado por DSL (anti-alucinação).</a:t>
            </a:r>
          </a:p>
          <a:p>
            <a:pPr algn="l">
              <a:spcAft>
                <a:spcPts val="1400"/>
              </a:spcAft>
            </a:pPr>
            <a:r>
              <a:rPr sz="1500" b="1">
                <a:solidFill>
                  <a:srgbClr val="4F46E5"/>
                </a:solidFill>
                <a:latin typeface="Calibri"/>
              </a:rPr>
              <a:t>▸  </a:t>
            </a:r>
            <a:r>
              <a:rPr sz="1500">
                <a:solidFill>
                  <a:srgbClr val="1E293B"/>
                </a:solidFill>
                <a:latin typeface="Calibri"/>
              </a:rPr>
              <a:t>Instrumento de 7 dimensões para comparar protótipos auto vs. manual.</a:t>
            </a:r>
          </a:p>
          <a:p>
            <a:pPr algn="l">
              <a:spcAft>
                <a:spcPts val="1400"/>
              </a:spcAft>
            </a:pPr>
            <a:r>
              <a:rPr sz="1500" b="1">
                <a:solidFill>
                  <a:srgbClr val="4F46E5"/>
                </a:solidFill>
                <a:latin typeface="Calibri"/>
              </a:rPr>
              <a:t>▸  </a:t>
            </a:r>
            <a:r>
              <a:rPr sz="1500">
                <a:solidFill>
                  <a:srgbClr val="1E293B"/>
                </a:solidFill>
                <a:latin typeface="Calibri"/>
              </a:rPr>
              <a:t>Evidências sobre viabilidade de autoria pedagógica por não-programadores.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45352" y="1325880"/>
            <a:ext cx="5440680" cy="457200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  <a:effectLst>
            <a:outerShdw blurRad="60000" dist="25000" dir="5400000" rotWithShape="0">
              <a:srgbClr val="1E293B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45352" y="1325880"/>
            <a:ext cx="5440680" cy="59436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45352" y="1325880"/>
            <a:ext cx="5440680" cy="5943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Técnicas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65392" y="2148840"/>
            <a:ext cx="4800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1500" b="1">
                <a:solidFill>
                  <a:srgbClr val="16A34A"/>
                </a:solidFill>
                <a:latin typeface="Calibri"/>
              </a:rPr>
              <a:t>▸  </a:t>
            </a:r>
            <a:r>
              <a:rPr sz="1500">
                <a:solidFill>
                  <a:srgbClr val="1E293B"/>
                </a:solidFill>
                <a:latin typeface="Calibri"/>
              </a:rPr>
              <a:t>Plataforma Endo-DSL aberta (CLI + Web + API), sem dependências obrigatórias.</a:t>
            </a:r>
          </a:p>
          <a:p>
            <a:pPr algn="l">
              <a:spcAft>
                <a:spcPts val="1400"/>
              </a:spcAft>
            </a:pPr>
            <a:r>
              <a:rPr sz="1500" b="1">
                <a:solidFill>
                  <a:srgbClr val="16A34A"/>
                </a:solidFill>
                <a:latin typeface="Calibri"/>
              </a:rPr>
              <a:t>▸  </a:t>
            </a:r>
            <a:r>
              <a:rPr sz="1500">
                <a:solidFill>
                  <a:srgbClr val="1E293B"/>
                </a:solidFill>
                <a:latin typeface="Calibri"/>
              </a:rPr>
              <a:t>Compilador DSL→HTML5 autocontido com reparametrização de domínio.</a:t>
            </a:r>
          </a:p>
          <a:p>
            <a:pPr algn="l">
              <a:spcAft>
                <a:spcPts val="1400"/>
              </a:spcAft>
            </a:pPr>
            <a:r>
              <a:rPr sz="1500" b="1">
                <a:solidFill>
                  <a:srgbClr val="16A34A"/>
                </a:solidFill>
                <a:latin typeface="Calibri"/>
              </a:rPr>
              <a:t>▸  </a:t>
            </a:r>
            <a:r>
              <a:rPr sz="1500">
                <a:solidFill>
                  <a:srgbClr val="1E293B"/>
                </a:solidFill>
                <a:latin typeface="Calibri"/>
              </a:rPr>
              <a:t>Biblioteca curada de componentes pedagógicos reutilizáveis (RAG).</a:t>
            </a:r>
          </a:p>
          <a:p>
            <a:pPr algn="l">
              <a:spcAft>
                <a:spcPts val="1400"/>
              </a:spcAft>
            </a:pPr>
            <a:r>
              <a:rPr sz="1500" b="1">
                <a:solidFill>
                  <a:srgbClr val="16A34A"/>
                </a:solidFill>
                <a:latin typeface="Calibri"/>
              </a:rPr>
              <a:t>▸  </a:t>
            </a:r>
            <a:r>
              <a:rPr sz="1500">
                <a:solidFill>
                  <a:srgbClr val="1E293B"/>
                </a:solidFill>
                <a:latin typeface="Calibri"/>
              </a:rPr>
              <a:t>Pipeline multi-agente instrumentado e reprodutível.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105156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09728"/>
            <a:ext cx="10607040" cy="8686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817CF0"/>
                </a:solidFill>
                <a:latin typeface="Calibri"/>
              </a:rPr>
              <a:t>E ESTRATÉGIAS DE MITIGAÇÃO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Calibri"/>
              </a:rPr>
              <a:t>Ameaças à validade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65392"/>
            <a:ext cx="960120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Endo-DSL · PESC/COPPE/UFRJ · Caio Azeredo ·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565392"/>
            <a:ext cx="73152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4F46E5"/>
                </a:solidFill>
                <a:latin typeface="Calibri"/>
              </a:rPr>
              <a:t>31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417320"/>
            <a:ext cx="1828800" cy="50292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417320"/>
            <a:ext cx="1554480" cy="5029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Tipo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331720" y="1417320"/>
            <a:ext cx="4663440" cy="50292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68880" y="1417320"/>
            <a:ext cx="4389120" cy="5029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Ameaça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1417320"/>
            <a:ext cx="4663440" cy="50292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20" y="1417320"/>
            <a:ext cx="4389120" cy="5029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Mitigação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1920240"/>
            <a:ext cx="182880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1920240"/>
            <a:ext cx="1554480" cy="8686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4F46E5"/>
                </a:solidFill>
                <a:latin typeface="Calibri"/>
              </a:rPr>
              <a:t>Construto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331720" y="1920240"/>
            <a:ext cx="466344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468880" y="1920240"/>
            <a:ext cx="4389120" cy="8686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1E293B"/>
                </a:solidFill>
                <a:latin typeface="Calibri"/>
              </a:rPr>
              <a:t>Instrumento de 7-D pode não capturar toda 'qualidade pedagógica'.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995160" y="1920240"/>
            <a:ext cx="466344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32320" y="1920240"/>
            <a:ext cx="4389120" cy="8686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1E293B"/>
                </a:solidFill>
                <a:latin typeface="Calibri"/>
              </a:rPr>
              <a:t>Ancorar dimensões em MEEGA+; validação por especialistas.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2788920"/>
            <a:ext cx="1828800" cy="86868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2788920"/>
            <a:ext cx="1554480" cy="8686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4F46E5"/>
                </a:solidFill>
                <a:latin typeface="Calibri"/>
              </a:rPr>
              <a:t>Interna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331720" y="2788920"/>
            <a:ext cx="4663440" cy="86868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468880" y="2788920"/>
            <a:ext cx="4389120" cy="8686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1E293B"/>
                </a:solidFill>
                <a:latin typeface="Calibri"/>
              </a:rPr>
              <a:t>Geração depende do LLM/seed; variabilidade entre execuções.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995160" y="2788920"/>
            <a:ext cx="4663440" cy="86868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32320" y="2788920"/>
            <a:ext cx="4389120" cy="8686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1E293B"/>
                </a:solidFill>
                <a:latin typeface="Calibri"/>
              </a:rPr>
              <a:t>Backend reprodutível; múltiplas execuções; métricas agregadas.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3657600"/>
            <a:ext cx="182880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3657600"/>
            <a:ext cx="1554480" cy="8686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4F46E5"/>
                </a:solidFill>
                <a:latin typeface="Calibri"/>
              </a:rPr>
              <a:t>Externa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331720" y="3657600"/>
            <a:ext cx="466344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468880" y="3657600"/>
            <a:ext cx="4389120" cy="8686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1E293B"/>
                </a:solidFill>
                <a:latin typeface="Calibri"/>
              </a:rPr>
              <a:t>Resultados podem não generalizar p/ outros domínios/idades.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995160" y="3657600"/>
            <a:ext cx="466344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132320" y="3657600"/>
            <a:ext cx="4389120" cy="8686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1E293B"/>
                </a:solidFill>
                <a:latin typeface="Calibri"/>
              </a:rPr>
              <a:t>Múltiplos cenários (domínio×tópico×Bloom); reparametrização.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2920" y="4526280"/>
            <a:ext cx="1828800" cy="86868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4526280"/>
            <a:ext cx="1554480" cy="8686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4F46E5"/>
                </a:solidFill>
                <a:latin typeface="Calibri"/>
              </a:rPr>
              <a:t>Conclusão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331720" y="4526280"/>
            <a:ext cx="4663440" cy="86868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468880" y="4526280"/>
            <a:ext cx="4389120" cy="8686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1E293B"/>
                </a:solidFill>
                <a:latin typeface="Calibri"/>
              </a:rPr>
              <a:t>Tamanho amostral de avaliadores e protótipos.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995160" y="4526280"/>
            <a:ext cx="4663440" cy="86868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132320" y="4526280"/>
            <a:ext cx="4389120" cy="8686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1E293B"/>
                </a:solidFill>
                <a:latin typeface="Calibri"/>
              </a:rPr>
              <a:t>Poder estatístico planejado; avaliadores cegos ao braço.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105156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09728"/>
            <a:ext cx="10607040" cy="8686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817CF0"/>
                </a:solidFill>
                <a:latin typeface="Calibri"/>
              </a:rPr>
              <a:t>GANTT — 6 SEMESTRES (2026–2028)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Calibri"/>
              </a:rPr>
              <a:t>Cronograma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65392"/>
            <a:ext cx="960120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Endo-DSL · PESC/COPPE/UFRJ · Caio Azeredo ·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565392"/>
            <a:ext cx="73152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4F46E5"/>
                </a:solidFill>
                <a:latin typeface="Calibri"/>
              </a:rPr>
              <a:t>32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17720" y="1417320"/>
            <a:ext cx="1162812" cy="365760"/>
          </a:xfrm>
          <a:prstGeom prst="rect">
            <a:avLst/>
          </a:prstGeom>
          <a:solidFill>
            <a:srgbClr val="334155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1417320"/>
            <a:ext cx="1162812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S1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80532" y="1417320"/>
            <a:ext cx="1162812" cy="365760"/>
          </a:xfrm>
          <a:prstGeom prst="rect">
            <a:avLst/>
          </a:prstGeom>
          <a:solidFill>
            <a:srgbClr val="334155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780532" y="1417320"/>
            <a:ext cx="1162812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S2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43344" y="1417320"/>
            <a:ext cx="1162812" cy="365760"/>
          </a:xfrm>
          <a:prstGeom prst="rect">
            <a:avLst/>
          </a:prstGeom>
          <a:solidFill>
            <a:srgbClr val="334155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3344" y="1417320"/>
            <a:ext cx="1162812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S3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06156" y="1417320"/>
            <a:ext cx="1162812" cy="365760"/>
          </a:xfrm>
          <a:prstGeom prst="rect">
            <a:avLst/>
          </a:prstGeom>
          <a:solidFill>
            <a:srgbClr val="334155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06156" y="1417320"/>
            <a:ext cx="1162812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S4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268968" y="1417320"/>
            <a:ext cx="1162812" cy="365760"/>
          </a:xfrm>
          <a:prstGeom prst="rect">
            <a:avLst/>
          </a:prstGeom>
          <a:solidFill>
            <a:srgbClr val="334155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68968" y="1417320"/>
            <a:ext cx="1162812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S5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431780" y="1417320"/>
            <a:ext cx="1162812" cy="365760"/>
          </a:xfrm>
          <a:prstGeom prst="rect">
            <a:avLst/>
          </a:prstGeom>
          <a:solidFill>
            <a:srgbClr val="334155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431780" y="1417320"/>
            <a:ext cx="1162812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S6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1828800"/>
            <a:ext cx="4023360" cy="43891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E293B"/>
                </a:solidFill>
                <a:latin typeface="Calibri"/>
              </a:rPr>
              <a:t>Revisão sistemática da literatura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617720" y="1874520"/>
            <a:ext cx="1162812" cy="3291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780532" y="1874520"/>
            <a:ext cx="1162812" cy="3291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943344" y="1874520"/>
            <a:ext cx="1162812" cy="3291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106156" y="1874520"/>
            <a:ext cx="1162812" cy="3291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268968" y="1874520"/>
            <a:ext cx="1162812" cy="3291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0431780" y="1874520"/>
            <a:ext cx="1162812" cy="3291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4645152" y="1901952"/>
            <a:ext cx="2270760" cy="274320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" y="2267712"/>
            <a:ext cx="4023360" cy="43891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E293B"/>
                </a:solidFill>
                <a:latin typeface="Calibri"/>
              </a:rPr>
              <a:t>Projeto da DSL e validação (M1)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17720" y="2313432"/>
            <a:ext cx="1162812" cy="3291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780532" y="2313432"/>
            <a:ext cx="1162812" cy="3291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943344" y="2313432"/>
            <a:ext cx="1162812" cy="3291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106156" y="2313432"/>
            <a:ext cx="1162812" cy="3291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268968" y="2313432"/>
            <a:ext cx="1162812" cy="3291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0431780" y="2313432"/>
            <a:ext cx="1162812" cy="3291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4645152" y="2340864"/>
            <a:ext cx="2270760" cy="274320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02920" y="2706624"/>
            <a:ext cx="4023360" cy="43891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E293B"/>
                </a:solidFill>
                <a:latin typeface="Calibri"/>
              </a:rPr>
              <a:t>Biblioteca + RAG (M2)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617720" y="2752344"/>
            <a:ext cx="1162812" cy="3291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780532" y="2752344"/>
            <a:ext cx="1162812" cy="3291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943344" y="2752344"/>
            <a:ext cx="1162812" cy="3291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106156" y="2752344"/>
            <a:ext cx="1162812" cy="3291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268968" y="2752344"/>
            <a:ext cx="1162812" cy="3291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0431780" y="2752344"/>
            <a:ext cx="1162812" cy="3291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5807964" y="2779776"/>
            <a:ext cx="2270760" cy="274320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02920" y="3145536"/>
            <a:ext cx="4023360" cy="43891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E293B"/>
                </a:solidFill>
                <a:latin typeface="Calibri"/>
              </a:rPr>
              <a:t>Pipeline multi-agente (M3)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617720" y="3191256"/>
            <a:ext cx="1162812" cy="3291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780532" y="3191256"/>
            <a:ext cx="1162812" cy="3291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943344" y="3191256"/>
            <a:ext cx="1162812" cy="3291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8106156" y="3191256"/>
            <a:ext cx="1162812" cy="3291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9268968" y="3191256"/>
            <a:ext cx="1162812" cy="3291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0431780" y="3191256"/>
            <a:ext cx="1162812" cy="3291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6970776" y="3218688"/>
            <a:ext cx="2270760" cy="274320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02920" y="3584448"/>
            <a:ext cx="4023360" cy="43891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E293B"/>
                </a:solidFill>
                <a:latin typeface="Calibri"/>
              </a:rPr>
              <a:t>Compilador HTML5 (M4)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617720" y="3630168"/>
            <a:ext cx="1162812" cy="3291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780532" y="3630168"/>
            <a:ext cx="1162812" cy="3291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6943344" y="3630168"/>
            <a:ext cx="1162812" cy="3291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8106156" y="3630168"/>
            <a:ext cx="1162812" cy="3291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9268968" y="3630168"/>
            <a:ext cx="1162812" cy="3291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10431780" y="3630168"/>
            <a:ext cx="1162812" cy="3291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6970776" y="3657600"/>
            <a:ext cx="2270760" cy="274320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02920" y="4023360"/>
            <a:ext cx="4023360" cy="43891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E293B"/>
                </a:solidFill>
                <a:latin typeface="Calibri"/>
              </a:rPr>
              <a:t>Instrumento de avaliação (M5)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617720" y="4069080"/>
            <a:ext cx="1162812" cy="3291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780532" y="4069080"/>
            <a:ext cx="1162812" cy="3291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943344" y="4069080"/>
            <a:ext cx="1162812" cy="3291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8106156" y="4069080"/>
            <a:ext cx="1162812" cy="3291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9268968" y="4069080"/>
            <a:ext cx="1162812" cy="3291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10431780" y="4069080"/>
            <a:ext cx="1162812" cy="3291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ounded Rectangle 68"/>
          <p:cNvSpPr/>
          <p:nvPr/>
        </p:nvSpPr>
        <p:spPr>
          <a:xfrm>
            <a:off x="8133588" y="4096512"/>
            <a:ext cx="1107948" cy="274320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02920" y="4462272"/>
            <a:ext cx="4023360" cy="43891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E293B"/>
                </a:solidFill>
                <a:latin typeface="Calibri"/>
              </a:rPr>
              <a:t>Estudo experimental auto×manual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617720" y="4507992"/>
            <a:ext cx="1162812" cy="3291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5780532" y="4507992"/>
            <a:ext cx="1162812" cy="3291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943344" y="4507992"/>
            <a:ext cx="1162812" cy="3291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8106156" y="4507992"/>
            <a:ext cx="1162812" cy="3291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9268968" y="4507992"/>
            <a:ext cx="1162812" cy="3291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10431780" y="4507992"/>
            <a:ext cx="1162812" cy="3291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ounded Rectangle 76"/>
          <p:cNvSpPr/>
          <p:nvPr/>
        </p:nvSpPr>
        <p:spPr>
          <a:xfrm>
            <a:off x="9296400" y="4535424"/>
            <a:ext cx="1107948" cy="274320"/>
          </a:xfrm>
          <a:prstGeom prst="round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502920" y="4901184"/>
            <a:ext cx="4023360" cy="43891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E293B"/>
                </a:solidFill>
                <a:latin typeface="Calibri"/>
              </a:rPr>
              <a:t>Análise de resultados</a:t>
            </a:r>
          </a:p>
        </p:txBody>
      </p:sp>
      <p:sp>
        <p:nvSpPr>
          <p:cNvPr id="79" name="Rectangle 78"/>
          <p:cNvSpPr/>
          <p:nvPr/>
        </p:nvSpPr>
        <p:spPr>
          <a:xfrm>
            <a:off x="4617720" y="4946904"/>
            <a:ext cx="1162812" cy="3291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5780532" y="4946904"/>
            <a:ext cx="1162812" cy="3291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6943344" y="4946904"/>
            <a:ext cx="1162812" cy="3291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8106156" y="4946904"/>
            <a:ext cx="1162812" cy="3291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9268968" y="4946904"/>
            <a:ext cx="1162812" cy="3291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10431780" y="4946904"/>
            <a:ext cx="1162812" cy="3291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ounded Rectangle 84"/>
          <p:cNvSpPr/>
          <p:nvPr/>
        </p:nvSpPr>
        <p:spPr>
          <a:xfrm>
            <a:off x="9296400" y="4974336"/>
            <a:ext cx="2270760" cy="274320"/>
          </a:xfrm>
          <a:prstGeom prst="round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502920" y="5340096"/>
            <a:ext cx="4023360" cy="43891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E293B"/>
                </a:solidFill>
                <a:latin typeface="Calibri"/>
              </a:rPr>
              <a:t>Escrita e defesa da tese</a:t>
            </a:r>
          </a:p>
        </p:txBody>
      </p:sp>
      <p:sp>
        <p:nvSpPr>
          <p:cNvPr id="87" name="Rectangle 86"/>
          <p:cNvSpPr/>
          <p:nvPr/>
        </p:nvSpPr>
        <p:spPr>
          <a:xfrm>
            <a:off x="4617720" y="5385816"/>
            <a:ext cx="1162812" cy="3291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5780532" y="5385816"/>
            <a:ext cx="1162812" cy="3291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6943344" y="5385816"/>
            <a:ext cx="1162812" cy="3291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8106156" y="5385816"/>
            <a:ext cx="1162812" cy="3291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9268968" y="5385816"/>
            <a:ext cx="1162812" cy="3291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10431780" y="5385816"/>
            <a:ext cx="1162812" cy="3291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ounded Rectangle 92"/>
          <p:cNvSpPr/>
          <p:nvPr/>
        </p:nvSpPr>
        <p:spPr>
          <a:xfrm>
            <a:off x="9296400" y="5413248"/>
            <a:ext cx="2270760" cy="274320"/>
          </a:xfrm>
          <a:prstGeom prst="round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502920" y="5870448"/>
            <a:ext cx="11183112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1">
                <a:solidFill>
                  <a:srgbClr val="64748B"/>
                </a:solidFill>
                <a:latin typeface="Calibri"/>
              </a:rPr>
              <a:t>S = semestre · marcos: qualificação (S2) · estudo experimental (S5) · defesa (S6).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105156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09728"/>
            <a:ext cx="10607040" cy="8686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817CF0"/>
                </a:solidFill>
                <a:latin typeface="Calibri"/>
              </a:rPr>
              <a:t>CAPÍTULOS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Calibri"/>
              </a:rPr>
              <a:t>Plano de escrita da tese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65392"/>
            <a:ext cx="960120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Endo-DSL · PESC/COPPE/UFRJ · Caio Azeredo ·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565392"/>
            <a:ext cx="73152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4F46E5"/>
                </a:solidFill>
                <a:latin typeface="Calibri"/>
              </a:rPr>
              <a:t>33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325880"/>
            <a:ext cx="5440680" cy="86868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  <a:effectLst>
            <a:outerShdw blurRad="60000" dist="25000" dir="5400000" rotWithShape="0">
              <a:srgbClr val="1E293B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85800" y="1536192"/>
            <a:ext cx="502920" cy="4572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12700" bIns="1270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1417320"/>
            <a:ext cx="4434840" cy="6858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500" b="1" i="0">
                <a:solidFill>
                  <a:srgbClr val="1E293B"/>
                </a:solidFill>
                <a:latin typeface="Calibri"/>
              </a:rPr>
              <a:t>Introdução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50" b="0" i="0">
                <a:solidFill>
                  <a:srgbClr val="64748B"/>
                </a:solidFill>
                <a:latin typeface="Calibri"/>
              </a:rPr>
              <a:t>contexto, problema, QP, hipóteses, objetivos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45352" y="1325880"/>
            <a:ext cx="5440680" cy="86868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  <a:effectLst>
            <a:outerShdw blurRad="60000" dist="25000" dir="5400000" rotWithShape="0">
              <a:srgbClr val="1E293B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428232" y="1536192"/>
            <a:ext cx="502920" cy="4572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12700" bIns="1270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14032" y="1417320"/>
            <a:ext cx="4434840" cy="6858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500" b="1" i="0">
                <a:solidFill>
                  <a:srgbClr val="1E293B"/>
                </a:solidFill>
                <a:latin typeface="Calibri"/>
              </a:rPr>
              <a:t>Fundamentação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50" b="0" i="0">
                <a:solidFill>
                  <a:srgbClr val="64748B"/>
                </a:solidFill>
                <a:latin typeface="Calibri"/>
              </a:rPr>
              <a:t>DSLs, Bloom, design endógeno, RAG+LLM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2359152"/>
            <a:ext cx="5440680" cy="86868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  <a:effectLst>
            <a:outerShdw blurRad="60000" dist="25000" dir="5400000" rotWithShape="0">
              <a:srgbClr val="1E293B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85800" y="2569464"/>
            <a:ext cx="502920" cy="4572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12700" bIns="1270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2450592"/>
            <a:ext cx="4434840" cy="6858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500" b="1" i="0">
                <a:solidFill>
                  <a:srgbClr val="1E293B"/>
                </a:solidFill>
                <a:latin typeface="Calibri"/>
              </a:rPr>
              <a:t>Trabalhos relacionados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50" b="0" i="0">
                <a:solidFill>
                  <a:srgbClr val="64748B"/>
                </a:solidFill>
                <a:latin typeface="Calibri"/>
              </a:rPr>
              <a:t>estado da arte e lacuna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45352" y="2359152"/>
            <a:ext cx="5440680" cy="86868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  <a:effectLst>
            <a:outerShdw blurRad="60000" dist="25000" dir="5400000" rotWithShape="0">
              <a:srgbClr val="1E293B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428232" y="2569464"/>
            <a:ext cx="502920" cy="4572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12700" bIns="1270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14032" y="2450592"/>
            <a:ext cx="4434840" cy="6858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500" b="1" i="0">
                <a:solidFill>
                  <a:srgbClr val="1E293B"/>
                </a:solidFill>
                <a:latin typeface="Calibri"/>
              </a:rPr>
              <a:t>A linguagem Endo-DSL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50" b="0" i="0">
                <a:solidFill>
                  <a:srgbClr val="64748B"/>
                </a:solidFill>
                <a:latin typeface="Calibri"/>
              </a:rPr>
              <a:t>gramática, parser, validação semântica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3392424"/>
            <a:ext cx="5440680" cy="86868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  <a:effectLst>
            <a:outerShdw blurRad="60000" dist="25000" dir="5400000" rotWithShape="0">
              <a:srgbClr val="1E293B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85800" y="3602736"/>
            <a:ext cx="502920" cy="4572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12700" bIns="1270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3483864"/>
            <a:ext cx="4434840" cy="6858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500" b="1" i="0">
                <a:solidFill>
                  <a:srgbClr val="1E293B"/>
                </a:solidFill>
                <a:latin typeface="Calibri"/>
              </a:rPr>
              <a:t>Geração e compilação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50" b="0" i="0">
                <a:solidFill>
                  <a:srgbClr val="64748B"/>
                </a:solidFill>
                <a:latin typeface="Calibri"/>
              </a:rPr>
              <a:t>biblioteca/RAG, pipeline, compilador HTML5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45352" y="3392424"/>
            <a:ext cx="5440680" cy="86868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  <a:effectLst>
            <a:outerShdw blurRad="60000" dist="25000" dir="5400000" rotWithShape="0">
              <a:srgbClr val="1E293B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428232" y="3602736"/>
            <a:ext cx="502920" cy="4572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12700" bIns="1270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14032" y="3483864"/>
            <a:ext cx="4434840" cy="6858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500" b="1" i="0">
                <a:solidFill>
                  <a:srgbClr val="1E293B"/>
                </a:solidFill>
                <a:latin typeface="Calibri"/>
              </a:rPr>
              <a:t>Avaliação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50" b="0" i="0">
                <a:solidFill>
                  <a:srgbClr val="64748B"/>
                </a:solidFill>
                <a:latin typeface="Calibri"/>
              </a:rPr>
              <a:t>instrumento 7-D, protocolo, resultados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2920" y="4425696"/>
            <a:ext cx="5440680" cy="86868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  <a:effectLst>
            <a:outerShdw blurRad="60000" dist="25000" dir="5400000" rotWithShape="0">
              <a:srgbClr val="1E293B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85800" y="4636008"/>
            <a:ext cx="502920" cy="4572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12700" bIns="1270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71600" y="4517136"/>
            <a:ext cx="4434840" cy="6858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500" b="1" i="0">
                <a:solidFill>
                  <a:srgbClr val="1E293B"/>
                </a:solidFill>
                <a:latin typeface="Calibri"/>
              </a:rPr>
              <a:t>Conclusão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50" b="0" i="0">
                <a:solidFill>
                  <a:srgbClr val="64748B"/>
                </a:solidFill>
                <a:latin typeface="Calibri"/>
              </a:rPr>
              <a:t>contribuições, limitações, trabalhos futuros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105156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09728"/>
            <a:ext cx="10607040" cy="8686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817CF0"/>
                </a:solidFill>
                <a:latin typeface="Calibri"/>
              </a:rPr>
              <a:t>ESCOPO E MOTIVAÇÃO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Calibri"/>
              </a:rPr>
              <a:t>Extensão: jogos de tabuleiro jogáveis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65392"/>
            <a:ext cx="960120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Endo-DSL · PESC/COPPE/UFRJ · Caio Azeredo ·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565392"/>
            <a:ext cx="73152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4F46E5"/>
                </a:solidFill>
                <a:latin typeface="Calibri"/>
              </a:rPr>
              <a:t>34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417320"/>
            <a:ext cx="676656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800" b="1">
                <a:solidFill>
                  <a:srgbClr val="4F46E5"/>
                </a:solidFill>
                <a:latin typeface="Calibri"/>
              </a:rPr>
              <a:t>▸  </a:t>
            </a:r>
            <a:r>
              <a:rPr sz="1800">
                <a:solidFill>
                  <a:srgbClr val="1E293B"/>
                </a:solidFill>
                <a:latin typeface="Calibri"/>
              </a:rPr>
              <a:t>Jogos de tabuleiro são o formato mais ubíquo de jogo educativo presencial — trilhas, batalhas de perguntas, memória, dedução.</a:t>
            </a:r>
          </a:p>
          <a:p>
            <a:pPr algn="l">
              <a:spcAft>
                <a:spcPts val="1200"/>
              </a:spcAft>
            </a:pPr>
            <a:r>
              <a:rPr sz="1800" b="1">
                <a:solidFill>
                  <a:srgbClr val="4F46E5"/>
                </a:solidFill>
                <a:latin typeface="Calibri"/>
              </a:rPr>
              <a:t>▸  </a:t>
            </a:r>
            <a:r>
              <a:rPr sz="1800">
                <a:solidFill>
                  <a:srgbClr val="1E293B"/>
                </a:solidFill>
                <a:latin typeface="Calibri"/>
              </a:rPr>
              <a:t>O canvas ENDO-GDC (Game Design Canvas) permite que o educador preencha as 8 seções pedagógicas e obtenha um protótipo HTML5 jogável sem programar.</a:t>
            </a:r>
          </a:p>
          <a:p>
            <a:pPr algn="l">
              <a:spcAft>
                <a:spcPts val="1200"/>
              </a:spcAft>
            </a:pPr>
            <a:r>
              <a:rPr sz="1800" b="1">
                <a:solidFill>
                  <a:srgbClr val="4F46E5"/>
                </a:solidFill>
                <a:latin typeface="Calibri"/>
              </a:rPr>
              <a:t>▸  </a:t>
            </a:r>
            <a:r>
              <a:rPr sz="1800">
                <a:solidFill>
                  <a:srgbClr val="1E293B"/>
                </a:solidFill>
                <a:latin typeface="Calibri"/>
              </a:rPr>
              <a:t>O escopo inicial cobre os jogos de tabuleiro mais conhecidos mundialmente: Catan, Uno, Monopoly, Cluedo, Scrabble, Risk, Dominion, Carcassonne, Pandemic…</a:t>
            </a:r>
          </a:p>
          <a:p>
            <a:pPr algn="l">
              <a:spcAft>
                <a:spcPts val="1200"/>
              </a:spcAft>
            </a:pPr>
            <a:r>
              <a:rPr sz="1800" b="1">
                <a:solidFill>
                  <a:srgbClr val="4F46E5"/>
                </a:solidFill>
                <a:latin typeface="Calibri"/>
              </a:rPr>
              <a:t>▸  </a:t>
            </a:r>
            <a:r>
              <a:rPr sz="1800">
                <a:solidFill>
                  <a:srgbClr val="1E293B"/>
                </a:solidFill>
                <a:latin typeface="Calibri"/>
              </a:rPr>
              <a:t>A abordagem MDA (Mechanics–Dynamics–Aesthetics) ancora o design: cada seção do canvas mapeia explicitamente para um componente verificável da DSL.</a:t>
            </a:r>
          </a:p>
          <a:p>
            <a:pPr algn="l">
              <a:spcAft>
                <a:spcPts val="1200"/>
              </a:spcAft>
            </a:pPr>
            <a:r>
              <a:rPr sz="1800" b="1">
                <a:solidFill>
                  <a:srgbClr val="4F46E5"/>
                </a:solidFill>
                <a:latin typeface="Calibri"/>
              </a:rPr>
              <a:t>▸  </a:t>
            </a:r>
            <a:r>
              <a:rPr sz="1800">
                <a:solidFill>
                  <a:srgbClr val="1E293B"/>
                </a:solidFill>
                <a:latin typeface="Calibri"/>
              </a:rPr>
              <a:t>Pipeline completo: Canvas → DSL boardgame{} → HTML5 auto-contido executável no navegador, sem instalação.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89520" y="1325880"/>
            <a:ext cx="4096512" cy="45720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  <a:effectLst>
            <a:outerShdw blurRad="60000" dist="25000" dir="5400000" rotWithShape="0">
              <a:srgbClr val="1E293B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589520" y="1325880"/>
            <a:ext cx="4096512" cy="54864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18120" y="1325880"/>
            <a:ext cx="3639312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Por quê tabuleiro?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18120" y="2011680"/>
            <a:ext cx="3639312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>
                <a:solidFill>
                  <a:srgbClr val="F8FAFC"/>
                </a:solidFill>
                <a:latin typeface="Calibri"/>
              </a:rPr>
              <a:t>• Abismo de autoria: também existe em jogos de tabuleiro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F8FAFC"/>
                </a:solidFill>
                <a:latin typeface="Calibri"/>
              </a:rPr>
              <a:t>• Formato mais acessível para escolas sem laboratório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F8FAFC"/>
                </a:solidFill>
                <a:latin typeface="Calibri"/>
              </a:rPr>
              <a:t>• 25 mecânicas catalogadas de jogos reais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F8FAFC"/>
                </a:solidFill>
                <a:latin typeface="Calibri"/>
              </a:rPr>
              <a:t>• 8 arquétipos de jogos (trilha, quiz battle, memória…)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F8FAFC"/>
                </a:solidFill>
                <a:latin typeface="Calibri"/>
              </a:rPr>
              <a:t>• Zero dependências externas em runtime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105156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09728"/>
            <a:ext cx="10607040" cy="8686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817CF0"/>
                </a:solidFill>
                <a:latin typeface="Calibri"/>
              </a:rPr>
              <a:t>25 MECÂNICAS DE JOGOS REAIS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Calibri"/>
              </a:rPr>
              <a:t>Catálogo de mecânicas de tabuleiro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65392"/>
            <a:ext cx="960120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Endo-DSL · PESC/COPPE/UFRJ · Caio Azeredo ·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565392"/>
            <a:ext cx="73152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4F46E5"/>
                </a:solidFill>
                <a:latin typeface="Calibri"/>
              </a:rPr>
              <a:t>35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325880"/>
            <a:ext cx="3611880" cy="658368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  <a:effectLst>
            <a:outerShdw blurRad="60000" dist="25000" dir="5400000" rotWithShape="0">
              <a:srgbClr val="1E293B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325880"/>
            <a:ext cx="91440" cy="65836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1380744"/>
            <a:ext cx="329184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50" b="1" i="0">
                <a:solidFill>
                  <a:srgbClr val="1E293B"/>
                </a:solidFill>
                <a:latin typeface="Calibri"/>
              </a:rPr>
              <a:t>Gerenciamento de recursos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 i="1">
                <a:solidFill>
                  <a:srgbClr val="64748B"/>
                </a:solidFill>
                <a:latin typeface="Calibri"/>
              </a:rPr>
              <a:t>ex.: Catan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2112264"/>
            <a:ext cx="3611880" cy="658368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  <a:effectLst>
            <a:outerShdw blurRad="60000" dist="25000" dir="5400000" rotWithShape="0">
              <a:srgbClr val="1E293B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2112264"/>
            <a:ext cx="91440" cy="65836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2167128"/>
            <a:ext cx="329184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50" b="1" i="0">
                <a:solidFill>
                  <a:srgbClr val="1E293B"/>
                </a:solidFill>
                <a:latin typeface="Calibri"/>
              </a:rPr>
              <a:t>Dedução de mistério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 i="1">
                <a:solidFill>
                  <a:srgbClr val="64748B"/>
                </a:solidFill>
                <a:latin typeface="Calibri"/>
              </a:rPr>
              <a:t>ex.: Cluedo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2898648"/>
            <a:ext cx="3611880" cy="658368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  <a:effectLst>
            <a:outerShdw blurRad="60000" dist="25000" dir="5400000" rotWithShape="0">
              <a:srgbClr val="1E293B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" y="2898648"/>
            <a:ext cx="91440" cy="65836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2953512"/>
            <a:ext cx="329184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50" b="1" i="0">
                <a:solidFill>
                  <a:srgbClr val="1E293B"/>
                </a:solidFill>
                <a:latin typeface="Calibri"/>
              </a:rPr>
              <a:t>Construção de deck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 i="1">
                <a:solidFill>
                  <a:srgbClr val="64748B"/>
                </a:solidFill>
                <a:latin typeface="Calibri"/>
              </a:rPr>
              <a:t>ex.: Dominion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3685032"/>
            <a:ext cx="3611880" cy="658368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  <a:effectLst>
            <a:outerShdw blurRad="60000" dist="25000" dir="5400000" rotWithShape="0">
              <a:srgbClr val="1E293B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20" y="3685032"/>
            <a:ext cx="91440" cy="65836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3739896"/>
            <a:ext cx="329184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50" b="1" i="0">
                <a:solidFill>
                  <a:srgbClr val="1E293B"/>
                </a:solidFill>
                <a:latin typeface="Calibri"/>
              </a:rPr>
              <a:t>Área de controle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 i="1">
                <a:solidFill>
                  <a:srgbClr val="64748B"/>
                </a:solidFill>
                <a:latin typeface="Calibri"/>
              </a:rPr>
              <a:t>ex.: Risk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4471416"/>
            <a:ext cx="3611880" cy="658368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  <a:effectLst>
            <a:outerShdw blurRad="60000" dist="25000" dir="5400000" rotWithShape="0">
              <a:srgbClr val="1E293B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2920" y="4471416"/>
            <a:ext cx="91440" cy="65836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4526280"/>
            <a:ext cx="329184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50" b="1" i="0">
                <a:solidFill>
                  <a:srgbClr val="1E293B"/>
                </a:solidFill>
                <a:latin typeface="Calibri"/>
              </a:rPr>
              <a:t>Cooperação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 i="1">
                <a:solidFill>
                  <a:srgbClr val="64748B"/>
                </a:solidFill>
                <a:latin typeface="Calibri"/>
              </a:rPr>
              <a:t>ex.: Pandemic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06824" y="1325880"/>
            <a:ext cx="3611880" cy="658368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  <a:effectLst>
            <a:outerShdw blurRad="60000" dist="25000" dir="5400000" rotWithShape="0">
              <a:srgbClr val="1E293B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06824" y="1325880"/>
            <a:ext cx="91440" cy="65836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35424" y="1380744"/>
            <a:ext cx="329184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50" b="1" i="0">
                <a:solidFill>
                  <a:srgbClr val="1E293B"/>
                </a:solidFill>
                <a:latin typeface="Calibri"/>
              </a:rPr>
              <a:t>Colocação de peças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 i="1">
                <a:solidFill>
                  <a:srgbClr val="64748B"/>
                </a:solidFill>
                <a:latin typeface="Calibri"/>
              </a:rPr>
              <a:t>ex.: Carcassonne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06824" y="2112264"/>
            <a:ext cx="3611880" cy="658368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  <a:effectLst>
            <a:outerShdw blurRad="60000" dist="25000" dir="5400000" rotWithShape="0">
              <a:srgbClr val="1E293B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306824" y="2112264"/>
            <a:ext cx="91440" cy="65836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35424" y="2167128"/>
            <a:ext cx="329184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50" b="1" i="0">
                <a:solidFill>
                  <a:srgbClr val="1E293B"/>
                </a:solidFill>
                <a:latin typeface="Calibri"/>
              </a:rPr>
              <a:t>Formação de palavras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 i="1">
                <a:solidFill>
                  <a:srgbClr val="64748B"/>
                </a:solidFill>
                <a:latin typeface="Calibri"/>
              </a:rPr>
              <a:t>ex.: Scrabble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306824" y="2898648"/>
            <a:ext cx="3611880" cy="658368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  <a:effectLst>
            <a:outerShdw blurRad="60000" dist="25000" dir="5400000" rotWithShape="0">
              <a:srgbClr val="1E293B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306824" y="2898648"/>
            <a:ext cx="91440" cy="65836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35424" y="2953512"/>
            <a:ext cx="329184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50" b="1" i="0">
                <a:solidFill>
                  <a:srgbClr val="1E293B"/>
                </a:solidFill>
                <a:latin typeface="Calibri"/>
              </a:rPr>
              <a:t>Leilão econômico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 i="1">
                <a:solidFill>
                  <a:srgbClr val="64748B"/>
                </a:solidFill>
                <a:latin typeface="Calibri"/>
              </a:rPr>
              <a:t>ex.: Monopoly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06824" y="3685032"/>
            <a:ext cx="3611880" cy="658368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  <a:effectLst>
            <a:outerShdw blurRad="60000" dist="25000" dir="5400000" rotWithShape="0">
              <a:srgbClr val="1E293B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306824" y="3685032"/>
            <a:ext cx="91440" cy="65836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35424" y="3739896"/>
            <a:ext cx="329184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50" b="1" i="0">
                <a:solidFill>
                  <a:srgbClr val="1E293B"/>
                </a:solidFill>
                <a:latin typeface="Calibri"/>
              </a:rPr>
              <a:t>Jogo de cartas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 i="1">
                <a:solidFill>
                  <a:srgbClr val="64748B"/>
                </a:solidFill>
                <a:latin typeface="Calibri"/>
              </a:rPr>
              <a:t>ex.: Uno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306824" y="4471416"/>
            <a:ext cx="3611880" cy="658368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  <a:effectLst>
            <a:outerShdw blurRad="60000" dist="25000" dir="5400000" rotWithShape="0">
              <a:srgbClr val="1E293B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306824" y="4471416"/>
            <a:ext cx="91440" cy="65836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35424" y="4526280"/>
            <a:ext cx="329184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50" b="1" i="0">
                <a:solidFill>
                  <a:srgbClr val="1E293B"/>
                </a:solidFill>
                <a:latin typeface="Calibri"/>
              </a:rPr>
              <a:t>Quiz educativo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 i="1">
                <a:solidFill>
                  <a:srgbClr val="64748B"/>
                </a:solidFill>
                <a:latin typeface="Calibri"/>
              </a:rPr>
              <a:t>ex.: Trivial P.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110728" y="1325880"/>
            <a:ext cx="3611880" cy="658368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  <a:effectLst>
            <a:outerShdw blurRad="60000" dist="25000" dir="5400000" rotWithShape="0">
              <a:srgbClr val="1E293B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110728" y="1325880"/>
            <a:ext cx="91440" cy="65836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339328" y="1380744"/>
            <a:ext cx="329184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50" b="1" i="0">
                <a:solidFill>
                  <a:srgbClr val="1E293B"/>
                </a:solidFill>
                <a:latin typeface="Calibri"/>
              </a:rPr>
              <a:t>Trilha com perguntas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 i="1">
                <a:solidFill>
                  <a:srgbClr val="64748B"/>
                </a:solidFill>
                <a:latin typeface="Calibri"/>
              </a:rPr>
              <a:t>ex.: Quiz Trail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110728" y="2112264"/>
            <a:ext cx="3611880" cy="658368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  <a:effectLst>
            <a:outerShdw blurRad="60000" dist="25000" dir="5400000" rotWithShape="0">
              <a:srgbClr val="1E293B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110728" y="2112264"/>
            <a:ext cx="91440" cy="65836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339328" y="2167128"/>
            <a:ext cx="329184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50" b="1" i="0">
                <a:solidFill>
                  <a:srgbClr val="1E293B"/>
                </a:solidFill>
                <a:latin typeface="Calibri"/>
              </a:rPr>
              <a:t>Correspondência par-a-par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 i="1">
                <a:solidFill>
                  <a:srgbClr val="64748B"/>
                </a:solidFill>
                <a:latin typeface="Calibri"/>
              </a:rPr>
              <a:t>ex.: Memória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110728" y="2898648"/>
            <a:ext cx="3611880" cy="658368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  <a:effectLst>
            <a:outerShdw blurRad="60000" dist="25000" dir="5400000" rotWithShape="0">
              <a:srgbClr val="1E293B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8110728" y="2898648"/>
            <a:ext cx="91440" cy="65836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339328" y="2953512"/>
            <a:ext cx="329184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50" b="1" i="0">
                <a:solidFill>
                  <a:srgbClr val="1E293B"/>
                </a:solidFill>
                <a:latin typeface="Calibri"/>
              </a:rPr>
              <a:t>Sequenciamento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 i="1">
                <a:solidFill>
                  <a:srgbClr val="64748B"/>
                </a:solidFill>
                <a:latin typeface="Calibri"/>
              </a:rPr>
              <a:t>ex.: Timeline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110728" y="3685032"/>
            <a:ext cx="3611880" cy="658368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  <a:effectLst>
            <a:outerShdw blurRad="60000" dist="25000" dir="5400000" rotWithShape="0">
              <a:srgbClr val="1E293B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8110728" y="3685032"/>
            <a:ext cx="91440" cy="65836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339328" y="3739896"/>
            <a:ext cx="329184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50" b="1" i="0">
                <a:solidFill>
                  <a:srgbClr val="1E293B"/>
                </a:solidFill>
                <a:latin typeface="Calibri"/>
              </a:rPr>
              <a:t>Classificação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 i="1">
                <a:solidFill>
                  <a:srgbClr val="64748B"/>
                </a:solidFill>
                <a:latin typeface="Calibri"/>
              </a:rPr>
              <a:t>ex.: Sort It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110728" y="4471416"/>
            <a:ext cx="3611880" cy="658368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  <a:effectLst>
            <a:outerShdw blurRad="60000" dist="25000" dir="5400000" rotWithShape="0">
              <a:srgbClr val="1E293B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8110728" y="4471416"/>
            <a:ext cx="91440" cy="65836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339328" y="4526280"/>
            <a:ext cx="329184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50" b="1" i="0">
                <a:solidFill>
                  <a:srgbClr val="1E293B"/>
                </a:solidFill>
                <a:latin typeface="Calibri"/>
              </a:rPr>
              <a:t>Montagem de puzzle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 i="1">
                <a:solidFill>
                  <a:srgbClr val="64748B"/>
                </a:solidFill>
                <a:latin typeface="Calibri"/>
              </a:rPr>
              <a:t>ex.: Puzzle Edu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02920" y="5303520"/>
            <a:ext cx="11183112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1">
                <a:solidFill>
                  <a:srgbClr val="64748B"/>
                </a:solidFill>
                <a:latin typeface="Calibri"/>
              </a:rPr>
              <a:t>+ 10 mecânicas adicionais na biblioteca (comparação, economia, exploração…). Cada mecânica é uma dataclass com nível Bloom, descrição MDA e parâmetros configuráveis.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105156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09728"/>
            <a:ext cx="10607040" cy="8686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817CF0"/>
                </a:solidFill>
                <a:latin typeface="Calibri"/>
              </a:rPr>
              <a:t>8 SEÇÕES — DO CONTEXTO AO PROTÓTIPO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Calibri"/>
              </a:rPr>
              <a:t>Canvas ENDO-GDC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65392"/>
            <a:ext cx="960120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Endo-DSL · PESC/COPPE/UFRJ · Caio Azeredo ·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565392"/>
            <a:ext cx="73152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4F46E5"/>
                </a:solidFill>
                <a:latin typeface="Calibri"/>
              </a:rPr>
              <a:t>36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325880"/>
            <a:ext cx="2670048" cy="1188720"/>
          </a:xfrm>
          <a:prstGeom prst="roundRect">
            <a:avLst/>
          </a:prstGeom>
          <a:solidFill>
            <a:srgbClr val="EA760C"/>
          </a:solidFill>
          <a:ln>
            <a:noFill/>
          </a:ln>
          <a:effectLst/>
          <a:effectLst>
            <a:outerShdw blurRad="60000" dist="25000" dir="5400000" rotWithShape="0">
              <a:srgbClr val="1E293B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828800"/>
            <a:ext cx="2670048" cy="6858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399032"/>
            <a:ext cx="2395728" cy="40233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Situação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1874520"/>
            <a:ext cx="2441448" cy="56692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E293B"/>
                </a:solidFill>
                <a:latin typeface="Calibri"/>
              </a:rPr>
              <a:t>domínio, faixa etária, duração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55848" y="1325880"/>
            <a:ext cx="2670048" cy="1188720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  <a:effectLst>
            <a:outerShdw blurRad="60000" dist="25000" dir="5400000" rotWithShape="0">
              <a:srgbClr val="1E293B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355848" y="1828800"/>
            <a:ext cx="2670048" cy="6858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93008" y="1399032"/>
            <a:ext cx="2395728" cy="40233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Objetivos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65576" y="1874520"/>
            <a:ext cx="2441448" cy="56692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E293B"/>
                </a:solidFill>
                <a:latin typeface="Calibri"/>
              </a:rPr>
              <a:t>metas de aprendizagem + Bloom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08776" y="1325880"/>
            <a:ext cx="2670048" cy="118872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  <a:effectLst>
            <a:outerShdw blurRad="60000" dist="25000" dir="5400000" rotWithShape="0">
              <a:srgbClr val="1E293B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08776" y="1828800"/>
            <a:ext cx="2670048" cy="6858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45936" y="1399032"/>
            <a:ext cx="2395728" cy="40233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Narrativa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18504" y="1874520"/>
            <a:ext cx="2441448" cy="56692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E293B"/>
                </a:solidFill>
                <a:latin typeface="Calibri"/>
              </a:rPr>
              <a:t>ambientação, personagens, enredo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61704" y="1325880"/>
            <a:ext cx="2670048" cy="1188720"/>
          </a:xfrm>
          <a:prstGeom prst="roundRect">
            <a:avLst/>
          </a:prstGeom>
          <a:solidFill>
            <a:srgbClr val="CA8A04"/>
          </a:solidFill>
          <a:ln>
            <a:noFill/>
          </a:ln>
          <a:effectLst/>
          <a:effectLst>
            <a:outerShdw blurRad="60000" dist="25000" dir="5400000" rotWithShape="0">
              <a:srgbClr val="1E293B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061704" y="1828800"/>
            <a:ext cx="2670048" cy="6858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98864" y="1399032"/>
            <a:ext cx="2395728" cy="40233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Mecânicas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71432" y="1874520"/>
            <a:ext cx="2441448" cy="56692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E293B"/>
                </a:solidFill>
                <a:latin typeface="Calibri"/>
              </a:rPr>
              <a:t>M–D–A: tipo, dinâmica, estética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2697480"/>
            <a:ext cx="2670048" cy="1188720"/>
          </a:xfrm>
          <a:prstGeom prst="roundRect">
            <a:avLst/>
          </a:prstGeom>
          <a:solidFill>
            <a:srgbClr val="DC2626"/>
          </a:solidFill>
          <a:ln>
            <a:noFill/>
          </a:ln>
          <a:effectLst/>
          <a:effectLst>
            <a:outerShdw blurRad="60000" dist="25000" dir="5400000" rotWithShape="0">
              <a:srgbClr val="1E293B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02920" y="3200400"/>
            <a:ext cx="2670048" cy="6858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2770632"/>
            <a:ext cx="2395728" cy="40233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Restrições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2648" y="3246120"/>
            <a:ext cx="2441448" cy="56692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E293B"/>
                </a:solidFill>
                <a:latin typeface="Calibri"/>
              </a:rPr>
              <a:t>regras, limites, penalidades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355848" y="2697480"/>
            <a:ext cx="2670048" cy="1188720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  <a:effectLst>
            <a:outerShdw blurRad="60000" dist="25000" dir="5400000" rotWithShape="0">
              <a:srgbClr val="1E293B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355848" y="3200400"/>
            <a:ext cx="2670048" cy="6858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493008" y="2770632"/>
            <a:ext cx="2395728" cy="40233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Conteúdo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65576" y="3246120"/>
            <a:ext cx="2441448" cy="56692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E293B"/>
                </a:solidFill>
                <a:latin typeface="Calibri"/>
              </a:rPr>
              <a:t>banco de perguntas, domínio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08776" y="2697480"/>
            <a:ext cx="2670048" cy="1188720"/>
          </a:xfrm>
          <a:prstGeom prst="roundRect">
            <a:avLst/>
          </a:prstGeom>
          <a:solidFill>
            <a:srgbClr val="334155"/>
          </a:solidFill>
          <a:ln>
            <a:noFill/>
          </a:ln>
          <a:effectLst/>
          <a:effectLst>
            <a:outerShdw blurRad="60000" dist="25000" dir="5400000" rotWithShape="0">
              <a:srgbClr val="1E293B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208776" y="3200400"/>
            <a:ext cx="2670048" cy="6858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45936" y="2770632"/>
            <a:ext cx="2395728" cy="40233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Arquétipo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18504" y="3246120"/>
            <a:ext cx="2441448" cy="56692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E293B"/>
                </a:solidFill>
                <a:latin typeface="Calibri"/>
              </a:rPr>
              <a:t>trilha / quiz / memória / etc.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061704" y="2697480"/>
            <a:ext cx="2670048" cy="1188720"/>
          </a:xfrm>
          <a:prstGeom prst="roundRect">
            <a:avLst/>
          </a:prstGeom>
          <a:solidFill>
            <a:srgbClr val="64748B"/>
          </a:solidFill>
          <a:ln>
            <a:noFill/>
          </a:ln>
          <a:effectLst/>
          <a:effectLst>
            <a:outerShdw blurRad="60000" dist="25000" dir="5400000" rotWithShape="0">
              <a:srgbClr val="1E293B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061704" y="3200400"/>
            <a:ext cx="2670048" cy="6858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98864" y="2770632"/>
            <a:ext cx="2395728" cy="40233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Avaliação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71432" y="3246120"/>
            <a:ext cx="2441448" cy="56692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E293B"/>
                </a:solidFill>
                <a:latin typeface="Calibri"/>
              </a:rPr>
              <a:t>critérios de vitória e Bloom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2920" y="4178808"/>
            <a:ext cx="11183112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1">
                <a:solidFill>
                  <a:srgbClr val="64748B"/>
                </a:solidFill>
                <a:latin typeface="Calibri"/>
              </a:rPr>
              <a:t>Preenchendo o canvas → clique 'Gerar Protótipo' → DSL boardgame{} gerada automaticamente → compilação HTML5 → jogo jogável no navegador.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105156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09728"/>
            <a:ext cx="10607040" cy="8686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817CF0"/>
                </a:solidFill>
                <a:latin typeface="Calibri"/>
              </a:rPr>
              <a:t>FLUXO DE GERAÇÃO DE PROTÓTIPO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Calibri"/>
              </a:rPr>
              <a:t>Pipeline: Canvas → DSL → HTML5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65392"/>
            <a:ext cx="960120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Endo-DSL · PESC/COPPE/UFRJ · Caio Azeredo ·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565392"/>
            <a:ext cx="73152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4F46E5"/>
                </a:solidFill>
                <a:latin typeface="Calibri"/>
              </a:rPr>
              <a:t>37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423160"/>
            <a:ext cx="2423160" cy="2011680"/>
          </a:xfrm>
          <a:prstGeom prst="roundRect">
            <a:avLst/>
          </a:prstGeom>
          <a:solidFill>
            <a:srgbClr val="EA760C"/>
          </a:solidFill>
          <a:ln>
            <a:noFill/>
          </a:ln>
          <a:effectLst/>
          <a:effectLst>
            <a:outerShdw blurRad="60000" dist="25000" dir="5400000" rotWithShape="0">
              <a:srgbClr val="1E293B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651760"/>
            <a:ext cx="2148840" cy="8229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Canvas
ENDO-GDC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" y="3520440"/>
            <a:ext cx="2203704" cy="7772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8FAFC"/>
                </a:solidFill>
                <a:latin typeface="Calibri"/>
              </a:rPr>
              <a:t>Educador preenche as 8 seções no navegador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926080" y="3429000.0"/>
            <a:ext cx="329184" cy="0.0"/>
          </a:xfrm>
          <a:prstGeom prst="line">
            <a:avLst/>
          </a:prstGeom>
          <a:ln w="38100">
            <a:solidFill>
              <a:srgbClr val="FFFFF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273552" y="2423160"/>
            <a:ext cx="2423160" cy="2011680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  <a:effectLst>
            <a:outerShdw blurRad="60000" dist="25000" dir="5400000" rotWithShape="0">
              <a:srgbClr val="1E293B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10712" y="2651760"/>
            <a:ext cx="2148840" cy="8229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DSL
boardgame{}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0" y="3520440"/>
            <a:ext cx="2203704" cy="7772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8FAFC"/>
                </a:solidFill>
                <a:latin typeface="Calibri"/>
              </a:rPr>
              <a:t>Template gera código DSL estruturado por Bloom + MDA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696712" y="3429000.0"/>
            <a:ext cx="329184" cy="0.0"/>
          </a:xfrm>
          <a:prstGeom prst="line">
            <a:avLst/>
          </a:prstGeom>
          <a:ln w="38100">
            <a:solidFill>
              <a:srgbClr val="FFFFF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044184" y="2423160"/>
            <a:ext cx="2423160" cy="2011680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  <a:effectLst>
            <a:outerShdw blurRad="60000" dist="25000" dir="5400000" rotWithShape="0">
              <a:srgbClr val="1E293B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81344" y="2651760"/>
            <a:ext cx="2148840" cy="8229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Compilador
boardgame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53912" y="3520440"/>
            <a:ext cx="2203704" cy="7772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8FAFC"/>
                </a:solidFill>
                <a:latin typeface="Calibri"/>
              </a:rPr>
              <a:t>Parser + content_builder monta banco de conteúdo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467344" y="3429000.0"/>
            <a:ext cx="329184" cy="0.0"/>
          </a:xfrm>
          <a:prstGeom prst="line">
            <a:avLst/>
          </a:prstGeom>
          <a:ln w="38100">
            <a:solidFill>
              <a:srgbClr val="FFFFF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8814816" y="2423160"/>
            <a:ext cx="2423160" cy="201168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  <a:effectLst>
            <a:outerShdw blurRad="60000" dist="25000" dir="5400000" rotWithShape="0">
              <a:srgbClr val="1E293B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51976" y="2651760"/>
            <a:ext cx="2148840" cy="8229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Protótipo
HTML5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24544" y="3520440"/>
            <a:ext cx="2203704" cy="7772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8FAFC"/>
                </a:solidFill>
                <a:latin typeface="Calibri"/>
              </a:rPr>
              <a:t>board_engine renderiza jogo auto-contido, zero CDN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4663440"/>
            <a:ext cx="11183112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1E293B"/>
                </a:solidFill>
                <a:latin typeface="Calibri"/>
              </a:rPr>
              <a:t>Também disponível via CLI: </a:t>
            </a:r>
            <a:r>
              <a:rPr sz="1400" b="0" i="0">
                <a:solidFill>
                  <a:srgbClr val="4F46E5"/>
                </a:solidFill>
                <a:latin typeface="Consolas"/>
              </a:rPr>
              <a:t>endo-dsl compile jogo.endo</a:t>
            </a:r>
            <a:r>
              <a:rPr sz="1400" b="0" i="0">
                <a:solidFill>
                  <a:srgbClr val="1E293B"/>
                </a:solidFill>
                <a:latin typeface="Calibri"/>
              </a:rPr>
              <a:t>  e via API: POST /api/boardgame/generate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1">
                <a:solidFill>
                  <a:srgbClr val="64748B"/>
                </a:solidFill>
                <a:latin typeface="Calibri"/>
              </a:rPr>
              <a:t>Rota web: /gdc — canvas interativo com 8 seções coloridas, seletor de mecânicas e botão 'Gerar Protótipo'.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105156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09728"/>
            <a:ext cx="10607040" cy="8686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817CF0"/>
                </a:solidFill>
                <a:latin typeface="Calibri"/>
              </a:rPr>
              <a:t>PROTÓTIPOS HTML5 JOGÁVEIS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Calibri"/>
              </a:rPr>
              <a:t>4 tipos de jogo gerados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65392"/>
            <a:ext cx="960120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Endo-DSL · PESC/COPPE/UFRJ · Caio Azeredo ·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565392"/>
            <a:ext cx="73152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4F46E5"/>
                </a:solidFill>
                <a:latin typeface="Calibri"/>
              </a:rPr>
              <a:t>38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325880"/>
            <a:ext cx="5394960" cy="2194560"/>
          </a:xfrm>
          <a:prstGeom prst="roundRect">
            <a:avLst/>
          </a:prstGeom>
          <a:solidFill>
            <a:srgbClr val="F8FAFC"/>
          </a:solidFill>
          <a:ln>
            <a:noFill/>
          </a:ln>
          <a:effectLst/>
          <a:effectLst>
            <a:outerShdw blurRad="60000" dist="25000" dir="5400000" rotWithShape="0">
              <a:srgbClr val="1E293B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325880"/>
            <a:ext cx="146304" cy="219456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1490472"/>
            <a:ext cx="1828800" cy="6858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E293B"/>
                </a:solidFill>
                <a:latin typeface="Calibri"/>
              </a:rPr>
              <a:t>Trilha
(track)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80360" y="1527048"/>
            <a:ext cx="1280160" cy="347472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12700" bIns="1270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HTML5 puro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2286000"/>
            <a:ext cx="48920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4748B"/>
                </a:solidFill>
                <a:latin typeface="Calibri"/>
              </a:rPr>
              <a:t>Tabuleiro com casas numeradas, dados virtuais, perguntas por casa, sistema de pontos.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91072" y="1325880"/>
            <a:ext cx="5394960" cy="2194560"/>
          </a:xfrm>
          <a:prstGeom prst="roundRect">
            <a:avLst/>
          </a:prstGeom>
          <a:solidFill>
            <a:srgbClr val="F8FAFC"/>
          </a:solidFill>
          <a:ln>
            <a:noFill/>
          </a:ln>
          <a:effectLst/>
          <a:effectLst>
            <a:outerShdw blurRad="60000" dist="25000" dir="5400000" rotWithShape="0">
              <a:srgbClr val="1E293B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91072" y="1325880"/>
            <a:ext cx="146304" cy="219456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11112" y="1490472"/>
            <a:ext cx="1828800" cy="6858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E293B"/>
                </a:solidFill>
                <a:latin typeface="Calibri"/>
              </a:rPr>
              <a:t>Quiz Battle
(quiz)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68512" y="1527048"/>
            <a:ext cx="1280160" cy="347472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12700" bIns="1270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HTML5 puro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11112" y="2286000"/>
            <a:ext cx="48920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4748B"/>
                </a:solidFill>
                <a:latin typeface="Calibri"/>
              </a:rPr>
              <a:t>Batalha de perguntas em turnos, múltiplas opções, feedback imediato, placar.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3721608"/>
            <a:ext cx="5394960" cy="2194560"/>
          </a:xfrm>
          <a:prstGeom prst="roundRect">
            <a:avLst/>
          </a:prstGeom>
          <a:solidFill>
            <a:srgbClr val="F8FAFC"/>
          </a:solidFill>
          <a:ln>
            <a:noFill/>
          </a:ln>
          <a:effectLst/>
          <a:effectLst>
            <a:outerShdw blurRad="60000" dist="25000" dir="5400000" rotWithShape="0">
              <a:srgbClr val="1E293B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2920" y="3721608"/>
            <a:ext cx="146304" cy="2194560"/>
          </a:xfrm>
          <a:prstGeom prst="rect">
            <a:avLst/>
          </a:prstGeom>
          <a:solidFill>
            <a:srgbClr val="EA76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3886200"/>
            <a:ext cx="1828800" cy="6858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E293B"/>
                </a:solidFill>
                <a:latin typeface="Calibri"/>
              </a:rPr>
              <a:t>Memória
(memory_match)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880360" y="3922776"/>
            <a:ext cx="1280160" cy="347472"/>
          </a:xfrm>
          <a:prstGeom prst="roundRect">
            <a:avLst/>
          </a:prstGeom>
          <a:solidFill>
            <a:srgbClr val="EA76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12700" bIns="1270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HTML5 puro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4681728"/>
            <a:ext cx="48920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4748B"/>
                </a:solidFill>
                <a:latin typeface="Calibri"/>
              </a:rPr>
              <a:t>Pares de cartas viradas, correspondência conceito-definição, cronômetro.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91072" y="3721608"/>
            <a:ext cx="5394960" cy="2194560"/>
          </a:xfrm>
          <a:prstGeom prst="roundRect">
            <a:avLst/>
          </a:prstGeom>
          <a:solidFill>
            <a:srgbClr val="F8FAFC"/>
          </a:solidFill>
          <a:ln>
            <a:noFill/>
          </a:ln>
          <a:effectLst/>
          <a:effectLst>
            <a:outerShdw blurRad="60000" dist="25000" dir="5400000" rotWithShape="0">
              <a:srgbClr val="1E293B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91072" y="3721608"/>
            <a:ext cx="146304" cy="219456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11112" y="3886200"/>
            <a:ext cx="1828800" cy="6858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E293B"/>
                </a:solidFill>
                <a:latin typeface="Calibri"/>
              </a:rPr>
              <a:t>Grade
(strategy_grid)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668512" y="3922776"/>
            <a:ext cx="1280160" cy="347472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12700" bIns="1270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HTML5 puro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11112" y="4681728"/>
            <a:ext cx="48920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4748B"/>
                </a:solidFill>
                <a:latin typeface="Calibri"/>
              </a:rPr>
              <a:t>Grid NxM com peças estratégicas, condições de vitória, movimentos por regras.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105156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09728"/>
            <a:ext cx="10607040" cy="8686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817CF0"/>
                </a:solidFill>
                <a:latin typeface="Calibri"/>
              </a:rPr>
              <a:t>TEMPLATES DSL PRÉ-CONFIGURADOS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Calibri"/>
              </a:rPr>
              <a:t>8 arquétipos de jogo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65392"/>
            <a:ext cx="960120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Endo-DSL · PESC/COPPE/UFRJ · Caio Azeredo ·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565392"/>
            <a:ext cx="73152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4F46E5"/>
                </a:solidFill>
                <a:latin typeface="Calibri"/>
              </a:rPr>
              <a:t>39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417320"/>
            <a:ext cx="676656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 b="1">
                <a:solidFill>
                  <a:srgbClr val="4F46E5"/>
                </a:solidFill>
                <a:latin typeface="Calibri"/>
              </a:rPr>
              <a:t>▸  </a:t>
            </a:r>
            <a:r>
              <a:rPr sz="1700">
                <a:solidFill>
                  <a:srgbClr val="1E293B"/>
                </a:solidFill>
                <a:latin typeface="Calibri"/>
              </a:rPr>
              <a:t>trilha — jogo de trilha com perguntas e casas especiais</a:t>
            </a:r>
          </a:p>
          <a:p>
            <a:pPr algn="l">
              <a:spcAft>
                <a:spcPts val="1200"/>
              </a:spcAft>
            </a:pPr>
            <a:r>
              <a:rPr sz="1700" b="1">
                <a:solidFill>
                  <a:srgbClr val="4F46E5"/>
                </a:solidFill>
                <a:latin typeface="Calibri"/>
              </a:rPr>
              <a:t>▸  </a:t>
            </a:r>
            <a:r>
              <a:rPr sz="1700">
                <a:solidFill>
                  <a:srgbClr val="1E293B"/>
                </a:solidFill>
                <a:latin typeface="Calibri"/>
              </a:rPr>
              <a:t>quiz_battle — batalha de perguntas em turnos (2–4 jogadores)</a:t>
            </a:r>
          </a:p>
          <a:p>
            <a:pPr algn="l">
              <a:spcAft>
                <a:spcPts val="1200"/>
              </a:spcAft>
            </a:pPr>
            <a:r>
              <a:rPr sz="1700" b="1">
                <a:solidFill>
                  <a:srgbClr val="4F46E5"/>
                </a:solidFill>
                <a:latin typeface="Calibri"/>
              </a:rPr>
              <a:t>▸  </a:t>
            </a:r>
            <a:r>
              <a:rPr sz="1700">
                <a:solidFill>
                  <a:srgbClr val="1E293B"/>
                </a:solidFill>
                <a:latin typeface="Calibri"/>
              </a:rPr>
              <a:t>memory_match — pares conceito–definição estilo jogo da memória</a:t>
            </a:r>
          </a:p>
          <a:p>
            <a:pPr algn="l">
              <a:spcAft>
                <a:spcPts val="1200"/>
              </a:spcAft>
            </a:pPr>
            <a:r>
              <a:rPr sz="1700" b="1">
                <a:solidFill>
                  <a:srgbClr val="4F46E5"/>
                </a:solidFill>
                <a:latin typeface="Calibri"/>
              </a:rPr>
              <a:t>▸  </a:t>
            </a:r>
            <a:r>
              <a:rPr sz="1700">
                <a:solidFill>
                  <a:srgbClr val="1E293B"/>
                </a:solidFill>
                <a:latin typeface="Calibri"/>
              </a:rPr>
              <a:t>word_race — corrida de palavras com formação de vocabulário (Bloom: Lembrar/Compreender)</a:t>
            </a:r>
          </a:p>
          <a:p>
            <a:pPr algn="l">
              <a:spcAft>
                <a:spcPts val="1200"/>
              </a:spcAft>
            </a:pPr>
            <a:r>
              <a:rPr sz="1700" b="1">
                <a:solidFill>
                  <a:srgbClr val="4F46E5"/>
                </a:solidFill>
                <a:latin typeface="Calibri"/>
              </a:rPr>
              <a:t>▸  </a:t>
            </a:r>
            <a:r>
              <a:rPr sz="1700">
                <a:solidFill>
                  <a:srgbClr val="1E293B"/>
                </a:solidFill>
                <a:latin typeface="Calibri"/>
              </a:rPr>
              <a:t>strategy_grid — grade estratégica com movimentos e condições de vitória (Bloom: Analisar)</a:t>
            </a:r>
          </a:p>
          <a:p>
            <a:pPr algn="l">
              <a:spcAft>
                <a:spcPts val="1200"/>
              </a:spcAft>
            </a:pPr>
            <a:r>
              <a:rPr sz="1700" b="1">
                <a:solidFill>
                  <a:srgbClr val="4F46E5"/>
                </a:solidFill>
                <a:latin typeface="Calibri"/>
              </a:rPr>
              <a:t>▸  </a:t>
            </a:r>
            <a:r>
              <a:rPr sz="1700">
                <a:solidFill>
                  <a:srgbClr val="1E293B"/>
                </a:solidFill>
                <a:latin typeface="Calibri"/>
              </a:rPr>
              <a:t>cooperative_quest — missão cooperativa por fases com objetivos coletivos (Bloom: Aplicar)</a:t>
            </a:r>
          </a:p>
          <a:p>
            <a:pPr algn="l">
              <a:spcAft>
                <a:spcPts val="1200"/>
              </a:spcAft>
            </a:pPr>
            <a:r>
              <a:rPr sz="1700" b="1">
                <a:solidFill>
                  <a:srgbClr val="4F46E5"/>
                </a:solidFill>
                <a:latin typeface="Calibri"/>
              </a:rPr>
              <a:t>▸  </a:t>
            </a:r>
            <a:r>
              <a:rPr sz="1700">
                <a:solidFill>
                  <a:srgbClr val="1E293B"/>
                </a:solidFill>
                <a:latin typeface="Calibri"/>
              </a:rPr>
              <a:t>auction_economy — leilão de recursos com negociação e cálculo (Bloom: Avaliar)</a:t>
            </a:r>
          </a:p>
          <a:p>
            <a:pPr algn="l">
              <a:spcAft>
                <a:spcPts val="1200"/>
              </a:spcAft>
            </a:pPr>
            <a:r>
              <a:rPr sz="1700" b="1">
                <a:solidFill>
                  <a:srgbClr val="4F46E5"/>
                </a:solidFill>
                <a:latin typeface="Calibri"/>
              </a:rPr>
              <a:t>▸  </a:t>
            </a:r>
            <a:r>
              <a:rPr sz="1700">
                <a:solidFill>
                  <a:srgbClr val="1E293B"/>
                </a:solidFill>
                <a:latin typeface="Calibri"/>
              </a:rPr>
              <a:t>deduction_mystery — dedução de mistério com pistas e lógica (Bloom: Analisar/Avaliar)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89520" y="1325880"/>
            <a:ext cx="4096512" cy="45720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  <a:effectLst>
            <a:outerShdw blurRad="60000" dist="25000" dir="5400000" rotWithShape="0">
              <a:srgbClr val="1E293B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589520" y="1325880"/>
            <a:ext cx="4096512" cy="54864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18120" y="1325880"/>
            <a:ext cx="3639312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Configuração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18120" y="2011680"/>
            <a:ext cx="3639312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>
                <a:solidFill>
                  <a:srgbClr val="F8FAFC"/>
                </a:solidFill>
                <a:latin typeface="Calibri"/>
              </a:rPr>
              <a:t>• Cada arquétipo tem parâmetros configuráveis via DSL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F8FAFC"/>
                </a:solidFill>
                <a:latin typeface="Calibri"/>
              </a:rPr>
              <a:t>• Parâmetros: players, duration, questions, difficulty…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F8FAFC"/>
                </a:solidFill>
                <a:latin typeface="Calibri"/>
              </a:rPr>
              <a:t>• Bloom level determina complexidade cognitiva do template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F8FAFC"/>
                </a:solidFill>
                <a:latin typeface="Calibri"/>
              </a:rPr>
              <a:t>• Conteúdo gerado a partir do domínio + tópico da DSL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F8FAFC"/>
                </a:solidFill>
                <a:latin typeface="Calibri"/>
              </a:rPr>
              <a:t>• Traceabilidade automática: objetivos ↔ mecânicas ↔ questões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105156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09728"/>
            <a:ext cx="10607040" cy="8686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817CF0"/>
                </a:solidFill>
                <a:latin typeface="Calibri"/>
              </a:rPr>
              <a:t>EXTENSÃO DA LINGUAGEM ENDO-DSL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Calibri"/>
              </a:rPr>
              <a:t>Sintaxe DSL — boardgame{}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65392"/>
            <a:ext cx="960120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Endo-DSL · PESC/COPPE/UFRJ · Caio Azeredo ·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565392"/>
            <a:ext cx="73152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4F46E5"/>
                </a:solidFill>
                <a:latin typeface="Calibri"/>
              </a:rPr>
              <a:t>40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325880"/>
            <a:ext cx="7132320" cy="484632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  <a:effectLst>
            <a:outerShdw blurRad="60000" dist="25000" dir="5400000" rotWithShape="0">
              <a:srgbClr val="1E293B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508760"/>
            <a:ext cx="667512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"/>
              </a:spcAft>
            </a:pPr>
            <a:r>
              <a:rPr sz="1350">
                <a:solidFill>
                  <a:srgbClr val="E2E8F0"/>
                </a:solidFill>
                <a:latin typeface="Consolas"/>
              </a:rPr>
              <a:t>boardgame "Expedição Científica" {</a:t>
            </a:r>
          </a:p>
          <a:p>
            <a:pPr>
              <a:spcAft>
                <a:spcPts val="100"/>
              </a:spcAft>
            </a:pPr>
            <a:r>
              <a:rPr sz="1350">
                <a:solidFill>
                  <a:srgbClr val="E2E8F0"/>
                </a:solidFill>
                <a:latin typeface="Consolas"/>
              </a:rPr>
              <a:t>  metadata {</a:t>
            </a:r>
          </a:p>
          <a:p>
            <a:pPr>
              <a:spcAft>
                <a:spcPts val="100"/>
              </a:spcAft>
            </a:pPr>
            <a:r>
              <a:rPr sz="1350">
                <a:solidFill>
                  <a:srgbClr val="E2E8F0"/>
                </a:solidFill>
                <a:latin typeface="Consolas"/>
              </a:rPr>
              <a:t>    domain: "Ciências"    topic: "ecossistemas"</a:t>
            </a:r>
          </a:p>
          <a:p>
            <a:pPr>
              <a:spcAft>
                <a:spcPts val="100"/>
              </a:spcAft>
            </a:pPr>
            <a:r>
              <a:rPr sz="1350">
                <a:solidFill>
                  <a:srgbClr val="E2E8F0"/>
                </a:solidFill>
                <a:latin typeface="Consolas"/>
              </a:rPr>
              <a:t>    bloom: Analisar       age_range: "12-14"</a:t>
            </a:r>
          </a:p>
          <a:p>
            <a:pPr>
              <a:spcAft>
                <a:spcPts val="100"/>
              </a:spcAft>
            </a:pPr>
            <a:r>
              <a:rPr sz="1350">
                <a:solidFill>
                  <a:srgbClr val="E2E8F0"/>
                </a:solidFill>
                <a:latin typeface="Consolas"/>
              </a:rPr>
              <a:t>    duration: 30          players: 4</a:t>
            </a:r>
          </a:p>
          <a:p>
            <a:pPr>
              <a:spcAft>
                <a:spcPts val="100"/>
              </a:spcAft>
            </a:pPr>
            <a:r>
              <a:rPr sz="1350">
                <a:solidFill>
                  <a:srgbClr val="E2E8F0"/>
                </a:solidFill>
                <a:latin typeface="Consolas"/>
              </a:rPr>
              <a:t>  }</a:t>
            </a:r>
          </a:p>
          <a:p>
            <a:pPr>
              <a:spcAft>
                <a:spcPts val="100"/>
              </a:spcAft>
            </a:pPr>
            <a:r>
              <a:rPr sz="1350">
                <a:solidFill>
                  <a:srgbClr val="E2E8F0"/>
                </a:solidFill>
                <a:latin typeface="Consolas"/>
              </a:rPr>
              <a:t>  objective obj1 {</a:t>
            </a:r>
          </a:p>
          <a:p>
            <a:pPr>
              <a:spcAft>
                <a:spcPts val="100"/>
              </a:spcAft>
            </a:pPr>
            <a:r>
              <a:rPr sz="1350">
                <a:solidFill>
                  <a:srgbClr val="E2E8F0"/>
                </a:solidFill>
                <a:latin typeface="Consolas"/>
              </a:rPr>
              <a:t>    description: "Identificar relações ecológicas"</a:t>
            </a:r>
          </a:p>
          <a:p>
            <a:pPr>
              <a:spcAft>
                <a:spcPts val="100"/>
              </a:spcAft>
            </a:pPr>
            <a:r>
              <a:rPr sz="1350">
                <a:solidFill>
                  <a:srgbClr val="E2E8F0"/>
                </a:solidFill>
                <a:latin typeface="Consolas"/>
              </a:rPr>
              <a:t>    bloom: Analisar</a:t>
            </a:r>
          </a:p>
          <a:p>
            <a:pPr>
              <a:spcAft>
                <a:spcPts val="100"/>
              </a:spcAft>
            </a:pPr>
            <a:r>
              <a:rPr sz="1350">
                <a:solidFill>
                  <a:srgbClr val="E2E8F0"/>
                </a:solidFill>
                <a:latin typeface="Consolas"/>
              </a:rPr>
              <a:t>  }</a:t>
            </a:r>
          </a:p>
          <a:p>
            <a:pPr>
              <a:spcAft>
                <a:spcPts val="100"/>
              </a:spcAft>
            </a:pPr>
            <a:r>
              <a:rPr sz="1350">
                <a:solidFill>
                  <a:srgbClr val="E2E8F0"/>
                </a:solidFill>
                <a:latin typeface="Consolas"/>
              </a:rPr>
              <a:t>  mechanic trilha_eco {</a:t>
            </a:r>
          </a:p>
          <a:p>
            <a:pPr>
              <a:spcAft>
                <a:spcPts val="100"/>
              </a:spcAft>
            </a:pPr>
            <a:r>
              <a:rPr sz="1350">
                <a:solidFill>
                  <a:srgbClr val="E2E8F0"/>
                </a:solidFill>
                <a:latin typeface="Consolas"/>
              </a:rPr>
              <a:t>    type: trilha    bloom: Analisar</a:t>
            </a:r>
          </a:p>
          <a:p>
            <a:pPr>
              <a:spcAft>
                <a:spcPts val="100"/>
              </a:spcAft>
            </a:pPr>
            <a:r>
              <a:rPr sz="1350">
                <a:solidFill>
                  <a:srgbClr val="E2E8F0"/>
                </a:solidFill>
                <a:latin typeface="Consolas"/>
              </a:rPr>
              <a:t>    addresses: obj1</a:t>
            </a:r>
          </a:p>
          <a:p>
            <a:pPr>
              <a:spcAft>
                <a:spcPts val="100"/>
              </a:spcAft>
            </a:pPr>
            <a:r>
              <a:rPr sz="1350">
                <a:solidFill>
                  <a:srgbClr val="E2E8F0"/>
                </a:solidFill>
                <a:latin typeface="Consolas"/>
              </a:rPr>
              <a:t>    params { spaces: 36  questions: 18  players: 4 }</a:t>
            </a:r>
          </a:p>
          <a:p>
            <a:pPr>
              <a:spcAft>
                <a:spcPts val="100"/>
              </a:spcAft>
            </a:pPr>
            <a:r>
              <a:rPr sz="1350">
                <a:solidFill>
                  <a:srgbClr val="E2E8F0"/>
                </a:solidFill>
                <a:latin typeface="Consolas"/>
              </a:rPr>
              <a:t>  }</a:t>
            </a:r>
          </a:p>
          <a:p>
            <a:pPr>
              <a:spcAft>
                <a:spcPts val="100"/>
              </a:spcAft>
            </a:pPr>
            <a:r>
              <a:rPr sz="1350">
                <a:solidFill>
                  <a:srgbClr val="E2E8F0"/>
                </a:solidFill>
                <a:latin typeface="Consolas"/>
              </a:rPr>
              <a:t>  gdc {</a:t>
            </a:r>
          </a:p>
          <a:p>
            <a:pPr>
              <a:spcAft>
                <a:spcPts val="100"/>
              </a:spcAft>
            </a:pPr>
            <a:r>
              <a:rPr sz="1350">
                <a:solidFill>
                  <a:srgbClr val="E2E8F0"/>
                </a:solidFill>
                <a:latin typeface="Consolas"/>
              </a:rPr>
              <a:t>    mechanics: "trilha com perguntas sobre ecologia"</a:t>
            </a:r>
          </a:p>
          <a:p>
            <a:pPr>
              <a:spcAft>
                <a:spcPts val="100"/>
              </a:spcAft>
            </a:pPr>
            <a:r>
              <a:rPr sz="1350">
                <a:solidFill>
                  <a:srgbClr val="E2E8F0"/>
                </a:solidFill>
                <a:latin typeface="Consolas"/>
              </a:rPr>
              <a:t>    dynamics: "competição cooperativa por bioma"</a:t>
            </a:r>
          </a:p>
          <a:p>
            <a:pPr>
              <a:spcAft>
                <a:spcPts val="100"/>
              </a:spcAft>
            </a:pPr>
            <a:r>
              <a:rPr sz="1350">
                <a:solidFill>
                  <a:srgbClr val="E2E8F0"/>
                </a:solidFill>
                <a:latin typeface="Consolas"/>
              </a:rPr>
              <a:t>    aesthetics: "descoberta e exploração"</a:t>
            </a:r>
          </a:p>
          <a:p>
            <a:pPr>
              <a:spcAft>
                <a:spcPts val="100"/>
              </a:spcAft>
            </a:pPr>
            <a:r>
              <a:rPr sz="1350">
                <a:solidFill>
                  <a:srgbClr val="E2E8F0"/>
                </a:solidFill>
                <a:latin typeface="Consolas"/>
              </a:rPr>
              <a:t>  }</a:t>
            </a:r>
          </a:p>
          <a:p>
            <a:pPr>
              <a:spcAft>
                <a:spcPts val="100"/>
              </a:spcAft>
            </a:pPr>
            <a:r>
              <a:rPr sz="1350">
                <a:solidFill>
                  <a:srgbClr val="E2E8F0"/>
                </a:solidFill>
                <a:latin typeface="Consolas"/>
              </a:rPr>
              <a:t>}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09560" y="1325880"/>
            <a:ext cx="3566160" cy="484632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  <a:effectLst>
            <a:outerShdw blurRad="60000" dist="25000" dir="5400000" rotWithShape="0">
              <a:srgbClr val="1E293B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92440" y="1463040"/>
            <a:ext cx="320040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4F46E5"/>
                </a:solidFill>
                <a:latin typeface="Calibri"/>
              </a:rPr>
              <a:t>Saída gerada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92440" y="1965960"/>
            <a:ext cx="3200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</a:pPr>
            <a:r>
              <a:rPr sz="1300" b="1">
                <a:solidFill>
                  <a:srgbClr val="4F46E5"/>
                </a:solidFill>
                <a:latin typeface="Calibri"/>
              </a:rPr>
              <a:t>▸  </a:t>
            </a:r>
            <a:r>
              <a:rPr sz="1300">
                <a:solidFill>
                  <a:srgbClr val="1E293B"/>
                </a:solidFill>
                <a:latin typeface="Calibri"/>
              </a:rPr>
              <a:t>HTML5 auto-contido (~55 KB)</a:t>
            </a:r>
          </a:p>
          <a:p>
            <a:pPr algn="l">
              <a:spcAft>
                <a:spcPts val="900"/>
              </a:spcAft>
            </a:pPr>
            <a:r>
              <a:rPr sz="1300" b="1">
                <a:solidFill>
                  <a:srgbClr val="4F46E5"/>
                </a:solidFill>
                <a:latin typeface="Calibri"/>
              </a:rPr>
              <a:t>▸  </a:t>
            </a:r>
            <a:r>
              <a:rPr sz="1300">
                <a:solidFill>
                  <a:srgbClr val="1E293B"/>
                </a:solidFill>
                <a:latin typeface="Calibri"/>
              </a:rPr>
              <a:t>Jogo de trilha com 18 perguntas</a:t>
            </a:r>
          </a:p>
          <a:p>
            <a:pPr algn="l">
              <a:spcAft>
                <a:spcPts val="900"/>
              </a:spcAft>
            </a:pPr>
            <a:r>
              <a:rPr sz="1300" b="1">
                <a:solidFill>
                  <a:srgbClr val="4F46E5"/>
                </a:solidFill>
                <a:latin typeface="Calibri"/>
              </a:rPr>
              <a:t>▸  </a:t>
            </a:r>
            <a:r>
              <a:rPr sz="1300">
                <a:solidFill>
                  <a:srgbClr val="1E293B"/>
                </a:solidFill>
                <a:latin typeface="Calibri"/>
              </a:rPr>
              <a:t>4 jogadores com dados virtuais</a:t>
            </a:r>
          </a:p>
          <a:p>
            <a:pPr algn="l">
              <a:spcAft>
                <a:spcPts val="900"/>
              </a:spcAft>
            </a:pPr>
            <a:r>
              <a:rPr sz="1300" b="1">
                <a:solidFill>
                  <a:srgbClr val="4F46E5"/>
                </a:solidFill>
                <a:latin typeface="Calibri"/>
              </a:rPr>
              <a:t>▸  </a:t>
            </a:r>
            <a:r>
              <a:rPr sz="1300">
                <a:solidFill>
                  <a:srgbClr val="1E293B"/>
                </a:solidFill>
                <a:latin typeface="Calibri"/>
              </a:rPr>
              <a:t>Banco de questões de ecossistemas</a:t>
            </a:r>
          </a:p>
          <a:p>
            <a:pPr algn="l">
              <a:spcAft>
                <a:spcPts val="900"/>
              </a:spcAft>
            </a:pPr>
            <a:r>
              <a:rPr sz="1300" b="1">
                <a:solidFill>
                  <a:srgbClr val="4F46E5"/>
                </a:solidFill>
                <a:latin typeface="Calibri"/>
              </a:rPr>
              <a:t>▸  </a:t>
            </a:r>
            <a:r>
              <a:rPr sz="1300">
                <a:solidFill>
                  <a:srgbClr val="1E293B"/>
                </a:solidFill>
                <a:latin typeface="Calibri"/>
              </a:rPr>
              <a:t>Traceabilidade obj1 ↔ trilha_eco</a:t>
            </a:r>
          </a:p>
          <a:p>
            <a:pPr algn="l">
              <a:spcAft>
                <a:spcPts val="900"/>
              </a:spcAft>
            </a:pPr>
            <a:r>
              <a:rPr sz="1300" b="1">
                <a:solidFill>
                  <a:srgbClr val="4F46E5"/>
                </a:solidFill>
                <a:latin typeface="Calibri"/>
              </a:rPr>
              <a:t>▸  </a:t>
            </a:r>
            <a:r>
              <a:rPr sz="1300">
                <a:solidFill>
                  <a:srgbClr val="1E293B"/>
                </a:solidFill>
                <a:latin typeface="Calibri"/>
              </a:rPr>
              <a:t>Rastreabilidade PDF exportável</a:t>
            </a:r>
          </a:p>
          <a:p>
            <a:pPr algn="l">
              <a:spcAft>
                <a:spcPts val="900"/>
              </a:spcAft>
            </a:pPr>
            <a:r>
              <a:rPr sz="1300" b="1">
                <a:solidFill>
                  <a:srgbClr val="4F46E5"/>
                </a:solidFill>
                <a:latin typeface="Calibri"/>
              </a:rPr>
              <a:t>▸  </a:t>
            </a:r>
            <a:r>
              <a:rPr sz="1300">
                <a:solidFill>
                  <a:srgbClr val="1E293B"/>
                </a:solidFill>
                <a:latin typeface="Calibri"/>
              </a:rPr>
              <a:t>Acesso via /boardgame/&lt;id&gt;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105156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09728"/>
            <a:ext cx="10607040" cy="8686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817CF0"/>
                </a:solidFill>
                <a:latin typeface="Calibri"/>
              </a:rPr>
              <a:t>SÍNTESE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Calibri"/>
              </a:rPr>
              <a:t>Conclusão e próximos passos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65392"/>
            <a:ext cx="960120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Endo-DSL · PESC/COPPE/UFRJ · Caio Azeredo ·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565392"/>
            <a:ext cx="73152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4F46E5"/>
                </a:solidFill>
                <a:latin typeface="Calibri"/>
              </a:rPr>
              <a:t>41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417320"/>
            <a:ext cx="676656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800" b="1">
                <a:solidFill>
                  <a:srgbClr val="4F46E5"/>
                </a:solidFill>
                <a:latin typeface="Calibri"/>
              </a:rPr>
              <a:t>▸  </a:t>
            </a:r>
            <a:r>
              <a:rPr sz="1800">
                <a:solidFill>
                  <a:srgbClr val="1E293B"/>
                </a:solidFill>
                <a:latin typeface="Calibri"/>
              </a:rPr>
              <a:t>A Endo-DSL integra DSL pedagógica verificável, geração RAG+LLM ancorada e avaliação comparável num único ciclo rastreável.</a:t>
            </a:r>
          </a:p>
          <a:p>
            <a:pPr algn="l">
              <a:spcAft>
                <a:spcPts val="1200"/>
              </a:spcAft>
            </a:pPr>
            <a:r>
              <a:rPr sz="1800" b="1">
                <a:solidFill>
                  <a:srgbClr val="4F46E5"/>
                </a:solidFill>
                <a:latin typeface="Calibri"/>
              </a:rPr>
              <a:t>▸  </a:t>
            </a:r>
            <a:r>
              <a:rPr sz="1800">
                <a:solidFill>
                  <a:srgbClr val="1E293B"/>
                </a:solidFill>
                <a:latin typeface="Calibri"/>
              </a:rPr>
              <a:t>A prova de conceito demonstra viabilidade técnica de ponta a ponta (do contexto ao protótipo HTML5 executável).</a:t>
            </a:r>
          </a:p>
          <a:p>
            <a:pPr algn="l">
              <a:spcAft>
                <a:spcPts val="1200"/>
              </a:spcAft>
            </a:pPr>
            <a:r>
              <a:rPr sz="1800" b="1">
                <a:solidFill>
                  <a:srgbClr val="4F46E5"/>
                </a:solidFill>
                <a:latin typeface="Calibri"/>
              </a:rPr>
              <a:t>▸  </a:t>
            </a:r>
            <a:r>
              <a:rPr sz="1800">
                <a:solidFill>
                  <a:srgbClr val="1E293B"/>
                </a:solidFill>
                <a:latin typeface="Calibri"/>
              </a:rPr>
              <a:t>Próximo passo imediato: consolidar a biblioteca de componentes e o pipeline multi-agente para o estudo experimental.</a:t>
            </a:r>
          </a:p>
          <a:p>
            <a:pPr algn="l">
              <a:spcAft>
                <a:spcPts val="1200"/>
              </a:spcAft>
            </a:pPr>
            <a:r>
              <a:rPr sz="1800" b="1">
                <a:solidFill>
                  <a:srgbClr val="4F46E5"/>
                </a:solidFill>
                <a:latin typeface="Calibri"/>
              </a:rPr>
              <a:t>▸  </a:t>
            </a:r>
            <a:r>
              <a:rPr sz="1800">
                <a:solidFill>
                  <a:srgbClr val="1E293B"/>
                </a:solidFill>
                <a:latin typeface="Calibri"/>
              </a:rPr>
              <a:t>A seguir: conduzir a avaliação auto×manual com avaliadores cegos e testar as hipóteses (sobretudo H4).</a:t>
            </a:r>
          </a:p>
          <a:p>
            <a:pPr algn="l">
              <a:spcAft>
                <a:spcPts val="1200"/>
              </a:spcAft>
            </a:pPr>
            <a:r>
              <a:rPr sz="1800" b="1">
                <a:solidFill>
                  <a:srgbClr val="4F46E5"/>
                </a:solidFill>
                <a:latin typeface="Calibri"/>
              </a:rPr>
              <a:t>▸  </a:t>
            </a:r>
            <a:r>
              <a:rPr sz="1800">
                <a:solidFill>
                  <a:srgbClr val="1E293B"/>
                </a:solidFill>
                <a:latin typeface="Calibri"/>
              </a:rPr>
              <a:t>Finalmente: análise estatística, refinamento do instrumento e redação da tese.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89520" y="1325880"/>
            <a:ext cx="4096512" cy="45720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  <a:effectLst>
            <a:outerShdw blurRad="60000" dist="25000" dir="5400000" rotWithShape="0">
              <a:srgbClr val="1E293B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589520" y="1325880"/>
            <a:ext cx="4096512" cy="54864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18120" y="1325880"/>
            <a:ext cx="3639312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Roadmap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18120" y="2011680"/>
            <a:ext cx="3639312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>
                <a:solidFill>
                  <a:srgbClr val="F8FAFC"/>
                </a:solidFill>
                <a:latin typeface="Calibri"/>
              </a:rPr>
              <a:t>• Consolidar biblioteca/RAG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F8FAFC"/>
                </a:solidFill>
                <a:latin typeface="Calibri"/>
              </a:rPr>
              <a:t>• Maturar pipeline multi-agente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F8FAFC"/>
                </a:solidFill>
                <a:latin typeface="Calibri"/>
              </a:rPr>
              <a:t>• Estudo experimental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F8FAFC"/>
                </a:solidFill>
                <a:latin typeface="Calibri"/>
              </a:rPr>
              <a:t>• Testar hipóteses (H4)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F8FAFC"/>
                </a:solidFill>
                <a:latin typeface="Calibri"/>
              </a:rPr>
              <a:t>• Redação e defesa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105156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09728"/>
            <a:ext cx="10607040" cy="8686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817CF0"/>
                </a:solidFill>
                <a:latin typeface="Calibri"/>
              </a:rPr>
              <a:t>SELEÇÃO (A EXPANDIR NA TESE)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Calibri"/>
              </a:rPr>
              <a:t>Referências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65392"/>
            <a:ext cx="960120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Endo-DSL · PESC/COPPE/UFRJ · Caio Azeredo ·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565392"/>
            <a:ext cx="73152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4F46E5"/>
                </a:solidFill>
                <a:latin typeface="Calibri"/>
              </a:rPr>
              <a:t>42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325880"/>
            <a:ext cx="11183112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50">
                <a:solidFill>
                  <a:srgbClr val="1E293B"/>
                </a:solidFill>
                <a:latin typeface="Calibri"/>
              </a:rPr>
              <a:t>▸  Anderson, L. W. &amp; Krathwohl, D. R. (2001). A Taxonomy for Learning, Teaching, and Assessing: A Revision of Bloom's Taxonomy.</a:t>
            </a:r>
          </a:p>
          <a:p>
            <a:pPr>
              <a:spcAft>
                <a:spcPts val="1000"/>
              </a:spcAft>
            </a:pPr>
            <a:r>
              <a:rPr sz="1450">
                <a:solidFill>
                  <a:srgbClr val="1E293B"/>
                </a:solidFill>
                <a:latin typeface="Calibri"/>
              </a:rPr>
              <a:t>▸  Fowler, M. (2010). Domain-Specific Languages. Addison-Wesley.</a:t>
            </a:r>
          </a:p>
          <a:p>
            <a:pPr>
              <a:spcAft>
                <a:spcPts val="1000"/>
              </a:spcAft>
            </a:pPr>
            <a:r>
              <a:rPr sz="1450">
                <a:solidFill>
                  <a:srgbClr val="1E293B"/>
                </a:solidFill>
                <a:latin typeface="Calibri"/>
              </a:rPr>
              <a:t>▸  Mernik, M., Heering, J. &amp; Sloane, A. M. (2005). When and how to develop domain-specific languages. ACM Computing Surveys.</a:t>
            </a:r>
          </a:p>
          <a:p>
            <a:pPr>
              <a:spcAft>
                <a:spcPts val="1000"/>
              </a:spcAft>
            </a:pPr>
            <a:r>
              <a:rPr sz="1450">
                <a:solidFill>
                  <a:srgbClr val="1E293B"/>
                </a:solidFill>
                <a:latin typeface="Calibri"/>
              </a:rPr>
              <a:t>▸  Habgood, M. P. J. &amp; Ainsworth, S. E. (2011). Motivating children to learn effectively: exploring the value of intrinsic integration. JLS.</a:t>
            </a:r>
          </a:p>
          <a:p>
            <a:pPr>
              <a:spcAft>
                <a:spcPts val="1000"/>
              </a:spcAft>
            </a:pPr>
            <a:r>
              <a:rPr sz="1450">
                <a:solidFill>
                  <a:srgbClr val="1E293B"/>
                </a:solidFill>
                <a:latin typeface="Calibri"/>
              </a:rPr>
              <a:t>▸  Lewis, P. et al. (2020). Retrieval-Augmented Generation for Knowledge-Intensive NLP Tasks. NeurIPS.</a:t>
            </a:r>
          </a:p>
          <a:p>
            <a:pPr>
              <a:spcAft>
                <a:spcPts val="1000"/>
              </a:spcAft>
            </a:pPr>
            <a:r>
              <a:rPr sz="1450">
                <a:solidFill>
                  <a:srgbClr val="1E293B"/>
                </a:solidFill>
                <a:latin typeface="Calibri"/>
              </a:rPr>
              <a:t>▸  Petri, G. &amp; von Wangenheim, C. G. (2017). MEEGA+: an evolution of a model for the evaluation of educational games. INCoD/UFSC.</a:t>
            </a:r>
          </a:p>
          <a:p>
            <a:pPr>
              <a:spcAft>
                <a:spcPts val="1000"/>
              </a:spcAft>
            </a:pPr>
            <a:r>
              <a:rPr sz="1450">
                <a:solidFill>
                  <a:srgbClr val="1E293B"/>
                </a:solidFill>
                <a:latin typeface="Calibri"/>
              </a:rPr>
              <a:t>▸  Hevner, A. R. et al. (2004). Design Science in Information Systems Research. MIS Quarterly.</a:t>
            </a:r>
          </a:p>
          <a:p>
            <a:pPr>
              <a:spcAft>
                <a:spcPts val="1000"/>
              </a:spcAft>
            </a:pPr>
            <a:r>
              <a:rPr sz="1450">
                <a:solidFill>
                  <a:srgbClr val="1E293B"/>
                </a:solidFill>
                <a:latin typeface="Calibri"/>
              </a:rPr>
              <a:t>▸  Plass, J. L., Homer, B. D. &amp; Kinzer, C. K. (2015). Foundations of Game-Based Learning. Educational Psychologist.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5897880"/>
            <a:ext cx="11183112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1">
                <a:solidFill>
                  <a:srgbClr val="64748B"/>
                </a:solidFill>
                <a:latin typeface="Calibri"/>
              </a:rPr>
              <a:t>Lista ilustrativa; a revisão sistemática completa integra o Capítulo 3 da tese.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931920"/>
            <a:ext cx="12191695" cy="73152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194560"/>
            <a:ext cx="10515600" cy="1463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5600" b="1" i="0">
                <a:solidFill>
                  <a:srgbClr val="FFFFFF"/>
                </a:solidFill>
                <a:latin typeface="Calibri"/>
              </a:rPr>
              <a:t>Obrigado.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2400" b="0" i="0">
                <a:solidFill>
                  <a:srgbClr val="817CF0"/>
                </a:solidFill>
                <a:latin typeface="Calibri"/>
              </a:rPr>
              <a:t>Perguntas e discussão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206240"/>
            <a:ext cx="10515600" cy="1463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Caio Azeredo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94A3B8"/>
                </a:solidFill>
                <a:latin typeface="Calibri"/>
              </a:rPr>
              <a:t>caiosazeredo@cos.ufrj.br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94A3B8"/>
                </a:solidFill>
                <a:latin typeface="Calibri"/>
              </a:rPr>
              <a:t>PESC — COPPE/UFRJ · Exame de Qualificação ·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309360"/>
            <a:ext cx="105156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817CF0"/>
                </a:solidFill>
                <a:latin typeface="Calibri"/>
              </a:rPr>
              <a:t>Endo-DSL · PESC/COPPE/UFRJ · Caio Azeredo ·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