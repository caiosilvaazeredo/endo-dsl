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91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36576"/>
          </a:xfrm>
          <a:prstGeom prst="rect">
            <a:avLst/>
          </a:prstGeom>
          <a:solidFill>
            <a:srgbClr val="8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822960"/>
            <a:ext cx="420624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EXAME DE QUALIFICAÇÃO · DOUTORADO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Endo-DSL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817CF0"/>
                </a:solidFill>
                <a:latin typeface="Calibri"/>
              </a:rPr>
              <a:t>Geração semiautomática de jogos educativos HTML5 a partir de uma DSL estruturada pela Taxonomia de Bloom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BD5E1"/>
                </a:solidFill>
                <a:latin typeface="Calibri"/>
              </a:rPr>
              <a:t>Doutorando: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Caio Azeredo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BD5E1"/>
                </a:solidFill>
                <a:latin typeface="Calibri"/>
              </a:rPr>
              <a:t>Orientador(a): </a:t>
            </a:r>
            <a:r>
              <a:rPr sz="1800" b="0" i="1">
                <a:solidFill>
                  <a:srgbClr val="FFFFFF"/>
                </a:solidFill>
                <a:latin typeface="Calibri"/>
              </a:rPr>
              <a:t>[Prof(a). Orientador(a)]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PESC — Programa de Engenharia de Sistemas e Computação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COPPE / Universidade Federal do Rio de Janeiro —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817CF0"/>
                </a:solidFill>
                <a:latin typeface="Calibri"/>
              </a:rPr>
              <a:t>Rio de Janeiro ·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ROTEIRO DA APRESENTAÇÃO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" y="160020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7218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Contexto &amp; Problema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Motivação, lacuna de autoria, questões e hipóteses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32588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132588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01384" y="160020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34072" y="147218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Objetivos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Objetivo geral e objetivos específicos da tese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60604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0604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" y="288036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275234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Fundamentação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DSLs · Bloom · design endógeno · RAG+LLM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260604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5352" y="260604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1384" y="288036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2" y="275234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Trabalhos relacionados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Estado da arte e lacuna identificada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8620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8620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8952" y="416052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403250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Proposta Endo-DSL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Arquitetura de 5 módulos e seus papéis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388620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388620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01384" y="416052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403250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Jornada &amp; Estudo de caso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Fluxo do usuário e 'Comparando Frações'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16636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16636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58952" y="544068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1640" y="531266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Metodologia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Design Science Research e protocolo experimental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45352" y="5166360"/>
            <a:ext cx="5440680" cy="107899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45352" y="5166360"/>
            <a:ext cx="109728" cy="10789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501384" y="5440680"/>
            <a:ext cx="777240" cy="5303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34072" y="5312664"/>
            <a:ext cx="406908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Resultados &amp; Cronograma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Prova de conceito, contribuições e plano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JOGOS EDUCATIVOS &amp; AUTORIA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Contexto e motivação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Jogos digitais educativos têm eficácia comprovada para engajamento e aprendizagem ativa, mas seu desenvolvimento é caro e especializado.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Existe um abismo de autoria: educadores dominam o conteúdo, porém não programam; programadores não dominam a intenção pedagógica.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Ferramentas atuais focam estética e mecânica, raramente garantindo alinhamento explícito com objetivos cognitivos de aprendizagem.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Resultado frequente: jogos com 'conteúdo justaposto' — perguntas coladas sobre uma mecânica genérica, sem endogeneidade.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Oportunidade: LLMs e RAG viabilizam geração assistida, desde que ancorada em um artefato formal verificável.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Sintomas do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Custo e tempo de desenvolvimento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Falta de ponte conteúdo↔código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Ausência de garantia pedagógica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Conteúdo justaposto à mecânica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LLM sem âncora formal = alucinação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ENUNCIADO CENTRAL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Problema de pesquisa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11183112" cy="17373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146304" cy="17373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08760"/>
            <a:ext cx="10268712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1">
                <a:solidFill>
                  <a:srgbClr val="FFFFFF"/>
                </a:solidFill>
                <a:latin typeface="Calibri"/>
              </a:rPr>
              <a:t>“Como permitir que educadores especifiquem jogos educativos pedagogicamente alinhados — e os gerem automaticamente como protótipos executáveis — sem dominar programação, preservando a rastreabilidade cognitiva e a endogeneidade?”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111831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Desafio 1 — Expressividade vs. simplicidade: uma linguagem acessível, porém formal e verificável.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Desafio 2 — Garantia pedagógica: o nível de Bloom deve ser um construto verificável, não um rótulo decorativo.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Desafio 3 — Geração confiável: LLM ancorado por gramática, biblioteca e validação iterativa (anti-alucinação).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Desafio 4 — Avaliação comparável: medir qualidade de protótipos automáticos vs. manuais com o mesmo instrumento.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QP1 – QP4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Questões de pesquisa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40680" cy="22402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544068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472184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417320"/>
            <a:ext cx="39776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Expressividade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48840"/>
            <a:ext cx="489204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Uma DSL guiada por Bloom consegue expressar jogos educativos endógenos de forma acessível a não-programadores?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325880"/>
            <a:ext cx="5440680" cy="22402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1325880"/>
            <a:ext cx="544068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73952" y="1472184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1417320"/>
            <a:ext cx="39776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Verificabilidade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148840"/>
            <a:ext cx="489204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É possível verificar automaticamente o alinhamento pedagógico (sintático e semântico) de uma especificação?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40480"/>
            <a:ext cx="5440680" cy="22402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544068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3986784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QP3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39776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Geração assistida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63440"/>
            <a:ext cx="489204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Um pipeline RAG+LLM multi-agente, ancorado na DSL, gera especificações válidas e pedagogicamente coerentes?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840480"/>
            <a:ext cx="5440680" cy="22402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840480"/>
            <a:ext cx="544068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73952" y="3986784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QP4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232" y="3931920"/>
            <a:ext cx="39776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Qualidade comparada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663440"/>
            <a:ext cx="489204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Protótipos gerados automaticamente alcançam qualidade pedagógica comparável aos desenvolvidos manualmente?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CONJECTURAS VERIFICÁVEIS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Hipóteses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H1 — Uma DSL declarativa com Bloom como construto de primeira classe torna a intenção pedagógica explícita e verificável estaticamente.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H2 — A validação semântica (matriz de afinidade Bloom×mecânica) detecta incoerências cognitivas antes da compilação.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H3 — Um pipeline multi-agente com refinamento iterativo eleva a taxa de especificações válidas na primeira tentativa.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H4 — Protótipos automáticos não apresentam diferença significativa de qualidade pedagógica frente a protótipos manuais (instrumento de 7-D).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H5 — A reparametrização de domínio preserva a coerência pedagógica do protótipo, evidenciando endogeneidade estrutural.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Mapa hipótese→QP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H1 → QP1 (expressividade)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H2 → QP2 (verificabilidade)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H3 → QP3 (geração)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H4 → QP4 (qualidade)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H5 → endogeneidade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GERAL E ESPECÍFICOS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146304" cy="1143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35608"/>
            <a:ext cx="10360152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17CF0"/>
                </a:solidFill>
                <a:latin typeface="Calibri"/>
              </a:rPr>
              <a:t>OBJETIVO GERAL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Conceber, implementar e avaliar a plataforma Endo-DSL: uma DSL guiada por Bloom e um pipeline RAG+LLM que geram protótipos de jogos educativos HTML5 pedagogicamente alinhados e rastreáveis.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11831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OE1 — Projetar a DSL e sua gramática EBNF com Bloom como construto de 1ª classe.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OE2 — Implementar parser, validação sintática e semântica (matriz de afinidade).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OE3 — Construir a biblioteca curada de componentes pedagógicos (RAG).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OE4 — Desenvolver o pipeline multi-agente recuperar→gerar→validar→refinar.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OE5 — Implementar o compilador DSL→HTML5 autocontido e a reparametrização.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OE6 — Definir e aplicar o instrumento de avaliação pedagógica de 7 dimensões.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LINGUAGENS DE DOMÍNIO ESPECÍFICO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Fundamentação — DSLs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DSL: linguagem com expressividade restrita a um domínio, ganhando clareza, verificabilidade e produtividade frente a linguagens de propósito geral.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DSLs externas possuem sintaxe própria e parser dedicado — caso da Endo-DSL (gramática EBNF + parser recursivo descendente).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Vantagem central: aproximam a notação do vocabulário do especialista do domínio (aqui, o educador).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Permitem análise estática: erros de coerência são detectados antes da execução, viabilizando garantias.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Tensão de projeto: expressividade × acessibilidade — resolvida com limites explícitos de gramática (RF06).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Na Endo-DSL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EBNF (ISO/IEC 14977)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Parser recursivo descendente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Análise estática de coerência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Notação próxima do educador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Limites de gramática explícitos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SEIS NÍVEIS COGNITIVOS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Fundamentação — Taxonomia de Bloom revisada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9</a:t>
            </a:r>
          </a:p>
        </p:txBody>
      </p:sp>
      <p:sp>
        <p:nvSpPr>
          <p:cNvPr id="10" name="Trapezoid 9"/>
          <p:cNvSpPr/>
          <p:nvPr/>
        </p:nvSpPr>
        <p:spPr>
          <a:xfrm rot="10800000">
            <a:off x="5577840" y="1508760"/>
            <a:ext cx="1737360" cy="749808"/>
          </a:xfrm>
          <a:prstGeom prst="trapezoi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Criar</a:t>
            </a:r>
          </a:p>
        </p:txBody>
      </p:sp>
      <p:sp>
        <p:nvSpPr>
          <p:cNvPr id="11" name="Trapezoid 10"/>
          <p:cNvSpPr/>
          <p:nvPr/>
        </p:nvSpPr>
        <p:spPr>
          <a:xfrm rot="10800000">
            <a:off x="5184648" y="2258568"/>
            <a:ext cx="2523744" cy="749808"/>
          </a:xfrm>
          <a:prstGeom prst="trapezoid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Avaliar</a:t>
            </a:r>
          </a:p>
        </p:txBody>
      </p:sp>
      <p:sp>
        <p:nvSpPr>
          <p:cNvPr id="12" name="Trapezoid 11"/>
          <p:cNvSpPr/>
          <p:nvPr/>
        </p:nvSpPr>
        <p:spPr>
          <a:xfrm rot="10800000">
            <a:off x="4791456" y="3008376"/>
            <a:ext cx="3310128" cy="749808"/>
          </a:xfrm>
          <a:prstGeom prst="trapezoid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Analisar</a:t>
            </a:r>
          </a:p>
        </p:txBody>
      </p:sp>
      <p:sp>
        <p:nvSpPr>
          <p:cNvPr id="13" name="Trapezoid 12"/>
          <p:cNvSpPr/>
          <p:nvPr/>
        </p:nvSpPr>
        <p:spPr>
          <a:xfrm rot="10800000">
            <a:off x="4398264" y="3758184"/>
            <a:ext cx="4096512" cy="749808"/>
          </a:xfrm>
          <a:prstGeom prst="trapezoid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Aplicar</a:t>
            </a:r>
          </a:p>
        </p:txBody>
      </p:sp>
      <p:sp>
        <p:nvSpPr>
          <p:cNvPr id="14" name="Trapezoid 13"/>
          <p:cNvSpPr/>
          <p:nvPr/>
        </p:nvSpPr>
        <p:spPr>
          <a:xfrm rot="10800000">
            <a:off x="4005072" y="4507992"/>
            <a:ext cx="4882896" cy="749808"/>
          </a:xfrm>
          <a:prstGeom prst="trapezoid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Compreender</a:t>
            </a:r>
          </a:p>
        </p:txBody>
      </p:sp>
      <p:sp>
        <p:nvSpPr>
          <p:cNvPr id="15" name="Trapezoid 14"/>
          <p:cNvSpPr/>
          <p:nvPr/>
        </p:nvSpPr>
        <p:spPr>
          <a:xfrm rot="10800000">
            <a:off x="3611880" y="5257800"/>
            <a:ext cx="5669280" cy="749808"/>
          </a:xfrm>
          <a:prstGeom prst="trapezoid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Lembrar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1508760"/>
            <a:ext cx="17647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F46E5"/>
                </a:solidFill>
                <a:latin typeface="Calibri"/>
              </a:rPr>
              <a:t>Verbos típicos por nível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1240" y="1965960"/>
            <a:ext cx="201168" cy="20116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92024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Lembrar: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identificar · reconhecer · listar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21240" y="2441448"/>
            <a:ext cx="201168" cy="20116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395728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Compreender: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explicar · classificar · resumir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21240" y="2916936"/>
            <a:ext cx="201168" cy="20116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871216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Aplicar: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usar · resolver · demonstrar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21240" y="3392424"/>
            <a:ext cx="201168" cy="201168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346704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Analisar: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comparar · diferenciar · organizar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21240" y="3867912"/>
            <a:ext cx="201168" cy="201168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3822192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Avaliar: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julgar · criticar · justificar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21240" y="4343400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29768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Criar: </a:t>
            </a:r>
            <a:r>
              <a:rPr sz="1200" b="0" i="0">
                <a:solidFill>
                  <a:srgbClr val="64748B"/>
                </a:solidFill>
                <a:latin typeface="Calibri"/>
              </a:rPr>
              <a:t>construir · planejar · produzir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97880"/>
            <a:ext cx="1118311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Na Endo-DSL, o nível de Bloom é exigível em objetivos, mecânicas e loops — construto de primeira classe (RF02).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APRENDER É JOGAR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Fundamentação — Game design endógeno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40680" cy="2377440"/>
          </a:xfrm>
          <a:prstGeom prst="roundRect">
            <a:avLst/>
          </a:prstGeom>
          <a:solidFill>
            <a:srgbClr val="FEF2F2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544068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25880"/>
            <a:ext cx="49834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✗  Exógeno (justaposto)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57400"/>
            <a:ext cx="4983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Conteúdo 'colado' sobre mecânica genérica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Recompensa externa ao aprendizado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Acertar a pergunta ≠ jogar bem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Exemplo: quiz sobre uma corrida de carro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325880"/>
            <a:ext cx="5440680" cy="237744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1325880"/>
            <a:ext cx="5440680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325880"/>
            <a:ext cx="49834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  Endógeno (integrado)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57400"/>
            <a:ext cx="4983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Conteúdo É a mecânica central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Vencer exige exercer a habilidade-alvo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Jogar bem = aprender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•  </a:t>
            </a:r>
            <a:r>
              <a:rPr sz="1400">
                <a:solidFill>
                  <a:srgbClr val="1E293B"/>
                </a:solidFill>
                <a:latin typeface="Calibri"/>
              </a:rPr>
              <a:t>Exemplo: comparar frações para avançar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69080"/>
            <a:ext cx="11183112" cy="1463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06240"/>
            <a:ext cx="104515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4F46E5"/>
                </a:solidFill>
                <a:latin typeface="Calibri"/>
              </a:rPr>
              <a:t>Princípio de projeto da Endo-DSL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A endogeneidade é uma dimensão avaliada explicitamente (instrumento de 7-D) e um critério de validação semântica: a mecânica deve operacionalizar o objetivo de aprendizagem declarado, não apenas acompanhá-lo.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GERAÇÃO ANCORADA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Fundamentação — RAG + LLM multi-agente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LLMs geram texto fluente, mas alucinam estrutura: sem âncora, produzem DSL sintaticamente inválida ou pedagogicamente incoerente.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RAG (Retrieval-Augmented Generation): recupera componentes curados da biblioteca e os injeta no contexto de geração.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Arquitetura multi-agente: papéis especializados (recuperar, gerar, validar, refinar) cooperam em um ciclo fechado.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Refinamento iterativo: erros do validador realimentam o gerador até convergir para uma especificação válida.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A gramática formal e a matriz de afinidade funcionam como 'guarda-corpo' verificável do LLM.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Pilares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Âncora formal (EBNF)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Recuperação curada (RAG)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Agentes especializados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Loop validar→refinar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Anti-alucinação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TABELA COMPARATIVA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Trabalhos relacionados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3200400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3200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Abordagem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417320"/>
            <a:ext cx="1417320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417320"/>
            <a:ext cx="1417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DSL
formal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417320"/>
            <a:ext cx="1554480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417320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Bloom
1ª classe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417320"/>
            <a:ext cx="1554480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417320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Geração
LLM/RAG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417320"/>
            <a:ext cx="1554480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417320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Compila
executável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417320"/>
            <a:ext cx="1783080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417320"/>
            <a:ext cx="17830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Avaliação
pedagógica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075688"/>
            <a:ext cx="3200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075688"/>
            <a:ext cx="3200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E293B"/>
                </a:solidFill>
                <a:latin typeface="Calibri"/>
              </a:rPr>
              <a:t>Engines de jogo (Unity/Godot)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075688"/>
            <a:ext cx="14173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2075688"/>
            <a:ext cx="1417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2075688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2075688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075688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075688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parcial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2075688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075688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080" y="2075688"/>
            <a:ext cx="1783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0" y="2075688"/>
            <a:ext cx="17830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734056"/>
            <a:ext cx="320040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2734056"/>
            <a:ext cx="3200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E293B"/>
                </a:solidFill>
                <a:latin typeface="Calibri"/>
              </a:rPr>
              <a:t>Autoria visual (Scratch, etc.)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2734056"/>
            <a:ext cx="141732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03320" y="2734056"/>
            <a:ext cx="1417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2734056"/>
            <a:ext cx="15544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2734056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0" y="2734056"/>
            <a:ext cx="15544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2734056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2734056"/>
            <a:ext cx="15544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2734056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80" y="2734056"/>
            <a:ext cx="17830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84080" y="2734056"/>
            <a:ext cx="17830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parcial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392424"/>
            <a:ext cx="3200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392424"/>
            <a:ext cx="3200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E293B"/>
                </a:solidFill>
                <a:latin typeface="Calibri"/>
              </a:rPr>
              <a:t>Game DSLs (PuzzleScript, Ceptre)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03320" y="3392424"/>
            <a:ext cx="14173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03320" y="3392424"/>
            <a:ext cx="1417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3392424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20640" y="3392424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20" y="3392424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0" y="3392424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392424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3392424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84080" y="3392424"/>
            <a:ext cx="1783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84080" y="3392424"/>
            <a:ext cx="17830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050792"/>
            <a:ext cx="320040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050792"/>
            <a:ext cx="3200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E293B"/>
                </a:solidFill>
                <a:latin typeface="Calibri"/>
              </a:rPr>
              <a:t>LLM-to-game (geração direta)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03320" y="4050792"/>
            <a:ext cx="141732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03320" y="4050792"/>
            <a:ext cx="1417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20640" y="4050792"/>
            <a:ext cx="15544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20640" y="4050792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75120" y="4050792"/>
            <a:ext cx="15544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5120" y="4050792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0" y="4050792"/>
            <a:ext cx="15544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0" y="4050792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parcial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784080" y="4050792"/>
            <a:ext cx="178308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4080" y="4050792"/>
            <a:ext cx="17830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709160"/>
            <a:ext cx="3200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4709160"/>
            <a:ext cx="3200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E293B"/>
                </a:solidFill>
                <a:latin typeface="Calibri"/>
              </a:rPr>
              <a:t>Frameworks de design pedagógico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4709160"/>
            <a:ext cx="14173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703320" y="4709160"/>
            <a:ext cx="1417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parcial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20640" y="4709160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20640" y="4709160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75120" y="4709160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5120" y="4709160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229600" y="4709160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0" y="4709160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84080" y="4709160"/>
            <a:ext cx="1783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784080" y="4709160"/>
            <a:ext cx="17830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5367528"/>
            <a:ext cx="3200400" cy="658368"/>
          </a:xfrm>
          <a:prstGeom prst="rect">
            <a:avLst/>
          </a:prstGeom>
          <a:solidFill>
            <a:srgbClr val="4F46E5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920" y="5367528"/>
            <a:ext cx="3200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Endo-DSL (esta proposta)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703320" y="5367528"/>
            <a:ext cx="1417320" cy="658368"/>
          </a:xfrm>
          <a:prstGeom prst="rect">
            <a:avLst/>
          </a:prstGeom>
          <a:solidFill>
            <a:srgbClr val="4F46E5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03320" y="5367528"/>
            <a:ext cx="1417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20640" y="5367528"/>
            <a:ext cx="1554480" cy="658368"/>
          </a:xfrm>
          <a:prstGeom prst="rect">
            <a:avLst/>
          </a:prstGeom>
          <a:solidFill>
            <a:srgbClr val="4F46E5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120640" y="5367528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75120" y="5367528"/>
            <a:ext cx="1554480" cy="658368"/>
          </a:xfrm>
          <a:prstGeom prst="rect">
            <a:avLst/>
          </a:prstGeom>
          <a:solidFill>
            <a:srgbClr val="4F46E5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75120" y="5367528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29600" y="5367528"/>
            <a:ext cx="1554480" cy="658368"/>
          </a:xfrm>
          <a:prstGeom prst="rect">
            <a:avLst/>
          </a:prstGeom>
          <a:solidFill>
            <a:srgbClr val="4F46E5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29600" y="5367528"/>
            <a:ext cx="1554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784080" y="5367528"/>
            <a:ext cx="1783080" cy="658368"/>
          </a:xfrm>
          <a:prstGeom prst="rect">
            <a:avLst/>
          </a:prstGeom>
          <a:solidFill>
            <a:srgbClr val="4F46E5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84080" y="5367528"/>
            <a:ext cx="17830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17336"/>
            <a:ext cx="1118311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Nenhuma abordagem reúne, simultaneamente, DSL formal, Bloom como construto de 1ª classe, geração RAG+LLM, compilação executável e avaliação pedagógica comparável.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POSICIONAMENTO DA CONTRIBUIÇÃO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Lacuna identificada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11183112" cy="12801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1026871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Não há uma plataforma que una uma DSL pedagógica verificável a um pipeline de geração ancorado e a uma avaliação comparável — fechando o ciclo intenção → especificação → protótipo → evidência.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111831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Game DSLs existem, mas ignoram a dimensão cognitiva (Bloom).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Geradores LLM existem, mas sem âncora formal nem garantia pedagógica.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Instrumentos pedagógicos existem, mas desacoplados da geração de artefatos.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A Endo-DSL integra os três eixos num único artefato rastreável e avaliável.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DO CONTEXTO AO PROTÓTIPO AVALIÁVEL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Visão geral da proposta Endo-DSL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2" y="1691640"/>
            <a:ext cx="1874519" cy="12801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Contexto
educacional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14601" y="2331720"/>
            <a:ext cx="384048" cy="0"/>
          </a:xfrm>
          <a:prstGeom prst="line">
            <a:avLst/>
          </a:prstGeom>
          <a:ln w="28575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98649" y="1691640"/>
            <a:ext cx="1874519" cy="12801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DSL guiada
por Bloom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73168" y="2331720"/>
            <a:ext cx="384048" cy="0"/>
          </a:xfrm>
          <a:prstGeom prst="line">
            <a:avLst/>
          </a:prstGeom>
          <a:ln w="28575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57216" y="1691640"/>
            <a:ext cx="1874519" cy="128016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Validação
sint.+sem.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31735" y="2331720"/>
            <a:ext cx="384048" cy="0"/>
          </a:xfrm>
          <a:prstGeom prst="line">
            <a:avLst/>
          </a:prstGeom>
          <a:ln w="28575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15783" y="1691640"/>
            <a:ext cx="1874519" cy="128016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Compilação
HTML5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90302" y="2331720"/>
            <a:ext cx="384048" cy="0"/>
          </a:xfrm>
          <a:prstGeom prst="line">
            <a:avLst/>
          </a:prstGeom>
          <a:ln w="28575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74350" y="1691640"/>
            <a:ext cx="1874519" cy="128016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Avaliação
7 dimensões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20440"/>
            <a:ext cx="11183112" cy="2194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03320"/>
            <a:ext cx="1045159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Tudo flui de um único artefato formal: a especificação Endo-DSL.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RAG+LLM podem propor a especificação; o educador a revisa em editor ao vivo.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Rastreabilidade pedagógica preservada do objetivo até o protótipo executável.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▸  </a:t>
            </a:r>
            <a:r>
              <a:rPr sz="1600">
                <a:solidFill>
                  <a:srgbClr val="1E293B"/>
                </a:solidFill>
                <a:latin typeface="Calibri"/>
              </a:rPr>
              <a:t>Protótipos automáticos e manuais avaliados pelo MESMO instrumento (comparação).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CINCO MÓDULOS INTEGRADOS PELA FACHADA PLATFORM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Arquitetura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11183112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183112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 — fachada única (CLI · Web tipo-Overleaf · API HTTP)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29791" y="2057400"/>
            <a:ext cx="0" cy="4114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468880"/>
            <a:ext cx="2053742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4F46E5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468880"/>
            <a:ext cx="2053742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651760"/>
            <a:ext cx="177942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4F46E5"/>
                </a:solidFill>
                <a:latin typeface="Calibri"/>
              </a:rPr>
              <a:t>M1 · Linguagem/DSL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EBNF · parser RD · validação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12133" y="2057400"/>
            <a:ext cx="0" cy="4114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785262" y="2468880"/>
            <a:ext cx="2053742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D9488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85262" y="2468880"/>
            <a:ext cx="2053742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2422" y="2651760"/>
            <a:ext cx="177942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D9488"/>
                </a:solidFill>
                <a:latin typeface="Calibri"/>
              </a:rPr>
              <a:t>M2 · Biblioteca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componentes curados · SQLite · RAG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4475" y="2057400"/>
            <a:ext cx="0" cy="4114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67604" y="2468880"/>
            <a:ext cx="2053742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7C3AED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67604" y="2468880"/>
            <a:ext cx="2053742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4764" y="2651760"/>
            <a:ext cx="177942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7C3AED"/>
                </a:solidFill>
                <a:latin typeface="Calibri"/>
              </a:rPr>
              <a:t>M3 · Pipeline multi-agente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recuperar→gerar→validar→refinar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76817" y="2057400"/>
            <a:ext cx="0" cy="4114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49946" y="2468880"/>
            <a:ext cx="2053742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6A34A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9946" y="2468880"/>
            <a:ext cx="2053742" cy="1097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87106" y="2651760"/>
            <a:ext cx="177942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A34A"/>
                </a:solidFill>
                <a:latin typeface="Calibri"/>
              </a:rPr>
              <a:t>M4 · Compilador HTML5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jogo autocontido · reparametrização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659159" y="2057400"/>
            <a:ext cx="0" cy="41148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32288" y="2468880"/>
            <a:ext cx="2053742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A580C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32288" y="2468880"/>
            <a:ext cx="2053742" cy="1097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69448" y="2651760"/>
            <a:ext cx="177942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A580C"/>
                </a:solidFill>
                <a:latin typeface="Calibri"/>
              </a:rPr>
              <a:t>M5 · Avaliação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instrumento Likert 7-D · relatórios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63440"/>
            <a:ext cx="11183112" cy="640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663440"/>
            <a:ext cx="111831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Persistência: SQLite (sessões · componentes · tentativas · avaliações)  ·  Workspace de protótipos HTML5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GRAMÁTICA EBNF &amp; EXEMPLO (RF01)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Módulo 1 — Linguagem / DSL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40680" cy="45720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5440680" cy="38404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25880"/>
            <a:ext cx="49834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17CF0"/>
                </a:solidFill>
                <a:latin typeface="Consolas"/>
              </a:rPr>
              <a:t>grammar.ebnf (ISO/IEC 14977)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828800"/>
            <a:ext cx="4983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spec      = game_decl ;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game_decl = "game" string "{"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          { game_member } "}" ;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94A3B8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mechanic_decl =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 "mechanic" ident "{"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 { mechanic_field } "}" ;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94A3B8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94A3B8"/>
                </a:solidFill>
                <a:latin typeface="Consolas"/>
              </a:rPr>
              <a:t>(* Bloom = construto 1ª classe *)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6EE7B7"/>
                </a:solidFill>
                <a:latin typeface="Consolas"/>
              </a:rPr>
              <a:t>bloom = "Lembrar" | "Compreender"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6EE7B7"/>
                </a:solidFill>
                <a:latin typeface="Consolas"/>
              </a:rPr>
              <a:t>      | "Aplicar"  | "Analisar"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6EE7B7"/>
                </a:solidFill>
                <a:latin typeface="Consolas"/>
              </a:rPr>
              <a:t>      | "Avaliar"  | "Criar" 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325880"/>
            <a:ext cx="5440680" cy="45720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1325880"/>
            <a:ext cx="5440680" cy="38404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325880"/>
            <a:ext cx="49834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17CF0"/>
                </a:solidFill>
                <a:latin typeface="Consolas"/>
              </a:rPr>
              <a:t>fracoes.endo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1828800"/>
            <a:ext cx="4983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game "Comparando Frações" {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metadata {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  domain: "Matemática"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6EE7B7"/>
                </a:solidFill>
                <a:latin typeface="Consolas"/>
              </a:rPr>
              <a:t>    bloom: Analisar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  age_range: "10-11"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mechanic comparacao {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  type: classification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6EE7B7"/>
                </a:solidFill>
                <a:latin typeface="Consolas"/>
              </a:rPr>
              <a:t>    bloom: Analisar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  addresses: obj_comparar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E2E8F0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RF02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Bloom como construto de primeira classe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O não-terminal &lt;bloom&gt; é exigível em objetivos, mecânicas, loops e ramificações narrativas — não é metadado opcional.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Nomes canônicos em português; o parser também aceita os equivalentes em inglês (Remember…Create).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Cada elemento declara o nível cognitivo que pretende exercitar, tornando a intenção pedagógica explícita e auditável.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Isso habilita a verificação semântica: comparar o Bloom do objetivo com o Bloom das mecânicas que o endereçam.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Resultado: rastreabilidade pedagógica do objetivo de aprendizagem até a mecânica e o protótipo compilado.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Os 6 níveis aceitos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Lembrar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Compreender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Aplicar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Analisar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Avaliar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Criar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RF03 / RF04 — MATRIZ DE AFINIDADE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Validação sintática e semântica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47548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63040"/>
            <a:ext cx="42062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4F46E5"/>
                </a:solidFill>
                <a:latin typeface="Calibri"/>
              </a:rPr>
              <a:t>RF03 · Validação sintática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E293B"/>
                </a:solidFill>
                <a:latin typeface="Calibri"/>
              </a:rPr>
              <a:t>Parser recursivo descendente verifica a aderência à gramática EBNF; erros reportam linha/coluna e sugestão.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4F46E5"/>
                </a:solidFill>
                <a:latin typeface="Calibri"/>
              </a:rPr>
              <a:t>RF04 · Validação semântica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1E293B"/>
                </a:solidFill>
                <a:latin typeface="Calibri"/>
              </a:rPr>
              <a:t>Coerência cognitiva: o nível de Bloom da mecânica é compatível com o do objetivo que ela endereça (matriz de afinidade).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Referências cruzadas (addresses) resolvidas.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Loops com transições válidas entre mecânicas.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Avisos pedagógicos não bloqueiam, mas orientam.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325880"/>
            <a:ext cx="5943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E293B"/>
                </a:solidFill>
                <a:latin typeface="Calibri"/>
              </a:rPr>
              <a:t>Matriz de afinidade  (linha: objetivo · coluna: mecânica)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828800"/>
            <a:ext cx="658368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6583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Lemb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1828800"/>
            <a:ext cx="658368" cy="365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0608" y="1828800"/>
            <a:ext cx="6583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8976" y="1828800"/>
            <a:ext cx="658368" cy="3657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8976" y="1828800"/>
            <a:ext cx="6583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Apli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7344" y="1828800"/>
            <a:ext cx="658368" cy="36576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7344" y="1828800"/>
            <a:ext cx="6583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Anal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5712" y="1828800"/>
            <a:ext cx="658368" cy="3657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5712" y="1828800"/>
            <a:ext cx="6583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Aval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84080" y="1828800"/>
            <a:ext cx="658368" cy="3657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1828800"/>
            <a:ext cx="6583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Cria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2194560"/>
            <a:ext cx="822960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0" y="2194560"/>
            <a:ext cx="8229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Lemb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194560"/>
            <a:ext cx="658368" cy="658368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19456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50608" y="2194560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0608" y="219456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8976" y="219456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8976" y="219456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67344" y="219456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219456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25712" y="219456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25712" y="219456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80" y="219456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9456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2852928"/>
            <a:ext cx="822960" cy="6583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852928"/>
            <a:ext cx="8229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2852928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2852928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50608" y="2852928"/>
            <a:ext cx="658368" cy="658368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50608" y="2852928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08976" y="2852928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08976" y="2852928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67344" y="2852928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67344" y="2852928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25712" y="2852928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5712" y="2852928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84080" y="2852928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0" y="2852928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0" y="3511296"/>
            <a:ext cx="822960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3511296"/>
            <a:ext cx="8229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Apli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40" y="3511296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3511296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50608" y="3511296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50608" y="3511296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808976" y="3511296"/>
            <a:ext cx="658368" cy="658368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08976" y="3511296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67344" y="3511296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67344" y="3511296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25712" y="3511296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25712" y="3511296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84080" y="3511296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84080" y="3511296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0" y="4169664"/>
            <a:ext cx="822960" cy="658368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0" y="4169664"/>
            <a:ext cx="8229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Anal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2240" y="4169664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169664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50608" y="4169664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50608" y="4169664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08976" y="4169664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808976" y="4169664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67344" y="4169664"/>
            <a:ext cx="658368" cy="658368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67344" y="4169664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25712" y="4169664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25712" y="4169664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84080" y="4169664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784080" y="4169664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0" y="4828032"/>
            <a:ext cx="822960" cy="65836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0" y="4828032"/>
            <a:ext cx="8229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Aval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92240" y="4828032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92240" y="4828032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50608" y="4828032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0608" y="4828032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08976" y="4828032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08976" y="4828032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67344" y="4828032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67344" y="4828032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25712" y="4828032"/>
            <a:ext cx="658368" cy="658368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25712" y="4828032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784080" y="4828032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784080" y="4828032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0" y="5486400"/>
            <a:ext cx="822960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0" y="5486400"/>
            <a:ext cx="8229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Cria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92240" y="548640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92240" y="548640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150608" y="548640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150608" y="548640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08976" y="548640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808976" y="548640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67344" y="5486400"/>
            <a:ext cx="658368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67344" y="548640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125712" y="5486400"/>
            <a:ext cx="658368" cy="658368"/>
          </a:xfrm>
          <a:prstGeom prst="rect">
            <a:avLst/>
          </a:prstGeom>
          <a:solidFill>
            <a:srgbClr val="CA8A0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125712" y="548640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784080" y="5486400"/>
            <a:ext cx="658368" cy="658368"/>
          </a:xfrm>
          <a:prstGeom prst="rect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784080" y="5486400"/>
            <a:ext cx="658368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0" y="6281928"/>
            <a:ext cx="5943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✓ coerente   ~ aviso (1 nível)   ✗ incoerente (≥2 níveis)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SQLITE &amp; CURADORIA (RF07–RF12)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Módulo 2 — Biblioteca de componentes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Repositório de componentes pedagógicos reutilizáveis: mecânicas parametrizáveis indexadas por nível de Bloom, tipo e domínio.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Persistência em SQLite (stdlib) — zero dependências externas obrigatórias.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Status duplo: componentes canônicos (★, curados) e experimentais (○).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Métricas por componente: instanciações e avaliação média realimentam a recuperação RAG.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Jornada do curador: aprovar/rejeitar componentes experimentais com justificativa (RF12), promovendo a canônicos.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Características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Indexação por Bloom/tipo/domínio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SQLite (stdlib)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★ canônico · ○ experimental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Métricas de uso e qualidade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Fila de curadoria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RECUPERAR→GERAR→VALIDAR→REFINAR (RF13–RF18)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Módulo 3 — Pipeline multi-agente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1645920"/>
            <a:ext cx="2377440" cy="15544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810512"/>
            <a:ext cx="210312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1. Recuperar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2E8F0"/>
                </a:solidFill>
                <a:latin typeface="Calibri"/>
              </a:rPr>
              <a:t>RAG: componentes
relevantes (RF14)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62656" y="2423160"/>
            <a:ext cx="502920" cy="0"/>
          </a:xfrm>
          <a:prstGeom prst="line">
            <a:avLst/>
          </a:prstGeom>
          <a:ln w="31750">
            <a:solidFill>
              <a:srgbClr val="1E29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5576" y="1645920"/>
            <a:ext cx="2377440" cy="15544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810512"/>
            <a:ext cx="210312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2. Gerar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2E8F0"/>
                </a:solidFill>
                <a:latin typeface="Calibri"/>
              </a:rPr>
              <a:t>LLM produz DSL
ancorada (RF15)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43016" y="2423160"/>
            <a:ext cx="502920" cy="0"/>
          </a:xfrm>
          <a:prstGeom prst="line">
            <a:avLst/>
          </a:prstGeom>
          <a:ln w="31750">
            <a:solidFill>
              <a:srgbClr val="1E29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5936" y="1645920"/>
            <a:ext cx="2377440" cy="1554480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810512"/>
            <a:ext cx="210312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3. Validar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2E8F0"/>
                </a:solidFill>
                <a:latin typeface="Calibri"/>
              </a:rPr>
              <a:t>sintaxe + semântica
Bloom (RF16)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23376" y="2423160"/>
            <a:ext cx="502920" cy="0"/>
          </a:xfrm>
          <a:prstGeom prst="line">
            <a:avLst/>
          </a:prstGeom>
          <a:ln w="31750">
            <a:solidFill>
              <a:srgbClr val="1E29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6296" y="1645920"/>
            <a:ext cx="2377440" cy="15544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810512"/>
            <a:ext cx="210312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4. Refinar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2E8F0"/>
                </a:solidFill>
                <a:latin typeface="Calibri"/>
              </a:rPr>
              <a:t>realimenta erros
(RF17/RF18)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15016" y="3200400"/>
            <a:ext cx="0" cy="502920"/>
          </a:xfrm>
          <a:prstGeom prst="line">
            <a:avLst/>
          </a:prstGeom>
          <a:ln w="25400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654296" y="3703320"/>
            <a:ext cx="5760720" cy="0"/>
          </a:xfrm>
          <a:prstGeom prst="line">
            <a:avLst/>
          </a:prstGeom>
          <a:ln w="25400">
            <a:solidFill>
              <a:srgbClr val="DC26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654296" y="3200400"/>
            <a:ext cx="0" cy="502920"/>
          </a:xfrm>
          <a:prstGeom prst="line">
            <a:avLst/>
          </a:prstGeom>
          <a:ln w="25400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65576" y="3749040"/>
            <a:ext cx="8138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DC2626"/>
                </a:solidFill>
                <a:latin typeface="Calibri"/>
              </a:rPr>
              <a:t>ciclo de refinamento iterativo (até validar ou esgotar tentativas)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526280"/>
            <a:ext cx="11183112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617720"/>
            <a:ext cx="1045159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F46E5"/>
                </a:solidFill>
                <a:latin typeface="Calibri"/>
              </a:rPr>
              <a:t>Métricas instrumentadas: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taxa de validade na 1ª tentativa, número médio de tentativas, taxa de rejeição e erros mais frequentes — registradas em generation_attempts.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RF19–RF23 &amp; REPARAMETRIZAÇÃO (RF22)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Módulo 4 — Compilador HTML5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Compila a especificação DSL em um jogo HTML5 autocontido — zero dependências externas em runtime (HTML+CSS+JS embutidos).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Cada mecânica da DSL mapeia para um gerador de mecânica de jogo (quiz, classificação, sequenciamento, comparação…).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Gera artefato de rastreabilidade pedagógica: do objetivo ao componente executável (/prototype/&lt;pid&gt;/traceability).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Reparametrização de domínio (RF22): troca o domínio/tópico de um protótipo existente SEM recompilar — evidência de endogeneidade estrutural.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Saída executável em qualquer navegador, distribuível como arquivo único.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Capacidades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HTML5 autocontido (offline)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Mecânica DSL → mecânica jogo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Rastreabilidade pedagógica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Reparametrização sem recompilar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Distribuível como 1 arquivo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INSTRUMENTO LIKERT DE 7 DIMENSÕES (RF24–RF26)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Módulo 5 — Avaliação pedagógica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40680" cy="60350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6360" y="1444752"/>
            <a:ext cx="6400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 1,3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362456"/>
            <a:ext cx="434340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D1. Alinhamento pedagógico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Mecânicas implementam os objetivos?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325880"/>
            <a:ext cx="5440680" cy="60350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1325880"/>
            <a:ext cx="9144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08792" y="1444752"/>
            <a:ext cx="6400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 1,2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362456"/>
            <a:ext cx="434340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D2. Coerência cognitiva (Bloom)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Nível exercitado = nível pretendido?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057400"/>
            <a:ext cx="5440680" cy="60350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057400"/>
            <a:ext cx="9144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66360" y="2176272"/>
            <a:ext cx="6400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 1,3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2093976"/>
            <a:ext cx="434340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D3. Endogeneidade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Aprender é jogar (não justaposto)?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2057400"/>
            <a:ext cx="5440680" cy="60350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5352" y="2057400"/>
            <a:ext cx="9144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08792" y="2176272"/>
            <a:ext cx="6400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 1,0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2093976"/>
            <a:ext cx="434340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D4. Clareza instrucional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Instruções e desafios claros?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788920"/>
            <a:ext cx="5440680" cy="60350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88920"/>
            <a:ext cx="9144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66360" y="2907792"/>
            <a:ext cx="6400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 1,0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2825496"/>
            <a:ext cx="434340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D5. Adequação ao público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Adequado à faixa etária/contexto?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2788920"/>
            <a:ext cx="5440680" cy="60350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2788920"/>
            <a:ext cx="9144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908792" y="2907792"/>
            <a:ext cx="6400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 1,0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1384" y="2825496"/>
            <a:ext cx="434340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D6. Potencial de engajamento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Mantém o interesse do aprendiz?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520440"/>
            <a:ext cx="5440680" cy="60350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20440"/>
            <a:ext cx="91440" cy="6035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66360" y="3639312"/>
            <a:ext cx="6400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 0,8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" y="3557016"/>
            <a:ext cx="434340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D7. Adaptabilidade de conteúdo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Reparametrizável p/ outros domínios?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297680"/>
            <a:ext cx="11183112" cy="685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297680"/>
            <a:ext cx="1045159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Escala Likert 1–5 por dimensão · pesos dialogam com MEEGA+ · MESMO instrumento para protótipos automáticos e manuais (RF26 → QP4).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FLUXO DO STUDIO — FASES 1 A 7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Jornada do usuário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23</a:t>
            </a:r>
          </a:p>
        </p:txBody>
      </p:sp>
      <p:sp>
        <p:nvSpPr>
          <p:cNvPr id="10" name="Oval 9"/>
          <p:cNvSpPr/>
          <p:nvPr/>
        </p:nvSpPr>
        <p:spPr>
          <a:xfrm>
            <a:off x="800100" y="196596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16916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Contexto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domínio, Bloom,
faixa, duração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23060" y="2377440"/>
            <a:ext cx="804672" cy="0"/>
          </a:xfrm>
          <a:prstGeom prst="line">
            <a:avLst/>
          </a:prstGeom>
          <a:ln w="25400">
            <a:solidFill>
              <a:srgbClr val="817C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27732" y="196596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3392" y="2880360"/>
            <a:ext cx="16916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Recuperação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componentes
via RAG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50692" y="2377440"/>
            <a:ext cx="804672" cy="0"/>
          </a:xfrm>
          <a:prstGeom prst="line">
            <a:avLst/>
          </a:prstGeom>
          <a:ln w="25400">
            <a:solidFill>
              <a:srgbClr val="817C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55364" y="196596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880360"/>
            <a:ext cx="16916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Geração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DSL a partir do
contexto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8324" y="2377440"/>
            <a:ext cx="804672" cy="0"/>
          </a:xfrm>
          <a:prstGeom prst="line">
            <a:avLst/>
          </a:prstGeom>
          <a:ln w="25400">
            <a:solidFill>
              <a:srgbClr val="817C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82996" y="196596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2880360"/>
            <a:ext cx="16916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Revisão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edição com
validação ao vivo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05956" y="2377440"/>
            <a:ext cx="804672" cy="0"/>
          </a:xfrm>
          <a:prstGeom prst="line">
            <a:avLst/>
          </a:prstGeom>
          <a:ln w="25400">
            <a:solidFill>
              <a:srgbClr val="817C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310628" y="196596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880360"/>
            <a:ext cx="16916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Compilação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protótipo HTML5
+ métricas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3588" y="2377440"/>
            <a:ext cx="804672" cy="0"/>
          </a:xfrm>
          <a:prstGeom prst="line">
            <a:avLst/>
          </a:prstGeom>
          <a:ln w="25400">
            <a:solidFill>
              <a:srgbClr val="817C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938260" y="196596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880360"/>
            <a:ext cx="16916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Avaliação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instrumento
7-D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761220" y="2377440"/>
            <a:ext cx="804672" cy="0"/>
          </a:xfrm>
          <a:prstGeom prst="line">
            <a:avLst/>
          </a:prstGeom>
          <a:ln w="25400">
            <a:solidFill>
              <a:srgbClr val="817C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0565892" y="196596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31552" y="2880360"/>
            <a:ext cx="16916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Curadoria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promoção de
componentes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617720"/>
            <a:ext cx="11183112" cy="1005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709160"/>
            <a:ext cx="10451592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E293B"/>
                </a:solidFill>
                <a:latin typeface="Calibri"/>
              </a:rPr>
              <a:t>As Fases 1–6 percorrem o Studio (interface tipo-Overleaf); a Fase 7 corresponde à jornada do curador, que governa a evolução da biblioteca.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EDITOR DIVIDIDO + LIVE PREVIEW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Interface tipo-Overleaf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08676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5408676" cy="41148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25880"/>
            <a:ext cx="4951476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17CF0"/>
                </a:solidFill>
                <a:latin typeface="Calibri"/>
              </a:rPr>
              <a:t>◳  Editor DSL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874520"/>
            <a:ext cx="495147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93C5FD"/>
                </a:solidFill>
                <a:latin typeface="Consolas"/>
              </a:rPr>
              <a:t>game "Comparando Frações" {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6EE7B7"/>
                </a:solidFill>
                <a:latin typeface="Consolas"/>
              </a:rPr>
              <a:t>  metadata { bloom: Analisar }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E2E8F0"/>
                </a:solidFill>
                <a:latin typeface="Consolas"/>
              </a:rPr>
              <a:t>  mechanic comparacao {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E2E8F0"/>
                </a:solidFill>
                <a:latin typeface="Consolas"/>
              </a:rPr>
              <a:t>    type: classification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6EE7B7"/>
                </a:solidFill>
                <a:latin typeface="Consolas"/>
              </a:rPr>
              <a:t>    bloom: Analisar }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3C5FD"/>
                </a:solidFill>
                <a:latin typeface="Consolas"/>
              </a:rP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7356" y="1325880"/>
            <a:ext cx="540867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7356" y="1325880"/>
            <a:ext cx="5408676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5956" y="1325880"/>
            <a:ext cx="4951476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▶  Live preview (protótipo HTML5)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43116" y="2011680"/>
            <a:ext cx="4677156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3116" y="2011680"/>
            <a:ext cx="4677156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Qual é maior?   3/4  vs  2/3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43116" y="2834640"/>
            <a:ext cx="137160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3/4 maior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1876" y="2834640"/>
            <a:ext cx="137160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2/3 maior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60636" y="2834640"/>
            <a:ext cx="1371600" cy="45720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iguais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3520440"/>
            <a:ext cx="46771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4F46E5"/>
                </a:solidFill>
                <a:latin typeface="Calibri"/>
              </a:rPr>
              <a:t>▸  </a:t>
            </a:r>
            <a:r>
              <a:rPr sz="1250">
                <a:solidFill>
                  <a:srgbClr val="1E293B"/>
                </a:solidFill>
                <a:latin typeface="Calibri"/>
              </a:rPr>
              <a:t>Validação ao vivo (linha/coluna).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4F46E5"/>
                </a:solidFill>
                <a:latin typeface="Calibri"/>
              </a:rPr>
              <a:t>▸  </a:t>
            </a:r>
            <a:r>
              <a:rPr sz="1250">
                <a:solidFill>
                  <a:srgbClr val="1E293B"/>
                </a:solidFill>
                <a:latin typeface="Calibri"/>
              </a:rPr>
              <a:t>Recompila a cada alteração.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4F46E5"/>
                </a:solidFill>
                <a:latin typeface="Calibri"/>
              </a:rPr>
              <a:t>▸  </a:t>
            </a:r>
            <a:r>
              <a:rPr sz="1250">
                <a:solidFill>
                  <a:srgbClr val="1E293B"/>
                </a:solidFill>
                <a:latin typeface="Calibri"/>
              </a:rPr>
              <a:t>Sem instalar nada: roda no navegador.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4068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Metáfora familiar (Overleaf/LaTeX): código formal à esquerda, artefato renderizado à direita — baixa curva para o educador.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BLOOM: ANALISAR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Estudo de caso — “Comparando Frações”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2103120" cy="822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Domínio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618488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Matemática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1325880"/>
            <a:ext cx="2103120" cy="822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7480" y="1325880"/>
            <a:ext cx="210312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325880"/>
            <a:ext cx="21031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Tópico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618488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Frações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325880"/>
            <a:ext cx="2103120" cy="822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92040" y="1325880"/>
            <a:ext cx="210312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1325880"/>
            <a:ext cx="21031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Bloom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1618488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Analisar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1325880"/>
            <a:ext cx="2103120" cy="822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86600" y="1325880"/>
            <a:ext cx="210312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325880"/>
            <a:ext cx="21031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Faixa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1618488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10–11 anos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1160" y="1325880"/>
            <a:ext cx="2103120" cy="822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81160" y="1325880"/>
            <a:ext cx="210312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1325880"/>
            <a:ext cx="21031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Duração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1618488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15 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2514600"/>
            <a:ext cx="3566160" cy="1005840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514600"/>
            <a:ext cx="3200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OBJETIVO obj_comparar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Comparar frações com denom.
diferentes (Analisar)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69080" y="3017520"/>
            <a:ext cx="548640" cy="0"/>
          </a:xfrm>
          <a:prstGeom prst="line">
            <a:avLst/>
          </a:prstGeom>
          <a:ln w="28575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617720" y="2514600"/>
            <a:ext cx="3566160" cy="10058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2514600"/>
            <a:ext cx="3200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MECÂNICA comparacao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classification · Analisar
classifica pares: maior/menor/igual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83880" y="3017520"/>
            <a:ext cx="548640" cy="0"/>
          </a:xfrm>
          <a:prstGeom prst="line">
            <a:avLst/>
          </a:prstGeom>
          <a:ln w="28575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732520" y="2514600"/>
            <a:ext cx="2926080" cy="10058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2514600"/>
            <a:ext cx="265176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MECÂNICA revisao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quiz · Lembrar
fixação dos conceitos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794760"/>
            <a:ext cx="11183112" cy="77724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794760"/>
            <a:ext cx="10634472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LOOP principal (Analisar):  comparacao → revisao → comparacao  — classificar e revisar até consolidar.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754880"/>
            <a:ext cx="111831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Endogeneidade: vencer EXIGE comparar frações — a habilidade-alvo é a mecânica.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Validação semântica: mecânica 'comparacao' (Analisar) coerente com o objetivo (Analisar).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Compila para HTML5 autocontido; reparametrizável p/ 'comparar ângulos', etc.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CICLOS DE RELEVÂNCIA, PROJETO E RIGOR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Metodologia — Design Science Research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520440" cy="4023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293B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3520440" cy="868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3063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CICLO DE RELEVÂNCIA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Ambiente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23160"/>
            <a:ext cx="3063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1E293B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Educadores não-programadores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1E293B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Necessidade de jogos alinhados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1E293B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Requisitos do domínio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23360" y="3337560"/>
            <a:ext cx="310896" cy="0"/>
          </a:xfrm>
          <a:prstGeom prst="line">
            <a:avLst/>
          </a:prstGeom>
          <a:ln w="285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34256" y="1325880"/>
            <a:ext cx="3520440" cy="4023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1325880"/>
            <a:ext cx="3520440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1417320"/>
            <a:ext cx="3063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CICLO DE PROJETO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Construção &amp; avaliação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423160"/>
            <a:ext cx="3063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DSL + parser + validação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Pipeline RAG+LLM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Compilador + instrumento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54696" y="3337560"/>
            <a:ext cx="310896" cy="0"/>
          </a:xfrm>
          <a:prstGeom prst="line">
            <a:avLst/>
          </a:prstGeom>
          <a:ln w="285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65592" y="1325880"/>
            <a:ext cx="3520440" cy="4023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65592" y="1325880"/>
            <a:ext cx="3520440" cy="8686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417320"/>
            <a:ext cx="3063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CICLO DE RIGOR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Base de conhecimento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423160"/>
            <a:ext cx="3063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0D9488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Teoria de DSLs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0D9488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Taxonomia de Bloom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0D9488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Design endógeno ·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32120"/>
            <a:ext cx="1118311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Artefato avaliado iterativamente; a prova de conceito (Endo-DSL implementada) já evidencia viabilidade técnica.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AUTOMÁTICO VS. MANUAL (QP4)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Protocolo de avaliação experimental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Conjunto de cenários pedagógicos (domínio × tópico × nível de Bloom) definidos a priori.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Braço A — protótipos gerados pelo pipeline automático (origin=auto).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Braço B — protótipos especificados manualmente por autores (origin=manual).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Avaliadores cegos ao braço aplicam o MESMO instrumento de 7 dimensões a todos os protótipos.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Análise estatística das diferenças por dimensão e do escore agregado ponderado; teste da hipótese H4.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4F46E5"/>
                </a:solidFill>
                <a:latin typeface="Calibri"/>
              </a:rPr>
              <a:t>▸  </a:t>
            </a:r>
            <a:r>
              <a:rPr sz="1700">
                <a:solidFill>
                  <a:srgbClr val="1E293B"/>
                </a:solidFill>
                <a:latin typeface="Calibri"/>
              </a:rPr>
              <a:t>Reuso/curadoria registrados para avaliar o efeito da biblioteca RAG.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Desenho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Cenários controlados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Braço A: auto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Braço B: manual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Avaliadores cegos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Mesmo instrumento 7-D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Teste de H4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O QUE MEDIMOS E COMO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Métricas e instrumentação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520440" cy="4023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3520440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25880"/>
            <a:ext cx="352044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Geração (pipeline)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971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Validade na 1ª tentativa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Nº médio de tentativas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Taxa de rejeição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Erros mais frequentes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1325880"/>
            <a:ext cx="3520440" cy="4023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1325880"/>
            <a:ext cx="3520440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6" y="1325880"/>
            <a:ext cx="352044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Qualidade pedagógica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2194560"/>
            <a:ext cx="2971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EA580C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Escore por dimensão (1–5)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EA580C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Escore agregado ponderado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EA580C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Concordância entre avaliadores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EA580C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Auto vs. manual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65592" y="1325880"/>
            <a:ext cx="3520440" cy="4023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65592" y="1325880"/>
            <a:ext cx="3520440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325880"/>
            <a:ext cx="352044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Artefato/compilação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2" y="2194560"/>
            <a:ext cx="2971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Cobertura de mecânicas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Rastreabilidade objetivo→mecânica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Reparametrizações bem-sucedidas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▸  </a:t>
            </a:r>
            <a:r>
              <a:rPr sz="1400">
                <a:solidFill>
                  <a:srgbClr val="1E293B"/>
                </a:solidFill>
                <a:latin typeface="Calibri"/>
              </a:rPr>
              <a:t>Tamanho do HTML5 gerado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532120"/>
            <a:ext cx="1118311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Instrumentação nativa: generation_attempts e evaluations no SQLite; exportação CSV (RF25) e relatório comparativo (RF26).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O QUE JÁ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Resultados preliminares / prova de conceito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667512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63040"/>
            <a:ext cx="6309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A34A"/>
                </a:solidFill>
                <a:latin typeface="Calibri"/>
              </a:rPr>
              <a:t>✓  Já implementado (prova de conceito)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1">
                <a:solidFill>
                  <a:srgbClr val="16A34A"/>
                </a:solidFill>
                <a:latin typeface="Calibri"/>
              </a:rPr>
              <a:t>✓  </a:t>
            </a:r>
            <a:r>
              <a:rPr sz="1450">
                <a:solidFill>
                  <a:srgbClr val="1E293B"/>
                </a:solidFill>
                <a:latin typeface="Calibri"/>
              </a:rPr>
              <a:t>Plataforma implementada em Python 3.11 (stdlib), CLI + Web + API HTTP.</a:t>
            </a:r>
          </a:p>
          <a:p>
            <a:pPr algn="l">
              <a:spcAft>
                <a:spcPts val="1100"/>
              </a:spcAft>
            </a:pPr>
            <a:r>
              <a:rPr sz="1450" b="1">
                <a:solidFill>
                  <a:srgbClr val="16A34A"/>
                </a:solidFill>
                <a:latin typeface="Calibri"/>
              </a:rPr>
              <a:t>✓  </a:t>
            </a:r>
            <a:r>
              <a:rPr sz="1450">
                <a:solidFill>
                  <a:srgbClr val="1E293B"/>
                </a:solidFill>
                <a:latin typeface="Calibri"/>
              </a:rPr>
              <a:t>Gramática EBNF + parser recursivo descendente + validação sint./sem. operacionais.</a:t>
            </a:r>
          </a:p>
          <a:p>
            <a:pPr algn="l">
              <a:spcAft>
                <a:spcPts val="1100"/>
              </a:spcAft>
            </a:pPr>
            <a:r>
              <a:rPr sz="1450" b="1">
                <a:solidFill>
                  <a:srgbClr val="16A34A"/>
                </a:solidFill>
                <a:latin typeface="Calibri"/>
              </a:rPr>
              <a:t>✓  </a:t>
            </a:r>
            <a:r>
              <a:rPr sz="1450">
                <a:solidFill>
                  <a:srgbClr val="1E293B"/>
                </a:solidFill>
                <a:latin typeface="Calibri"/>
              </a:rPr>
              <a:t>Biblioteca SQLite com componentes canônicos e curadoria funcional.</a:t>
            </a:r>
          </a:p>
          <a:p>
            <a:pPr algn="l">
              <a:spcAft>
                <a:spcPts val="1100"/>
              </a:spcAft>
            </a:pPr>
            <a:r>
              <a:rPr sz="1450" b="1">
                <a:solidFill>
                  <a:srgbClr val="16A34A"/>
                </a:solidFill>
                <a:latin typeface="Calibri"/>
              </a:rPr>
              <a:t>✓  </a:t>
            </a:r>
            <a:r>
              <a:rPr sz="1450">
                <a:solidFill>
                  <a:srgbClr val="1E293B"/>
                </a:solidFill>
                <a:latin typeface="Calibri"/>
              </a:rPr>
              <a:t>Pipeline multi-agente com refinamento iterativo e métricas instrumentadas.</a:t>
            </a:r>
          </a:p>
          <a:p>
            <a:pPr algn="l">
              <a:spcAft>
                <a:spcPts val="1100"/>
              </a:spcAft>
            </a:pPr>
            <a:r>
              <a:rPr sz="1450" b="1">
                <a:solidFill>
                  <a:srgbClr val="16A34A"/>
                </a:solidFill>
                <a:latin typeface="Calibri"/>
              </a:rPr>
              <a:t>✓  </a:t>
            </a:r>
            <a:r>
              <a:rPr sz="1450">
                <a:solidFill>
                  <a:srgbClr val="1E293B"/>
                </a:solidFill>
                <a:latin typeface="Calibri"/>
              </a:rPr>
              <a:t>Compilador DSL→HTML5 autocontido + reparametrização de domínio.</a:t>
            </a:r>
          </a:p>
          <a:p>
            <a:pPr algn="l">
              <a:spcAft>
                <a:spcPts val="1100"/>
              </a:spcAft>
            </a:pPr>
            <a:r>
              <a:rPr sz="1450" b="1">
                <a:solidFill>
                  <a:srgbClr val="16A34A"/>
                </a:solidFill>
                <a:latin typeface="Calibri"/>
              </a:rPr>
              <a:t>✓  </a:t>
            </a:r>
            <a:r>
              <a:rPr sz="1450">
                <a:solidFill>
                  <a:srgbClr val="1E293B"/>
                </a:solidFill>
                <a:latin typeface="Calibri"/>
              </a:rPr>
              <a:t>Estudo de caso 'Comparando Frações' compila e executa no navegador.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325880"/>
            <a:ext cx="423367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80" y="1508760"/>
            <a:ext cx="368503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817CF0"/>
                </a:solidFill>
                <a:latin typeface="Calibri"/>
              </a:rPr>
              <a:t>Indicadores (ilustrativos)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2148840"/>
            <a:ext cx="368503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Calibri"/>
              </a:rPr>
              <a:t>módulos integrados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3063240"/>
            <a:ext cx="368503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Calibri"/>
              </a:rPr>
              <a:t>níveis de Bloom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3977640"/>
            <a:ext cx="368503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7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Calibri"/>
              </a:rPr>
              <a:t>dimensões de avaliação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4892040"/>
            <a:ext cx="368503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Calibri"/>
              </a:rPr>
              <a:t>dependências em runtime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CIENTÍFICAS E TÉCNICAS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Contribuições esperadas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406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5440680" cy="5943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25880"/>
            <a:ext cx="54406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Científicas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4800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4F46E5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DSL com Bloom como construto de 1ª classe e sua semântica de afinidade.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4F46E5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Método de geração de jogos educativos ancorado por DSL (anti-alucinação).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4F46E5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Instrumento de 7 dimensões para comparar protótipos auto vs. manual.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4F46E5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Evidências sobre viabilidade de autoria pedagógica por não-programadores.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325880"/>
            <a:ext cx="54406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1325880"/>
            <a:ext cx="5440680" cy="594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352" y="1325880"/>
            <a:ext cx="54406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Técnicas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148840"/>
            <a:ext cx="4800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Plataforma Endo-DSL aberta (CLI + Web + API), sem dependências obrigatórias.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Compilador DSL→HTML5 autocontido com reparametrização de domínio.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Biblioteca curada de componentes pedagógicos reutilizáveis (RAG).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▸  </a:t>
            </a:r>
            <a:r>
              <a:rPr sz="1500">
                <a:solidFill>
                  <a:srgbClr val="1E293B"/>
                </a:solidFill>
                <a:latin typeface="Calibri"/>
              </a:rPr>
              <a:t>Pipeline multi-agente instrumentado e reprodutível.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E ESTRATÉGIAS DE MITIGAÇÃO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Ameaças à validade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182880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15544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Tipo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1417320"/>
            <a:ext cx="46634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1417320"/>
            <a:ext cx="4389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Ameaça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1417320"/>
            <a:ext cx="46634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417320"/>
            <a:ext cx="4389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Mitigação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92024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920240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Construto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192024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192024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Instrumento de 7-D pode não capturar toda 'qualidade pedagógica'.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192024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192024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Ancorar dimensões em MEEGA+; validação por especialistas.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88920"/>
            <a:ext cx="1828800" cy="8686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788920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Interna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2788920"/>
            <a:ext cx="4663440" cy="8686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278892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Geração depende do LLM/seed; variabilidade entre execuções.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5160" y="2788920"/>
            <a:ext cx="4663440" cy="8686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278892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Backend reprodutível; múltiplas execuções; métricas agregadas.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5760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57600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Externa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65760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365760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Resultados podem não generalizar p/ outros domínios/idades.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95160" y="365760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365760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Múltiplos cenários (domínio×tópico×Bloom); reparametrização.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26280"/>
            <a:ext cx="1828800" cy="8686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526280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Conclusão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31720" y="4526280"/>
            <a:ext cx="4663440" cy="8686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0" y="452628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Tamanho amostral de avaliadores e protótipos.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95160" y="4526280"/>
            <a:ext cx="4663440" cy="8686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Poder estatístico planejado; avaliadores cegos ao braço.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GANTT — 6 SEMESTRES (2026–2028)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Cronograma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417320"/>
            <a:ext cx="1162812" cy="365760"/>
          </a:xfrm>
          <a:prstGeom prst="rect">
            <a:avLst/>
          </a:prstGeom>
          <a:solidFill>
            <a:srgbClr val="33415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17320"/>
            <a:ext cx="116281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80532" y="1417320"/>
            <a:ext cx="1162812" cy="365760"/>
          </a:xfrm>
          <a:prstGeom prst="rect">
            <a:avLst/>
          </a:prstGeom>
          <a:solidFill>
            <a:srgbClr val="33415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80532" y="1417320"/>
            <a:ext cx="116281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3344" y="1417320"/>
            <a:ext cx="1162812" cy="365760"/>
          </a:xfrm>
          <a:prstGeom prst="rect">
            <a:avLst/>
          </a:prstGeom>
          <a:solidFill>
            <a:srgbClr val="33415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3344" y="1417320"/>
            <a:ext cx="116281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6156" y="1417320"/>
            <a:ext cx="1162812" cy="365760"/>
          </a:xfrm>
          <a:prstGeom prst="rect">
            <a:avLst/>
          </a:prstGeom>
          <a:solidFill>
            <a:srgbClr val="33415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6156" y="1417320"/>
            <a:ext cx="116281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68968" y="1417320"/>
            <a:ext cx="1162812" cy="365760"/>
          </a:xfrm>
          <a:prstGeom prst="rect">
            <a:avLst/>
          </a:prstGeom>
          <a:solidFill>
            <a:srgbClr val="33415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8968" y="1417320"/>
            <a:ext cx="116281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31780" y="1417320"/>
            <a:ext cx="1162812" cy="365760"/>
          </a:xfrm>
          <a:prstGeom prst="rect">
            <a:avLst/>
          </a:prstGeom>
          <a:solidFill>
            <a:srgbClr val="33415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31780" y="1417320"/>
            <a:ext cx="1162812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828800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Revisão sistemática da literatura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187452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80532" y="187452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3344" y="187452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06156" y="187452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8968" y="187452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431780" y="187452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45152" y="1901952"/>
            <a:ext cx="2270760" cy="274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267712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Projeto da DSL e validação (M1)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231343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80532" y="231343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3344" y="231343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6156" y="231343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68968" y="231343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431780" y="231343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45152" y="2340864"/>
            <a:ext cx="2270760" cy="274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2706624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Biblioteca + RAG (M2)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7720" y="275234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80532" y="275234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43344" y="275234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06156" y="275234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68968" y="275234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31780" y="275234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807964" y="2779776"/>
            <a:ext cx="2270760" cy="274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145536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Pipeline multi-agente (M3)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17720" y="319125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80532" y="319125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43344" y="319125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6156" y="319125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68968" y="319125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431780" y="319125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970776" y="3218688"/>
            <a:ext cx="2270760" cy="274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3584448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Compilador HTML5 (M4)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7720" y="3630168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80532" y="3630168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943344" y="3630168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06156" y="3630168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268968" y="3630168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31780" y="3630168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970776" y="3657600"/>
            <a:ext cx="2270760" cy="274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2920" y="4023360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Instrumento de avaliação (M5)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17720" y="406908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780532" y="406908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43344" y="406908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06156" y="406908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268968" y="406908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431780" y="4069080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133588" y="4096512"/>
            <a:ext cx="1107948" cy="274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4462272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Estudo experimental auto×manual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17720" y="450799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80532" y="450799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943344" y="450799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06156" y="450799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268968" y="450799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431780" y="4507992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296400" y="4535424"/>
            <a:ext cx="1107948" cy="2743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4901184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Análise de resultados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17720" y="494690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80532" y="494690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3344" y="494690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06156" y="494690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268968" y="494690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431780" y="4946904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296400" y="4974336"/>
            <a:ext cx="2270760" cy="2743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2920" y="5340096"/>
            <a:ext cx="4023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Calibri"/>
              </a:rPr>
              <a:t>Escrita e defesa da tese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617720" y="538581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780532" y="538581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943344" y="538581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106156" y="538581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268968" y="538581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431780" y="5385816"/>
            <a:ext cx="1162812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9296400" y="5413248"/>
            <a:ext cx="2270760" cy="2743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5870448"/>
            <a:ext cx="111831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S = semestre · marcos: qualificação (S2) · estudo experimental (S5) · defesa (S6).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CAPÍTULOS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Plano de escrita da tese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40680" cy="868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536192"/>
            <a:ext cx="50292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17320"/>
            <a:ext cx="44348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Introdução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contexto, problema, QP, hipóteses, objetivos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325880"/>
            <a:ext cx="5440680" cy="868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28232" y="1536192"/>
            <a:ext cx="50292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2" y="1417320"/>
            <a:ext cx="44348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Fundamentação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DSLs, Bloom, design endógeno, RAG+LLM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59152"/>
            <a:ext cx="5440680" cy="868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2569464"/>
            <a:ext cx="50292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450592"/>
            <a:ext cx="44348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Trabalhos relacionados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estado da arte e lacuna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2359152"/>
            <a:ext cx="5440680" cy="868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28232" y="2569464"/>
            <a:ext cx="50292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2" y="2450592"/>
            <a:ext cx="44348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A linguagem Endo-DSL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gramática, parser, validação semântica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392424"/>
            <a:ext cx="5440680" cy="868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3602736"/>
            <a:ext cx="50292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483864"/>
            <a:ext cx="44348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Geração e compilação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biblioteca/RAG, pipeline, compilador HTML5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392424"/>
            <a:ext cx="5440680" cy="868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28232" y="3602736"/>
            <a:ext cx="50292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3483864"/>
            <a:ext cx="44348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Avaliação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instrumento 7-D, protocolo, resultados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25696"/>
            <a:ext cx="5440680" cy="8686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" y="4636008"/>
            <a:ext cx="502920" cy="457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17136"/>
            <a:ext cx="44348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contribuições, limitações, trabalhos futuros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SÍNTESE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Conclusão e próximos passos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766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A Endo-DSL integra DSL pedagógica verificável, geração RAG+LLM ancorada e avaliação comparável num único ciclo rastreável.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A prova de conceito demonstra viabilidade técnica de ponta a ponta (do contexto ao protótipo HTML5 executável).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Próximo passo imediato: consolidar a biblioteca de componentes e o pipeline multi-agente para o estudo experimental.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A seguir: conduzir a avaliação auto×manual com avaliadores cegos e testar as hipóteses (sobretudo H4).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4F46E5"/>
                </a:solidFill>
                <a:latin typeface="Calibri"/>
              </a:rPr>
              <a:t>▸  </a:t>
            </a:r>
            <a:r>
              <a:rPr sz="1800">
                <a:solidFill>
                  <a:srgbClr val="1E293B"/>
                </a:solidFill>
                <a:latin typeface="Calibri"/>
              </a:rPr>
              <a:t>Finalmente: análise estatística, refinamento do instrumento e redação da tese.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25880"/>
            <a:ext cx="4096512" cy="4572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  <a:effectLst>
            <a:outerShdw blurRad="60000" dist="25000" dir="5400000" rotWithShape="0">
              <a:srgbClr val="1E293B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25880"/>
            <a:ext cx="4096512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325880"/>
            <a:ext cx="36393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11680"/>
            <a:ext cx="3639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Consolidar biblioteca/RAG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Maturar pipeline multi-agente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Estudo experimental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Testar hipóteses (H4)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8FAFC"/>
                </a:solidFill>
                <a:latin typeface="Calibri"/>
              </a:rPr>
              <a:t>• Redação e defesa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06070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17CF0"/>
                </a:solidFill>
                <a:latin typeface="Calibri"/>
              </a:rPr>
              <a:t>SELEÇÃO (A EXPANDIR NA TESE)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Referências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Endo-DSL · PESC/COPPE/UFRJ · Caio Azeredo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731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F46E5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1831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Anderson, L. W. &amp; Krathwohl, D. R. (2001). A Taxonomy for Learning, Teaching, and Assessing: A Revision of Bloom's Taxonomy.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Fowler, M. (2010). Domain-Specific Languages. Addison-Wesley.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Mernik, M., Heering, J. &amp; Sloane, A. M. (2005). When and how to develop domain-specific languages. ACM Computing Surveys.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Habgood, M. P. J. &amp; Ainsworth, S. E. (2011). Motivating children to learn effectively: exploring the value of intrinsic integration. JLS.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Lewis, P. et al. (2020). Retrieval-Augmented Generation for Knowledge-Intensive NLP Tasks. NeurIPS.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Petri, G. &amp; von Wangenheim, C. G. (2017). MEEGA+: an evolution of a model for the evaluation of educational games. INCoD/UFSC.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Hevner, A. R. et al. (2004). Design Science in Information Systems Research. MIS Quarterly.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1E293B"/>
                </a:solidFill>
                <a:latin typeface="Calibri"/>
              </a:rPr>
              <a:t>▸  Plass, J. L., Homer, B. D. &amp; Kinzer, C. K. (2015). Foundations of Game-Based Learning. Educational Psychologist.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97880"/>
            <a:ext cx="111831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Lista ilustrativa; a revisão sistemática completa integra o Capítulo 3 da tese.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5600" b="1" i="0">
                <a:solidFill>
                  <a:srgbClr val="FFFFFF"/>
                </a:solidFill>
                <a:latin typeface="Calibri"/>
              </a:rPr>
              <a:t>Obrigado.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400" b="0" i="0">
                <a:solidFill>
                  <a:srgbClr val="817CF0"/>
                </a:solidFill>
                <a:latin typeface="Calibri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Caio Azeredo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caiosazeredo@cos.ufrj.br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PESC — COPPE/UFRJ · Exame de Qualificação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817CF0"/>
                </a:solidFill>
                <a:latin typeface="Calibri"/>
              </a:rPr>
              <a:t>Endo-DSL · PESC/COPPE/UFRJ · Caio Azeredo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